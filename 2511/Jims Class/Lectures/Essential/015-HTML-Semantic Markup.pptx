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654" r:id="rId3"/>
    <p:sldId id="632" r:id="rId4"/>
    <p:sldId id="641" r:id="rId5"/>
    <p:sldId id="655" r:id="rId6"/>
    <p:sldId id="633" r:id="rId7"/>
    <p:sldId id="642" r:id="rId8"/>
    <p:sldId id="652" r:id="rId9"/>
    <p:sldId id="647" r:id="rId10"/>
    <p:sldId id="648" r:id="rId11"/>
    <p:sldId id="649" r:id="rId12"/>
    <p:sldId id="650" r:id="rId13"/>
    <p:sldId id="644" r:id="rId14"/>
    <p:sldId id="646" r:id="rId15"/>
    <p:sldId id="636" r:id="rId16"/>
    <p:sldId id="638" r:id="rId17"/>
    <p:sldId id="639" r:id="rId18"/>
    <p:sldId id="645" r:id="rId19"/>
    <p:sldId id="653" r:id="rId20"/>
    <p:sldId id="640" r:id="rId21"/>
    <p:sldId id="643" r:id="rId22"/>
    <p:sldId id="26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A8972BD-8CC2-9E48-B187-F04523419435}">
          <p14:sldIdLst>
            <p14:sldId id="256"/>
            <p14:sldId id="654"/>
          </p14:sldIdLst>
        </p14:section>
        <p14:section name="Semantic" id="{182F410B-E8C4-DF49-9858-E8D612342812}">
          <p14:sldIdLst>
            <p14:sldId id="632"/>
            <p14:sldId id="641"/>
            <p14:sldId id="655"/>
            <p14:sldId id="633"/>
            <p14:sldId id="642"/>
            <p14:sldId id="652"/>
            <p14:sldId id="647"/>
            <p14:sldId id="648"/>
            <p14:sldId id="649"/>
            <p14:sldId id="650"/>
            <p14:sldId id="644"/>
            <p14:sldId id="646"/>
            <p14:sldId id="636"/>
            <p14:sldId id="638"/>
            <p14:sldId id="639"/>
            <p14:sldId id="645"/>
            <p14:sldId id="653"/>
            <p14:sldId id="640"/>
            <p14:sldId id="643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saman Amannejad" initials="YA" lastIdx="8" clrIdx="0">
    <p:extLst>
      <p:ext uri="{19B8F6BF-5375-455C-9EA6-DF929625EA0E}">
        <p15:presenceInfo xmlns:p15="http://schemas.microsoft.com/office/powerpoint/2012/main" userId="84858ff3-2816-48bf-a4b3-189216645aa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48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8"/>
    <p:restoredTop sz="92743"/>
  </p:normalViewPr>
  <p:slideViewPr>
    <p:cSldViewPr snapToGrid="0" snapToObjects="1">
      <p:cViewPr varScale="1">
        <p:scale>
          <a:sx n="75" d="100"/>
          <a:sy n="75" d="100"/>
        </p:scale>
        <p:origin x="7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1A0D91-2BA6-9C4D-BAC9-7C78D503C15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ADA79A-80CC-5B49-A335-CC79BE11C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513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A2429-09F3-A441-9EBC-5CA503E3D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2DDE5F-1D85-8440-B6B3-290E964905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EEF87-5079-7846-A2F1-6CF817A96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761C7-87DB-2E4E-9FFA-248F6B061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38A10-6BF5-E947-9C65-D851F69B3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8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50181-B227-314B-BB3E-6E53FDE28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BE3DD-DFD5-A544-9551-CB0E3D1F7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2A0D9E-DF2D-6F43-953F-F9C1CF111223}"/>
              </a:ext>
            </a:extLst>
          </p:cNvPr>
          <p:cNvSpPr/>
          <p:nvPr userDrawn="1"/>
        </p:nvSpPr>
        <p:spPr>
          <a:xfrm>
            <a:off x="12049124" y="0"/>
            <a:ext cx="142876" cy="1371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D795A3-30AD-0A49-84BD-48DF54493C5C}"/>
              </a:ext>
            </a:extLst>
          </p:cNvPr>
          <p:cNvSpPr/>
          <p:nvPr userDrawn="1"/>
        </p:nvSpPr>
        <p:spPr>
          <a:xfrm>
            <a:off x="12049124" y="1371600"/>
            <a:ext cx="142876" cy="54864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3F2FD8-60D8-C44D-9062-807C0CBBF9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2876" y="6030422"/>
            <a:ext cx="1228085" cy="80795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4A6A66B-BD08-CF46-A2C5-575BDF847F07}"/>
              </a:ext>
            </a:extLst>
          </p:cNvPr>
          <p:cNvSpPr/>
          <p:nvPr userDrawn="1"/>
        </p:nvSpPr>
        <p:spPr>
          <a:xfrm>
            <a:off x="1496291" y="6320458"/>
            <a:ext cx="9447755" cy="55139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6B337A-91D9-AE43-8464-AA0394F46ECE}"/>
              </a:ext>
            </a:extLst>
          </p:cNvPr>
          <p:cNvSpPr/>
          <p:nvPr userDrawn="1"/>
        </p:nvSpPr>
        <p:spPr>
          <a:xfrm>
            <a:off x="10944046" y="6311900"/>
            <a:ext cx="1105078" cy="546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EAFAF-D36F-AD44-8A9A-DB452B333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0397" y="6399738"/>
            <a:ext cx="712376" cy="365125"/>
          </a:xfrm>
        </p:spPr>
        <p:txBody>
          <a:bodyPr/>
          <a:lstStyle>
            <a:lvl1pPr>
              <a:defRPr b="1">
                <a:solidFill>
                  <a:srgbClr val="FFFF00"/>
                </a:solidFill>
              </a:defRPr>
            </a:lvl1pPr>
          </a:lstStyle>
          <a:p>
            <a:fld id="{4EF9C409-AEBC-AC4B-B24C-458B6F1C7CF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60F90-0F27-9E40-B540-C63E9DC92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6291" y="6399737"/>
            <a:ext cx="9447755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/>
              <a:t>123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652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D2B44-01A2-5646-9D3F-B78DE52E3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44A60-C556-094C-ABE3-64B476245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04825-DF6C-5C4E-BF74-D8A9CC530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5F8FB-E3D3-9C43-8B36-043523C43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D2DF1-52A6-FC40-8842-44D216D6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34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6F550-C2BE-644F-8E01-75A99C5F1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35FC8-2274-814A-9C10-47C5BF31D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7273C-C4FC-624B-8CC0-90D7E6B79A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8AEBF-33AC-FB44-87E9-72402C6CD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FE3A28-12C5-104D-B2A1-3D16DBD65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67906C-ED44-5749-9249-9007AF4BE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581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E776C-99B7-E941-A901-265731337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798D8-FB17-9946-92CC-E84F1FE3E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547362-BEF6-EF40-A938-50A9ABB3A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8496D2-CA92-0F44-9466-57C43E8B8E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B3402A-6C8B-9C4F-AB79-571E5C1C0D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FBF9FE-5894-424A-ABF1-586A81338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37B9E2-34BF-F549-BBAC-2C2AAFF61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A44EC2-EBA4-BF42-9BA7-55E1EE0AB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686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3483D-F2CA-ED40-B7DE-7DEAD4666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31FE5D-509F-F941-B934-486F090F6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480D30-3A9A-0C4D-8581-2DF3DF34A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AF2B8F-3FF1-9147-9229-BFA0B3895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829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5E32D3-F654-B249-9654-04379FC92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B39355-DD48-0147-AF27-096119013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2C27D-69CE-AA41-8CAD-063DCB0DC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4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07B30-3D63-D84B-A09E-3D35BDDA9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62F72-6CDF-8B48-B05A-8E84F78C2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95C44B-E508-0241-9162-1ABD6D0D8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180908-B75C-8A4E-BADC-EFEAF1318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9FA9FE-3AAC-8640-A573-BB2979272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0242AB-DBD9-1646-9A19-C5979A6B2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214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516B1-BE89-D74E-A6A0-58972D4C0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06898E-9CF4-9144-A370-7FB36882B4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AA095-7884-9341-AAEA-6BA6326FD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066E9-9384-E042-8391-4F705DB42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CCDBF1-9378-DE4A-AC48-BC344FC9B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4DE08-0C6C-AC45-858B-A0305A43F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830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3FAF0-7A7B-6A45-B194-84CB9D44A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1D7E86-0464-9747-B158-6099B24517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A8B83-6BC6-994E-9E5A-F7DD36EAE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4D2AA-F233-7E44-9EF7-9A882170E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3C038-1A69-2C44-AF4E-7CC0A9629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48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B6E581-B640-3A40-BBF8-CCCED13121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F8F220-9019-9348-B3E6-5C61336AB6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136CE-95E6-B942-BC02-329E48C56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26B84-3EE7-5E44-9A33-1F18A3391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5970C-EE3C-C54D-8DE4-6D0E16C40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114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E6126D-B0D4-C940-BAFD-CBDB9995F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7C7E51-3E1D-E447-B3D2-F3B5C059E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EA3AD-B660-1341-953C-A289DB47F7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94D1F-CB85-E04F-B9B3-5CEC60977D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61FE9-DA62-AF49-9404-F96234F98D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9C409-AEBC-AC4B-B24C-458B6F1C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383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flipboard.com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94837-0CE3-D14B-927D-3DFE2839C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7127" y="1571229"/>
            <a:ext cx="9144000" cy="1952625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Semantic Markup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B74DE2-F5E2-7A4E-8706-E96DA8F60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7" y="219306"/>
            <a:ext cx="1561956" cy="10276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F1D74C-F6C7-5746-9CDE-CAD63E885D4E}"/>
              </a:ext>
            </a:extLst>
          </p:cNvPr>
          <p:cNvSpPr txBox="1"/>
          <p:nvPr/>
        </p:nvSpPr>
        <p:spPr>
          <a:xfrm>
            <a:off x="1607127" y="4256286"/>
            <a:ext cx="44857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/>
              <a:t>Yasaman Amannejad,</a:t>
            </a:r>
          </a:p>
          <a:p>
            <a:r>
              <a:rPr lang="en-US" b="1" i="0" dirty="0"/>
              <a:t>Department of Mathematics and Computing,</a:t>
            </a:r>
          </a:p>
          <a:p>
            <a:r>
              <a:rPr lang="en-US" b="1" i="0" dirty="0"/>
              <a:t>Mount Royal University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0E2279-C238-EE45-B9FE-62668B578A25}"/>
              </a:ext>
            </a:extLst>
          </p:cNvPr>
          <p:cNvSpPr/>
          <p:nvPr/>
        </p:nvSpPr>
        <p:spPr>
          <a:xfrm>
            <a:off x="1528071" y="1675910"/>
            <a:ext cx="40128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i="0" dirty="0"/>
              <a:t>COMP </a:t>
            </a:r>
            <a:r>
              <a:rPr lang="en-US" sz="1600" b="1" dirty="0"/>
              <a:t>2511 - </a:t>
            </a:r>
            <a:r>
              <a:rPr lang="en-CA" sz="1600" b="1" dirty="0"/>
              <a:t>Web I: Client Development </a:t>
            </a:r>
            <a:endParaRPr lang="en-US" sz="1600" b="1" dirty="0"/>
          </a:p>
          <a:p>
            <a:endParaRPr lang="en-US" sz="1600" b="1" i="0" dirty="0"/>
          </a:p>
        </p:txBody>
      </p:sp>
      <p:sp>
        <p:nvSpPr>
          <p:cNvPr id="9" name="L-Shape 8">
            <a:extLst>
              <a:ext uri="{FF2B5EF4-FFF2-40B4-BE49-F238E27FC236}">
                <a16:creationId xmlns:a16="http://schemas.microsoft.com/office/drawing/2014/main" id="{1CAC17AB-7A92-7642-AA24-C91101DBAD16}"/>
              </a:ext>
            </a:extLst>
          </p:cNvPr>
          <p:cNvSpPr/>
          <p:nvPr/>
        </p:nvSpPr>
        <p:spPr bwMode="auto">
          <a:xfrm>
            <a:off x="1607127" y="4256286"/>
            <a:ext cx="9144000" cy="1085115"/>
          </a:xfrm>
          <a:prstGeom prst="corner">
            <a:avLst>
              <a:gd name="adj1" fmla="val 3211"/>
              <a:gd name="adj2" fmla="val 2774"/>
            </a:avLst>
          </a:prstGeom>
          <a:solidFill>
            <a:srgbClr val="C0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10" name="L-Shape 9">
            <a:extLst>
              <a:ext uri="{FF2B5EF4-FFF2-40B4-BE49-F238E27FC236}">
                <a16:creationId xmlns:a16="http://schemas.microsoft.com/office/drawing/2014/main" id="{05AB60A7-2D5B-7E43-8D57-EC7156D69284}"/>
              </a:ext>
            </a:extLst>
          </p:cNvPr>
          <p:cNvSpPr/>
          <p:nvPr/>
        </p:nvSpPr>
        <p:spPr bwMode="auto">
          <a:xfrm rot="10800000">
            <a:off x="1530927" y="1664897"/>
            <a:ext cx="9220200" cy="1074948"/>
          </a:xfrm>
          <a:prstGeom prst="corner">
            <a:avLst>
              <a:gd name="adj1" fmla="val 3211"/>
              <a:gd name="adj2" fmla="val 2774"/>
            </a:avLst>
          </a:prstGeom>
          <a:solidFill>
            <a:srgbClr val="C0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251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12FAB-26C7-424E-A96F-BF02901B7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6931F-3D73-C849-9755-92B529DFB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Textbook</a:t>
            </a:r>
            <a:r>
              <a:rPr lang="en-US" dirty="0"/>
              <a:t>: </a:t>
            </a:r>
            <a:r>
              <a:rPr lang="en-US" dirty="0">
                <a:solidFill>
                  <a:srgbClr val="C00000"/>
                </a:solidFill>
              </a:rPr>
              <a:t>Fun</a:t>
            </a:r>
            <a:r>
              <a:rPr lang="en-US" dirty="0"/>
              <a:t>damentals of </a:t>
            </a:r>
            <a:r>
              <a:rPr lang="en-US" dirty="0">
                <a:solidFill>
                  <a:srgbClr val="C00000"/>
                </a:solidFill>
              </a:rPr>
              <a:t>Web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Dev</a:t>
            </a:r>
            <a:r>
              <a:rPr lang="en-US" dirty="0"/>
              <a:t>elopment</a:t>
            </a:r>
          </a:p>
          <a:p>
            <a:pPr lvl="1"/>
            <a:r>
              <a:rPr lang="en-US" dirty="0"/>
              <a:t>Chapters 3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5F899-427D-0746-B677-B1FFC74F9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0DF68DE-D2B8-E548-8A57-CEE83B4DDCF7}"/>
              </a:ext>
            </a:extLst>
          </p:cNvPr>
          <p:cNvSpPr txBox="1">
            <a:spLocks/>
          </p:cNvSpPr>
          <p:nvPr/>
        </p:nvSpPr>
        <p:spPr>
          <a:xfrm>
            <a:off x="936898" y="1690688"/>
            <a:ext cx="10416902" cy="4023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By the end of this section, you will</a:t>
            </a:r>
          </a:p>
          <a:p>
            <a:pPr lvl="1"/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learn about HTML semantic elements</a:t>
            </a:r>
          </a:p>
          <a:p>
            <a:pPr lvl="1"/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understand how to structure your Webpage using semantic elements</a:t>
            </a:r>
          </a:p>
          <a:p>
            <a:pPr lvl="1"/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realize the advantages of using semantic elements</a:t>
            </a:r>
          </a:p>
          <a:p>
            <a:pPr lvl="1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29CE5B-06F0-0E4E-AEF1-A1B572D76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8731" y="4125951"/>
            <a:ext cx="1654042" cy="205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12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346960" y="758952"/>
            <a:ext cx="7543800" cy="320344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Semantic</a:t>
            </a:r>
            <a:r>
              <a:rPr lang="en-US" b="1" dirty="0"/>
              <a:t> Markup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51F968-45F6-6A44-A468-2D19D6B27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6D3AE-9A6B-4724-B938-46259D069CC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87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Markup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D5B9C-5B3A-8E41-B041-7F041EE1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6D3AE-9A6B-4724-B938-46259D069CC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4615B18-EA7D-C94E-9B4C-F6F4362C4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959812" cy="470905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/>
              <a:t>Over the past decade, a strong and broad consensus has grown around the belief that HTML documents should 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only</a:t>
            </a:r>
            <a:r>
              <a:rPr lang="en-US" sz="3200" dirty="0"/>
              <a:t> focus on the structure of the document.</a:t>
            </a:r>
          </a:p>
          <a:p>
            <a:pPr algn="just"/>
            <a:r>
              <a:rPr lang="en-US" sz="3200" dirty="0"/>
              <a:t>Information about how the content should look when it is displayed in the browser is best left to CSS (Cascading Style Sheets).</a:t>
            </a:r>
          </a:p>
          <a:p>
            <a:pPr algn="just"/>
            <a:r>
              <a:rPr lang="en-CA" sz="3200" dirty="0">
                <a:solidFill>
                  <a:srgbClr val="000000"/>
                </a:solidFill>
              </a:rPr>
              <a:t>Semantic HTML refers to the idea that all your HTML markup should convey the underlying meaning of your content—not its appearance.</a:t>
            </a:r>
            <a:r>
              <a:rPr lang="en-CA" sz="3200" dirty="0">
                <a:solidFill>
                  <a:srgbClr val="5D6063"/>
                </a:solidFill>
                <a:latin typeface="Century" panose="02040604050505020304" pitchFamily="18" charset="0"/>
              </a:rPr>
              <a:t> </a:t>
            </a:r>
            <a:endParaRPr lang="en-US" sz="3200" dirty="0"/>
          </a:p>
          <a:p>
            <a:pPr algn="just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EEDB93-F3E9-8445-9EFB-AFB5891D9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3973" y="556735"/>
            <a:ext cx="1420303" cy="25401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CC9FCC-F086-8C4E-B831-52173C8A9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5954" y="3614783"/>
            <a:ext cx="1461938" cy="25127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5756749-6219-A04E-9803-AEC49F63A53F}"/>
              </a:ext>
            </a:extLst>
          </p:cNvPr>
          <p:cNvSpPr txBox="1"/>
          <p:nvPr/>
        </p:nvSpPr>
        <p:spPr>
          <a:xfrm>
            <a:off x="9592885" y="325692"/>
            <a:ext cx="2183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Ambiguous structure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ACB30C-64E1-694D-B860-1519F15F22A0}"/>
              </a:ext>
            </a:extLst>
          </p:cNvPr>
          <p:cNvSpPr txBox="1"/>
          <p:nvPr/>
        </p:nvSpPr>
        <p:spPr>
          <a:xfrm>
            <a:off x="9741811" y="3394216"/>
            <a:ext cx="2110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Identifiable sections</a:t>
            </a:r>
          </a:p>
        </p:txBody>
      </p:sp>
    </p:spTree>
    <p:extLst>
      <p:ext uri="{BB962C8B-B14F-4D97-AF65-F5344CB8AC3E}">
        <p14:creationId xmlns:p14="http://schemas.microsoft.com/office/powerpoint/2010/main" val="2929609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EA678-E7C0-4E14-AAC7-EF6932C45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Semantic Tags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B4D63-236F-4E24-AE31-DEF6CEFF8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Header – content at the top of web page</a:t>
            </a:r>
          </a:p>
          <a:p>
            <a:r>
              <a:rPr lang="en-US"/>
              <a:t>Footer – content at the bottom of web page</a:t>
            </a:r>
          </a:p>
          <a:p>
            <a:r>
              <a:rPr lang="en-US"/>
              <a:t>Article – a unit of web page content</a:t>
            </a:r>
          </a:p>
          <a:p>
            <a:r>
              <a:rPr lang="en-US"/>
              <a:t>Section – an arbitrary part of html content</a:t>
            </a:r>
          </a:p>
          <a:p>
            <a:r>
              <a:rPr lang="en-US"/>
              <a:t>Figure – container fo a graphic</a:t>
            </a:r>
          </a:p>
          <a:p>
            <a:r>
              <a:rPr lang="en-US"/>
              <a:t>Aside – a part of html content which amplifies something on the page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6FFC2-FCAF-432E-9DB6-D0CE59C1E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864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Page Structure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714744" cy="4351338"/>
          </a:xfrm>
        </p:spPr>
        <p:txBody>
          <a:bodyPr>
            <a:normAutofit/>
          </a:bodyPr>
          <a:lstStyle/>
          <a:p>
            <a:pPr algn="just"/>
            <a:r>
              <a:rPr lang="en-US" altLang="en-US" sz="3200" dirty="0"/>
              <a:t>HTML5 introduces several new page-structure elements that meaningfully identify areas of the page as headers, footers, articles, navigation areas, asides, figures and more.</a:t>
            </a:r>
          </a:p>
          <a:p>
            <a:endParaRPr lang="en-US" alt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F50B241-0F32-804A-AFD0-1CF18DEF71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1" b="1123"/>
          <a:stretch/>
        </p:blipFill>
        <p:spPr>
          <a:xfrm>
            <a:off x="8037576" y="1904281"/>
            <a:ext cx="3374810" cy="427268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D5B9C-5B3A-8E41-B041-7F041EE1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746D3AE-9A6B-4724-B938-46259D069CC8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80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Markup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D5B9C-5B3A-8E41-B041-7F041EE1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6D3AE-9A6B-4724-B938-46259D069CC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4615B18-EA7D-C94E-9B4C-F6F4362C4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1014573" cy="3783672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As a consequence, beginning HTML authors are often counseled to create </a:t>
            </a:r>
            <a:r>
              <a:rPr lang="en-US" sz="3200" b="1" dirty="0">
                <a:solidFill>
                  <a:schemeClr val="accent1"/>
                </a:solidFill>
              </a:rPr>
              <a:t>semantic HTML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/>
              <a:t>documents. </a:t>
            </a:r>
          </a:p>
          <a:p>
            <a:pPr algn="just"/>
            <a:r>
              <a:rPr lang="en-US" sz="3200" dirty="0"/>
              <a:t>That is, an HTML document should not describe how to visually present content, but only describe its content’s structural semantics or meaning.</a:t>
            </a:r>
          </a:p>
        </p:txBody>
      </p:sp>
    </p:spTree>
    <p:extLst>
      <p:ext uri="{BB962C8B-B14F-4D97-AF65-F5344CB8AC3E}">
        <p14:creationId xmlns:p14="http://schemas.microsoft.com/office/powerpoint/2010/main" val="3665502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5867400" y="3015162"/>
            <a:ext cx="3609474" cy="26517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867400" y="3344779"/>
            <a:ext cx="3609474" cy="8422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867400" y="4186989"/>
            <a:ext cx="3609474" cy="81814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867400" y="1443789"/>
            <a:ext cx="3609474" cy="15641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390774" y="1798720"/>
            <a:ext cx="2833437" cy="8542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49705" y="3015162"/>
            <a:ext cx="3609474" cy="26517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49705" y="3344779"/>
            <a:ext cx="3609474" cy="8422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49705" y="4186989"/>
            <a:ext cx="3609474" cy="81814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49705" y="1443789"/>
            <a:ext cx="3609474" cy="15641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73079" y="1798720"/>
            <a:ext cx="2833437" cy="8542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853846" y="27322"/>
            <a:ext cx="10515600" cy="826001"/>
          </a:xfrm>
        </p:spPr>
        <p:txBody>
          <a:bodyPr/>
          <a:lstStyle/>
          <a:p>
            <a:r>
              <a:rPr lang="en-US" dirty="0"/>
              <a:t>XHTML vs. HTML5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216567" y="1106905"/>
            <a:ext cx="4656221" cy="507005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400" b="1" dirty="0"/>
              <a:t>&lt;body&gt;</a:t>
            </a:r>
          </a:p>
          <a:p>
            <a:pPr marL="457200" lvl="1" indent="0">
              <a:buNone/>
            </a:pPr>
            <a:r>
              <a:rPr lang="en-US" sz="4000" b="1" dirty="0"/>
              <a:t>&lt;div id="header"&gt;</a:t>
            </a:r>
          </a:p>
          <a:p>
            <a:pPr marL="914400" lvl="2" indent="0">
              <a:buNone/>
            </a:pPr>
            <a:r>
              <a:rPr lang="en-US" sz="3600" b="1" dirty="0"/>
              <a:t>&lt;div id="navigation"&gt;</a:t>
            </a:r>
          </a:p>
          <a:p>
            <a:pPr marL="914400" lvl="2" indent="0">
              <a:buNone/>
            </a:pPr>
            <a:br>
              <a:rPr lang="en-US" sz="3600" b="1" dirty="0"/>
            </a:br>
            <a:r>
              <a:rPr lang="en-US" sz="3600" b="1" dirty="0"/>
              <a:t>&lt;/div&gt;</a:t>
            </a:r>
          </a:p>
          <a:p>
            <a:pPr marL="457200" lvl="1" indent="0">
              <a:buNone/>
            </a:pPr>
            <a:r>
              <a:rPr lang="en-US" sz="4000" b="1" dirty="0"/>
              <a:t>&lt;/div&gt;</a:t>
            </a:r>
          </a:p>
          <a:p>
            <a:pPr marL="457200" lvl="1" indent="0">
              <a:buNone/>
            </a:pPr>
            <a:r>
              <a:rPr lang="en-US" sz="4000" b="1" dirty="0"/>
              <a:t>&lt;div id="article"&gt;</a:t>
            </a:r>
          </a:p>
          <a:p>
            <a:pPr marL="914400" lvl="2" indent="0">
              <a:buNone/>
            </a:pPr>
            <a:r>
              <a:rPr lang="en-US" sz="3600" b="1" dirty="0"/>
              <a:t>&lt;div id="section"&gt;</a:t>
            </a:r>
          </a:p>
          <a:p>
            <a:pPr marL="914400" lvl="2" indent="0">
              <a:buNone/>
            </a:pPr>
            <a:br>
              <a:rPr lang="en-US" sz="3600" b="1" dirty="0"/>
            </a:br>
            <a:r>
              <a:rPr lang="en-US" sz="3600" b="1" dirty="0"/>
              <a:t>&lt;/div&gt;</a:t>
            </a:r>
          </a:p>
          <a:p>
            <a:pPr marL="914400" lvl="2" indent="0">
              <a:buNone/>
            </a:pPr>
            <a:r>
              <a:rPr lang="en-US" sz="3600" b="1" dirty="0"/>
              <a:t>&lt;div id="section"&gt;</a:t>
            </a:r>
          </a:p>
          <a:p>
            <a:pPr marL="914400" lvl="2" indent="0">
              <a:buNone/>
            </a:pPr>
            <a:br>
              <a:rPr lang="en-US" sz="3600" b="1" dirty="0"/>
            </a:br>
            <a:r>
              <a:rPr lang="en-US" sz="3600" b="1" dirty="0"/>
              <a:t>&lt;/div&gt;</a:t>
            </a:r>
          </a:p>
          <a:p>
            <a:pPr marL="457200" lvl="1" indent="0">
              <a:buNone/>
            </a:pPr>
            <a:r>
              <a:rPr lang="en-US" sz="4000" b="1" dirty="0"/>
              <a:t>&lt;/div&gt;</a:t>
            </a:r>
          </a:p>
          <a:p>
            <a:pPr marL="0" indent="0">
              <a:buNone/>
            </a:pPr>
            <a:br>
              <a:rPr lang="en-US" sz="4400" b="1" dirty="0"/>
            </a:br>
            <a:r>
              <a:rPr lang="en-US" sz="4400" b="1" dirty="0"/>
              <a:t>&lt;/body&gt;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Content Placeholder 4"/>
          <p:cNvSpPr>
            <a:spLocks noGrp="1"/>
          </p:cNvSpPr>
          <p:nvPr>
            <p:ph sz="half" idx="1"/>
          </p:nvPr>
        </p:nvSpPr>
        <p:spPr>
          <a:xfrm>
            <a:off x="5771147" y="1106905"/>
            <a:ext cx="5803232" cy="507005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400" b="1" dirty="0"/>
              <a:t>&lt;body&gt;</a:t>
            </a:r>
          </a:p>
          <a:p>
            <a:pPr marL="457200" lvl="1" indent="0">
              <a:buNone/>
            </a:pPr>
            <a:r>
              <a:rPr lang="en-US" sz="4000" b="1" dirty="0"/>
              <a:t>&lt;header&gt;</a:t>
            </a:r>
          </a:p>
          <a:p>
            <a:pPr marL="914400" lvl="2" indent="0">
              <a:buNone/>
            </a:pPr>
            <a:r>
              <a:rPr lang="en-US" sz="3600" b="1" dirty="0"/>
              <a:t>&lt;</a:t>
            </a:r>
            <a:r>
              <a:rPr lang="en-US" sz="3600" b="1" dirty="0" err="1"/>
              <a:t>nav</a:t>
            </a:r>
            <a:r>
              <a:rPr lang="en-US" sz="3600" b="1" dirty="0"/>
              <a:t>&gt;</a:t>
            </a:r>
          </a:p>
          <a:p>
            <a:pPr marL="914400" lvl="2" indent="0">
              <a:buNone/>
            </a:pPr>
            <a:br>
              <a:rPr lang="en-US" sz="3600" b="1" dirty="0"/>
            </a:br>
            <a:r>
              <a:rPr lang="en-US" sz="3600" b="1" dirty="0"/>
              <a:t>&lt;/</a:t>
            </a:r>
            <a:r>
              <a:rPr lang="en-US" sz="3600" b="1" dirty="0" err="1"/>
              <a:t>nav</a:t>
            </a:r>
            <a:r>
              <a:rPr lang="en-US" sz="3600" b="1" dirty="0"/>
              <a:t>&gt;</a:t>
            </a:r>
          </a:p>
          <a:p>
            <a:pPr marL="457200" lvl="1" indent="0">
              <a:buNone/>
            </a:pPr>
            <a:r>
              <a:rPr lang="en-US" sz="4000" b="1" dirty="0"/>
              <a:t>&lt;/header&gt;</a:t>
            </a:r>
          </a:p>
          <a:p>
            <a:pPr marL="457200" lvl="1" indent="0">
              <a:buNone/>
            </a:pPr>
            <a:r>
              <a:rPr lang="en-US" sz="4000" b="1" dirty="0"/>
              <a:t>&lt;article&gt;</a:t>
            </a:r>
          </a:p>
          <a:p>
            <a:pPr marL="914400" lvl="2" indent="0">
              <a:buNone/>
            </a:pPr>
            <a:r>
              <a:rPr lang="en-US" sz="3600" b="1" dirty="0"/>
              <a:t>&lt;section&gt;</a:t>
            </a:r>
          </a:p>
          <a:p>
            <a:pPr marL="914400" lvl="2" indent="0">
              <a:buNone/>
            </a:pPr>
            <a:br>
              <a:rPr lang="en-US" sz="3600" b="1" dirty="0"/>
            </a:br>
            <a:r>
              <a:rPr lang="en-US" sz="3600" b="1" dirty="0"/>
              <a:t>&lt;/section&gt;</a:t>
            </a:r>
          </a:p>
          <a:p>
            <a:pPr marL="914400" lvl="2" indent="0">
              <a:buNone/>
            </a:pPr>
            <a:r>
              <a:rPr lang="en-US" sz="3600" b="1" dirty="0"/>
              <a:t>&lt;section&gt;</a:t>
            </a:r>
          </a:p>
          <a:p>
            <a:pPr marL="914400" lvl="2" indent="0">
              <a:buNone/>
            </a:pPr>
            <a:br>
              <a:rPr lang="en-US" sz="3600" b="1" dirty="0"/>
            </a:br>
            <a:r>
              <a:rPr lang="en-US" sz="3600" b="1" dirty="0"/>
              <a:t>&lt;/section&gt;</a:t>
            </a:r>
          </a:p>
          <a:p>
            <a:pPr marL="457200" lvl="1" indent="0">
              <a:buNone/>
            </a:pPr>
            <a:r>
              <a:rPr lang="en-US" sz="4000" b="1" dirty="0"/>
              <a:t>&lt;/article&gt;</a:t>
            </a:r>
          </a:p>
          <a:p>
            <a:pPr marL="0" indent="0">
              <a:buNone/>
            </a:pPr>
            <a:br>
              <a:rPr lang="en-US" sz="4400" b="1" dirty="0"/>
            </a:br>
            <a:r>
              <a:rPr lang="en-US" sz="4400" b="1" dirty="0"/>
              <a:t>&lt;/body&gt;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632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9745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5883442"/>
            <a:ext cx="12192000" cy="9745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0335126" y="974558"/>
            <a:ext cx="1856874" cy="490888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974558"/>
            <a:ext cx="10335126" cy="49088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04537" y="2165684"/>
            <a:ext cx="9673389" cy="15400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04536" y="3970421"/>
            <a:ext cx="9673389" cy="15400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113548" y="625642"/>
            <a:ext cx="9673389" cy="3489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041230" y="16804"/>
            <a:ext cx="1795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&lt;header&gt;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54213" y="522130"/>
            <a:ext cx="12047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&lt;</a:t>
            </a:r>
            <a:r>
              <a:rPr lang="en-US" sz="3200" b="1" dirty="0" err="1"/>
              <a:t>nav</a:t>
            </a:r>
            <a:r>
              <a:rPr lang="en-US" sz="3200" b="1" dirty="0"/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093" y="1093630"/>
            <a:ext cx="16658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&lt;article&gt;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092" y="2168071"/>
            <a:ext cx="18213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&lt;section&gt;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092" y="3900617"/>
            <a:ext cx="18213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&lt;section&gt;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1230" y="6025434"/>
            <a:ext cx="16514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&lt;footer&gt;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52897" y="2198149"/>
            <a:ext cx="14879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&lt;aside&gt;</a:t>
            </a:r>
          </a:p>
        </p:txBody>
      </p:sp>
    </p:spTree>
    <p:extLst>
      <p:ext uri="{BB962C8B-B14F-4D97-AF65-F5344CB8AC3E}">
        <p14:creationId xmlns:p14="http://schemas.microsoft.com/office/powerpoint/2010/main" val="3648455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9745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5883442"/>
            <a:ext cx="12192000" cy="9745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0335126" y="974558"/>
            <a:ext cx="1856874" cy="490888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1" y="974558"/>
            <a:ext cx="5167561" cy="49088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04538" y="2165684"/>
            <a:ext cx="4836692" cy="15400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04537" y="3970421"/>
            <a:ext cx="4836692" cy="15400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113548" y="625642"/>
            <a:ext cx="9673389" cy="3489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041230" y="16804"/>
            <a:ext cx="1795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&lt;header&gt;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54213" y="522130"/>
            <a:ext cx="12047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&lt;</a:t>
            </a:r>
            <a:r>
              <a:rPr lang="en-US" sz="3200" b="1" dirty="0" err="1"/>
              <a:t>nav</a:t>
            </a:r>
            <a:r>
              <a:rPr lang="en-US" sz="3200" b="1" dirty="0"/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093" y="1093630"/>
            <a:ext cx="16658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&lt;article&gt;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092" y="2168071"/>
            <a:ext cx="18213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&lt;section&gt;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092" y="3900617"/>
            <a:ext cx="18213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&lt;section&gt;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1230" y="6025434"/>
            <a:ext cx="16514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&lt;footer&gt;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52897" y="2198149"/>
            <a:ext cx="14879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&lt;aside&gt;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67562" y="966704"/>
            <a:ext cx="5167563" cy="49088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372101" y="2157830"/>
            <a:ext cx="4836694" cy="15400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372100" y="3962567"/>
            <a:ext cx="4836694" cy="15400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5458323" y="1177828"/>
            <a:ext cx="16658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&lt;article&gt;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58322" y="2252269"/>
            <a:ext cx="18213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&lt;section&gt;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58322" y="3984815"/>
            <a:ext cx="18213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&lt;section&gt;</a:t>
            </a:r>
          </a:p>
        </p:txBody>
      </p:sp>
    </p:spTree>
    <p:extLst>
      <p:ext uri="{BB962C8B-B14F-4D97-AF65-F5344CB8AC3E}">
        <p14:creationId xmlns:p14="http://schemas.microsoft.com/office/powerpoint/2010/main" val="1896392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9745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5883442"/>
            <a:ext cx="12192000" cy="9745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0335126" y="974558"/>
            <a:ext cx="1856874" cy="490888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659530" y="974558"/>
            <a:ext cx="7675595" cy="49088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62548" y="2165684"/>
            <a:ext cx="7015378" cy="15400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862547" y="3970421"/>
            <a:ext cx="7015377" cy="15400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986588"/>
            <a:ext cx="2659529" cy="489685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041230" y="16804"/>
            <a:ext cx="1795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&lt;header&gt;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319" y="2350930"/>
            <a:ext cx="12047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&lt;</a:t>
            </a:r>
            <a:r>
              <a:rPr lang="en-US" sz="3200" b="1" dirty="0" err="1"/>
              <a:t>nav</a:t>
            </a:r>
            <a:r>
              <a:rPr lang="en-US" sz="3200" b="1" dirty="0"/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550" y="1106905"/>
            <a:ext cx="16658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&lt;article&gt;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549" y="2181346"/>
            <a:ext cx="18213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&lt;section&gt;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2549" y="3913892"/>
            <a:ext cx="18213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&lt;section&gt;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1230" y="6025434"/>
            <a:ext cx="16514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&lt;footer&gt;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52897" y="2198149"/>
            <a:ext cx="14879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&lt;aside&gt;</a:t>
            </a:r>
          </a:p>
        </p:txBody>
      </p:sp>
    </p:spTree>
    <p:extLst>
      <p:ext uri="{BB962C8B-B14F-4D97-AF65-F5344CB8AC3E}">
        <p14:creationId xmlns:p14="http://schemas.microsoft.com/office/powerpoint/2010/main" val="2552583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9745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5883442"/>
            <a:ext cx="12192000" cy="9745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0335126" y="974558"/>
            <a:ext cx="1856874" cy="490888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985345"/>
            <a:ext cx="10335126" cy="16364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2632534"/>
            <a:ext cx="10335126" cy="325090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113548" y="625642"/>
            <a:ext cx="9673389" cy="3489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041230" y="16804"/>
            <a:ext cx="17956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&lt;header&gt;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54213" y="522130"/>
            <a:ext cx="12047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&lt;</a:t>
            </a:r>
            <a:r>
              <a:rPr lang="en-US" sz="3200" b="1" dirty="0" err="1"/>
              <a:t>nav</a:t>
            </a:r>
            <a:r>
              <a:rPr lang="en-US" sz="3200" b="1" dirty="0"/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82" y="-867519"/>
            <a:ext cx="16658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&lt;article&gt;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16" y="942611"/>
            <a:ext cx="18213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&lt;section&gt;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16" y="2551837"/>
            <a:ext cx="18213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&lt;section&gt;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1230" y="6025434"/>
            <a:ext cx="16514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&lt;footer&gt;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52897" y="2198149"/>
            <a:ext cx="14879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&lt;aside&gt;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66937" y="3065616"/>
            <a:ext cx="4391526" cy="27468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437080" y="3065616"/>
            <a:ext cx="4391526" cy="27468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550802" y="3117999"/>
            <a:ext cx="16658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&lt;article&gt;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5269" y="3054829"/>
            <a:ext cx="16658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&lt;article&gt;</a:t>
            </a:r>
          </a:p>
        </p:txBody>
      </p:sp>
    </p:spTree>
    <p:extLst>
      <p:ext uri="{BB962C8B-B14F-4D97-AF65-F5344CB8AC3E}">
        <p14:creationId xmlns:p14="http://schemas.microsoft.com/office/powerpoint/2010/main" val="90568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797" y="1690688"/>
            <a:ext cx="8900066" cy="4351338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Most web site pages have a recognizable header and footer section. </a:t>
            </a:r>
          </a:p>
          <a:p>
            <a:pPr algn="just"/>
            <a:r>
              <a:rPr lang="en-US" sz="3200" dirty="0"/>
              <a:t>Typically the </a:t>
            </a:r>
            <a:r>
              <a:rPr lang="en-US" sz="3200" b="1" dirty="0"/>
              <a:t>header</a:t>
            </a:r>
            <a:r>
              <a:rPr lang="en-US" sz="3200" dirty="0"/>
              <a:t> contains </a:t>
            </a:r>
          </a:p>
          <a:p>
            <a:pPr marL="800100" lvl="1" indent="-342900" algn="just"/>
            <a:r>
              <a:rPr lang="en-US" sz="2800" dirty="0"/>
              <a:t>the site logo </a:t>
            </a:r>
          </a:p>
          <a:p>
            <a:pPr marL="800100" lvl="1" indent="-342900" algn="just"/>
            <a:r>
              <a:rPr lang="en-US" sz="2800" dirty="0"/>
              <a:t>title (and perhaps additional subtitles or taglines)</a:t>
            </a:r>
          </a:p>
          <a:p>
            <a:pPr marL="800100" lvl="1" indent="-342900" algn="just"/>
            <a:r>
              <a:rPr lang="en-US" sz="2800" dirty="0"/>
              <a:t>horizontal navigation links, and </a:t>
            </a:r>
          </a:p>
          <a:p>
            <a:pPr marL="800100" lvl="1" indent="-342900" algn="just"/>
            <a:r>
              <a:rPr lang="en-US" sz="2800" dirty="0"/>
              <a:t>perhaps one or two horizontal banners. </a:t>
            </a:r>
          </a:p>
          <a:p>
            <a:pPr marL="342900" indent="-342900" algn="just"/>
            <a:r>
              <a:rPr lang="en-CA" sz="3200" dirty="0"/>
              <a:t>It denotes introductory content for a section, article, or entire web page. </a:t>
            </a:r>
            <a:endParaRPr lang="en-US" sz="3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D5B9C-5B3A-8E41-B041-7F041EE1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6D3AE-9A6B-4724-B938-46259D069CC8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237307-D9DF-8440-AE41-5DD7E06F9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863" y="3117002"/>
            <a:ext cx="2327910" cy="310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059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8033854" cy="4351338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typical footer contains less important material, such as:</a:t>
            </a:r>
            <a:r>
              <a:rPr lang="en-US" sz="2400" dirty="0"/>
              <a:t> </a:t>
            </a:r>
          </a:p>
          <a:p>
            <a:pPr marL="800100" lvl="1" indent="-342900" algn="just"/>
            <a:r>
              <a:rPr lang="en-US" sz="2800" dirty="0"/>
              <a:t>smaller text versions of the navigation, </a:t>
            </a:r>
          </a:p>
          <a:p>
            <a:pPr marL="800100" lvl="1" indent="-342900" algn="just"/>
            <a:r>
              <a:rPr lang="en-US" sz="2800" dirty="0"/>
              <a:t>copyright notices, </a:t>
            </a:r>
          </a:p>
          <a:p>
            <a:pPr marL="800100" lvl="1" indent="-342900" algn="just"/>
            <a:r>
              <a:rPr lang="en-US" sz="2800" dirty="0"/>
              <a:t>information about the site’s privacy policy, and </a:t>
            </a:r>
          </a:p>
          <a:p>
            <a:pPr marL="800100" lvl="1" indent="-342900" algn="just"/>
            <a:r>
              <a:rPr lang="en-US" sz="2800" dirty="0"/>
              <a:t>perhaps twitter feeds or links to other social sites.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D5B9C-5B3A-8E41-B041-7F041EE1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6D3AE-9A6B-4724-B938-46259D069CC8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A57746-EE7B-574E-956C-FCF59F2F7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2054" y="2218689"/>
            <a:ext cx="2960327" cy="386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186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Header </a:t>
            </a:r>
            <a:r>
              <a:rPr lang="en-US"/>
              <a:t>and Article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D5B9C-5B3A-8E41-B041-7F041EE1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6D3AE-9A6B-4724-B938-46259D069CC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F24A390-1979-1E4F-8F30-DEE28F30F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2445097"/>
            <a:ext cx="7494963" cy="3139321"/>
          </a:xfrm>
          <a:prstGeom prst="rect">
            <a:avLst/>
          </a:prstGeom>
          <a:solidFill>
            <a:srgbClr val="F2F2F2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en-US" b="1" dirty="0">
                <a:solidFill>
                  <a:srgbClr val="C00000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&lt;header&gt;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en-US" dirty="0">
                <a:latin typeface="Consolas" pitchFamily="49" charset="0"/>
                <a:ea typeface="Calibri" pitchFamily="34" charset="0"/>
                <a:cs typeface="Consolas" pitchFamily="49" charset="0"/>
              </a:rPr>
              <a:t>   &lt;</a:t>
            </a:r>
            <a:r>
              <a:rPr lang="en-US" dirty="0" err="1">
                <a:latin typeface="Consolas" pitchFamily="49" charset="0"/>
                <a:ea typeface="Calibri" pitchFamily="34" charset="0"/>
                <a:cs typeface="Consolas" pitchFamily="49" charset="0"/>
              </a:rPr>
              <a:t>img</a:t>
            </a:r>
            <a:r>
              <a:rPr lang="en-US" dirty="0">
                <a:latin typeface="Consolas" pitchFamily="49" charset="0"/>
                <a:ea typeface="Calibri" pitchFamily="34" charset="0"/>
                <a:cs typeface="Consolas" pitchFamily="49" charset="0"/>
              </a:rPr>
              <a:t> </a:t>
            </a:r>
            <a:r>
              <a:rPr lang="en-US" dirty="0" err="1">
                <a:latin typeface="Consolas" pitchFamily="49" charset="0"/>
                <a:ea typeface="Calibri" pitchFamily="34" charset="0"/>
                <a:cs typeface="Consolas" pitchFamily="49" charset="0"/>
              </a:rPr>
              <a:t>src</a:t>
            </a:r>
            <a:r>
              <a:rPr lang="en-US" dirty="0">
                <a:latin typeface="Consolas" pitchFamily="49" charset="0"/>
                <a:ea typeface="Calibri" pitchFamily="34" charset="0"/>
                <a:cs typeface="Consolas" pitchFamily="49" charset="0"/>
              </a:rPr>
              <a:t>="logo.gif" alt="logo" /&gt;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en-US" dirty="0">
                <a:latin typeface="Consolas" pitchFamily="49" charset="0"/>
                <a:ea typeface="Calibri" pitchFamily="34" charset="0"/>
                <a:cs typeface="Consolas" pitchFamily="49" charset="0"/>
              </a:rPr>
              <a:t>   &lt;h1&gt;Fundamentals of Web Development&lt;/h1&gt;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en-US" dirty="0">
                <a:latin typeface="Consolas" pitchFamily="49" charset="0"/>
                <a:ea typeface="Calibri" pitchFamily="34" charset="0"/>
                <a:cs typeface="Consolas" pitchFamily="49" charset="0"/>
              </a:rPr>
              <a:t>   ...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en-US" b="1" dirty="0">
                <a:solidFill>
                  <a:srgbClr val="C00000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&lt;/header&gt;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en-US" dirty="0">
                <a:latin typeface="Consolas" pitchFamily="49" charset="0"/>
                <a:ea typeface="Calibri" pitchFamily="34" charset="0"/>
                <a:cs typeface="Consolas" pitchFamily="49" charset="0"/>
              </a:rPr>
              <a:t>&lt;article&gt;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en-US" dirty="0">
                <a:latin typeface="Consolas" pitchFamily="49" charset="0"/>
                <a:ea typeface="Calibri" pitchFamily="34" charset="0"/>
                <a:cs typeface="Consolas" pitchFamily="49" charset="0"/>
              </a:rPr>
              <a:t>	&lt;h2&gt;HTML5 Semantic Structure Elements &lt;/h2&gt;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en-US" dirty="0">
                <a:latin typeface="Consolas" pitchFamily="49" charset="0"/>
                <a:ea typeface="Calibri" pitchFamily="34" charset="0"/>
                <a:cs typeface="Consolas" pitchFamily="49" charset="0"/>
              </a:rPr>
              <a:t>	&lt;p&gt;By &lt;</a:t>
            </a:r>
            <a:r>
              <a:rPr lang="en-US" dirty="0" err="1">
                <a:latin typeface="Consolas" pitchFamily="49" charset="0"/>
                <a:ea typeface="Calibri" pitchFamily="34" charset="0"/>
                <a:cs typeface="Consolas" pitchFamily="49" charset="0"/>
              </a:rPr>
              <a:t>em</a:t>
            </a:r>
            <a:r>
              <a:rPr lang="en-US" dirty="0">
                <a:latin typeface="Consolas" pitchFamily="49" charset="0"/>
                <a:ea typeface="Calibri" pitchFamily="34" charset="0"/>
                <a:cs typeface="Consolas" pitchFamily="49" charset="0"/>
              </a:rPr>
              <a:t>&gt;Randy Connolly&lt;/</a:t>
            </a:r>
            <a:r>
              <a:rPr lang="en-US" dirty="0" err="1">
                <a:latin typeface="Consolas" pitchFamily="49" charset="0"/>
                <a:ea typeface="Calibri" pitchFamily="34" charset="0"/>
                <a:cs typeface="Consolas" pitchFamily="49" charset="0"/>
              </a:rPr>
              <a:t>em</a:t>
            </a:r>
            <a:r>
              <a:rPr lang="en-US" dirty="0">
                <a:latin typeface="Consolas" pitchFamily="49" charset="0"/>
                <a:ea typeface="Calibri" pitchFamily="34" charset="0"/>
                <a:cs typeface="Consolas" pitchFamily="49" charset="0"/>
              </a:rPr>
              <a:t>&gt;&lt;/p&gt;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en-US" dirty="0">
                <a:latin typeface="Consolas" pitchFamily="49" charset="0"/>
                <a:ea typeface="Calibri" pitchFamily="34" charset="0"/>
                <a:cs typeface="Consolas" pitchFamily="49" charset="0"/>
              </a:rPr>
              <a:t>	&lt;p&gt;&lt;time&gt;September 30, 2012&lt;/time&gt;&lt;/p&gt;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en-US" dirty="0">
                <a:latin typeface="Consolas" pitchFamily="49" charset="0"/>
                <a:ea typeface="Calibri" pitchFamily="34" charset="0"/>
                <a:cs typeface="Consolas" pitchFamily="49" charset="0"/>
              </a:rPr>
              <a:t>	...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en-US" dirty="0">
                <a:latin typeface="Consolas" pitchFamily="49" charset="0"/>
                <a:ea typeface="Calibri" pitchFamily="34" charset="0"/>
                <a:cs typeface="Consolas" pitchFamily="49" charset="0"/>
              </a:rPr>
              <a:t>&lt;/article&gt;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973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D5B9C-5B3A-8E41-B041-7F041EE1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6D3AE-9A6B-4724-B938-46259D069CC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2DD9682-0416-A34E-8C78-2E8A8C8A6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759" y="3068780"/>
            <a:ext cx="6915013" cy="3139321"/>
          </a:xfrm>
          <a:prstGeom prst="rect">
            <a:avLst/>
          </a:prstGeom>
          <a:solidFill>
            <a:srgbClr val="F2F2F2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en-US" dirty="0">
                <a:latin typeface="Consolas" pitchFamily="49" charset="0"/>
                <a:ea typeface="Calibri" pitchFamily="34" charset="0"/>
                <a:cs typeface="Consolas" pitchFamily="49" charset="0"/>
              </a:rPr>
              <a:t>&lt;header&gt;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en-US" dirty="0">
                <a:latin typeface="Consolas" pitchFamily="49" charset="0"/>
                <a:ea typeface="Calibri" pitchFamily="34" charset="0"/>
                <a:cs typeface="Consolas" pitchFamily="49" charset="0"/>
              </a:rPr>
              <a:t>	&lt;</a:t>
            </a:r>
            <a:r>
              <a:rPr lang="en-US" dirty="0" err="1">
                <a:latin typeface="Consolas" pitchFamily="49" charset="0"/>
                <a:ea typeface="Calibri" pitchFamily="34" charset="0"/>
                <a:cs typeface="Consolas" pitchFamily="49" charset="0"/>
              </a:rPr>
              <a:t>img</a:t>
            </a:r>
            <a:r>
              <a:rPr lang="en-US" dirty="0">
                <a:latin typeface="Consolas" pitchFamily="49" charset="0"/>
                <a:ea typeface="Calibri" pitchFamily="34" charset="0"/>
                <a:cs typeface="Consolas" pitchFamily="49" charset="0"/>
              </a:rPr>
              <a:t> </a:t>
            </a:r>
            <a:r>
              <a:rPr lang="en-US" dirty="0" err="1">
                <a:latin typeface="Consolas" pitchFamily="49" charset="0"/>
                <a:ea typeface="Calibri" pitchFamily="34" charset="0"/>
                <a:cs typeface="Consolas" pitchFamily="49" charset="0"/>
              </a:rPr>
              <a:t>src</a:t>
            </a:r>
            <a:r>
              <a:rPr lang="en-US" dirty="0">
                <a:latin typeface="Consolas" pitchFamily="49" charset="0"/>
                <a:ea typeface="Calibri" pitchFamily="34" charset="0"/>
                <a:cs typeface="Consolas" pitchFamily="49" charset="0"/>
              </a:rPr>
              <a:t>="logo.gif" alt="logo" /&gt;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en-US" dirty="0">
                <a:latin typeface="Consolas" pitchFamily="49" charset="0"/>
                <a:ea typeface="Calibri" pitchFamily="34" charset="0"/>
                <a:cs typeface="Consolas" pitchFamily="49" charset="0"/>
              </a:rPr>
              <a:t>	&lt;h1&gt;Fundamentals of Web Development&lt;/h1&gt;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en-US" dirty="0">
                <a:latin typeface="Consolas" pitchFamily="49" charset="0"/>
                <a:ea typeface="Calibri" pitchFamily="34" charset="0"/>
                <a:cs typeface="Consolas" pitchFamily="49" charset="0"/>
              </a:rPr>
              <a:t>	</a:t>
            </a:r>
            <a:r>
              <a:rPr lang="en-US" b="1" dirty="0">
                <a:solidFill>
                  <a:srgbClr val="C00000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&lt;</a:t>
            </a:r>
            <a:r>
              <a:rPr lang="en-US" b="1" dirty="0" err="1">
                <a:solidFill>
                  <a:srgbClr val="C00000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nav</a:t>
            </a:r>
            <a:r>
              <a:rPr lang="en-US" b="1" dirty="0">
                <a:solidFill>
                  <a:srgbClr val="C00000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&gt;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en-US" dirty="0">
                <a:latin typeface="Consolas" pitchFamily="49" charset="0"/>
                <a:ea typeface="Calibri" pitchFamily="34" charset="0"/>
                <a:cs typeface="Consolas" pitchFamily="49" charset="0"/>
              </a:rPr>
              <a:t>		&lt;</a:t>
            </a:r>
            <a:r>
              <a:rPr lang="en-US" dirty="0" err="1">
                <a:latin typeface="Consolas" pitchFamily="49" charset="0"/>
                <a:ea typeface="Calibri" pitchFamily="34" charset="0"/>
                <a:cs typeface="Consolas" pitchFamily="49" charset="0"/>
              </a:rPr>
              <a:t>ul</a:t>
            </a:r>
            <a:r>
              <a:rPr lang="en-US" dirty="0">
                <a:latin typeface="Consolas" pitchFamily="49" charset="0"/>
                <a:ea typeface="Calibri" pitchFamily="34" charset="0"/>
                <a:cs typeface="Consolas" pitchFamily="49" charset="0"/>
              </a:rPr>
              <a:t>&gt;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en-US" dirty="0">
                <a:latin typeface="Consolas" pitchFamily="49" charset="0"/>
                <a:ea typeface="Calibri" pitchFamily="34" charset="0"/>
                <a:cs typeface="Consolas" pitchFamily="49" charset="0"/>
              </a:rPr>
              <a:t>			&lt;</a:t>
            </a:r>
            <a:r>
              <a:rPr lang="en-US" dirty="0" err="1">
                <a:latin typeface="Consolas" pitchFamily="49" charset="0"/>
                <a:ea typeface="Calibri" pitchFamily="34" charset="0"/>
                <a:cs typeface="Consolas" pitchFamily="49" charset="0"/>
              </a:rPr>
              <a:t>li</a:t>
            </a:r>
            <a:r>
              <a:rPr lang="en-US" dirty="0">
                <a:latin typeface="Consolas" pitchFamily="49" charset="0"/>
                <a:ea typeface="Calibri" pitchFamily="34" charset="0"/>
                <a:cs typeface="Consolas" pitchFamily="49" charset="0"/>
              </a:rPr>
              <a:t>&gt;&lt;a </a:t>
            </a:r>
            <a:r>
              <a:rPr lang="en-US" dirty="0" err="1">
                <a:latin typeface="Consolas" pitchFamily="49" charset="0"/>
                <a:ea typeface="Calibri" pitchFamily="34" charset="0"/>
                <a:cs typeface="Consolas" pitchFamily="49" charset="0"/>
              </a:rPr>
              <a:t>href</a:t>
            </a:r>
            <a:r>
              <a:rPr lang="en-US" dirty="0">
                <a:latin typeface="Consolas" pitchFamily="49" charset="0"/>
                <a:ea typeface="Calibri" pitchFamily="34" charset="0"/>
                <a:cs typeface="Consolas" pitchFamily="49" charset="0"/>
              </a:rPr>
              <a:t>="index.html"&gt;Home&lt;/a&gt;&lt;/</a:t>
            </a:r>
            <a:r>
              <a:rPr lang="en-US" dirty="0" err="1">
                <a:latin typeface="Consolas" pitchFamily="49" charset="0"/>
                <a:ea typeface="Calibri" pitchFamily="34" charset="0"/>
                <a:cs typeface="Consolas" pitchFamily="49" charset="0"/>
              </a:rPr>
              <a:t>li</a:t>
            </a:r>
            <a:r>
              <a:rPr lang="en-US" dirty="0">
                <a:latin typeface="Consolas" pitchFamily="49" charset="0"/>
                <a:ea typeface="Calibri" pitchFamily="34" charset="0"/>
                <a:cs typeface="Consolas" pitchFamily="49" charset="0"/>
              </a:rPr>
              <a:t>&gt;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en-US" dirty="0">
                <a:latin typeface="Consolas" pitchFamily="49" charset="0"/>
                <a:ea typeface="Calibri" pitchFamily="34" charset="0"/>
                <a:cs typeface="Consolas" pitchFamily="49" charset="0"/>
              </a:rPr>
              <a:t>			&lt;</a:t>
            </a:r>
            <a:r>
              <a:rPr lang="en-US" dirty="0" err="1">
                <a:latin typeface="Consolas" pitchFamily="49" charset="0"/>
                <a:ea typeface="Calibri" pitchFamily="34" charset="0"/>
                <a:cs typeface="Consolas" pitchFamily="49" charset="0"/>
              </a:rPr>
              <a:t>li</a:t>
            </a:r>
            <a:r>
              <a:rPr lang="en-US" dirty="0">
                <a:latin typeface="Consolas" pitchFamily="49" charset="0"/>
                <a:ea typeface="Calibri" pitchFamily="34" charset="0"/>
                <a:cs typeface="Consolas" pitchFamily="49" charset="0"/>
              </a:rPr>
              <a:t>&gt;&lt;a </a:t>
            </a:r>
            <a:r>
              <a:rPr lang="en-US" dirty="0" err="1">
                <a:latin typeface="Consolas" pitchFamily="49" charset="0"/>
                <a:ea typeface="Calibri" pitchFamily="34" charset="0"/>
                <a:cs typeface="Consolas" pitchFamily="49" charset="0"/>
              </a:rPr>
              <a:t>href</a:t>
            </a:r>
            <a:r>
              <a:rPr lang="en-US" dirty="0">
                <a:latin typeface="Consolas" pitchFamily="49" charset="0"/>
                <a:ea typeface="Calibri" pitchFamily="34" charset="0"/>
                <a:cs typeface="Consolas" pitchFamily="49" charset="0"/>
              </a:rPr>
              <a:t>="about.html"&gt;About Us&lt;/a&gt;&lt;/</a:t>
            </a:r>
            <a:r>
              <a:rPr lang="en-US" dirty="0" err="1">
                <a:latin typeface="Consolas" pitchFamily="49" charset="0"/>
                <a:ea typeface="Calibri" pitchFamily="34" charset="0"/>
                <a:cs typeface="Consolas" pitchFamily="49" charset="0"/>
              </a:rPr>
              <a:t>li</a:t>
            </a:r>
            <a:r>
              <a:rPr lang="en-US" dirty="0">
                <a:latin typeface="Consolas" pitchFamily="49" charset="0"/>
                <a:ea typeface="Calibri" pitchFamily="34" charset="0"/>
                <a:cs typeface="Consolas" pitchFamily="49" charset="0"/>
              </a:rPr>
              <a:t>&gt;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en-US" dirty="0">
                <a:latin typeface="Consolas" pitchFamily="49" charset="0"/>
                <a:ea typeface="Calibri" pitchFamily="34" charset="0"/>
                <a:cs typeface="Consolas" pitchFamily="49" charset="0"/>
              </a:rPr>
              <a:t>			</a:t>
            </a:r>
            <a:r>
              <a:rPr lang="it-IT" dirty="0">
                <a:latin typeface="Consolas" pitchFamily="49" charset="0"/>
                <a:ea typeface="Calibri" pitchFamily="34" charset="0"/>
                <a:cs typeface="Consolas" pitchFamily="49" charset="0"/>
              </a:rPr>
              <a:t>&lt;li&gt;&lt;a href="browse.html"&gt;Browse&lt;/a&gt;&lt;/li&gt;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it-IT" dirty="0">
                <a:latin typeface="Consolas" pitchFamily="49" charset="0"/>
                <a:ea typeface="Calibri" pitchFamily="34" charset="0"/>
                <a:cs typeface="Consolas" pitchFamily="49" charset="0"/>
              </a:rPr>
              <a:t>		</a:t>
            </a:r>
            <a:r>
              <a:rPr lang="en-US" dirty="0">
                <a:latin typeface="Consolas" pitchFamily="49" charset="0"/>
                <a:ea typeface="Calibri" pitchFamily="34" charset="0"/>
                <a:cs typeface="Consolas" pitchFamily="49" charset="0"/>
              </a:rPr>
              <a:t>&lt;/</a:t>
            </a:r>
            <a:r>
              <a:rPr lang="en-US" dirty="0" err="1">
                <a:latin typeface="Consolas" pitchFamily="49" charset="0"/>
                <a:ea typeface="Calibri" pitchFamily="34" charset="0"/>
                <a:cs typeface="Consolas" pitchFamily="49" charset="0"/>
              </a:rPr>
              <a:t>ul</a:t>
            </a:r>
            <a:r>
              <a:rPr lang="en-US" dirty="0">
                <a:latin typeface="Consolas" pitchFamily="49" charset="0"/>
                <a:ea typeface="Calibri" pitchFamily="34" charset="0"/>
                <a:cs typeface="Consolas" pitchFamily="49" charset="0"/>
              </a:rPr>
              <a:t>&gt;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en-US" dirty="0">
                <a:latin typeface="Consolas" pitchFamily="49" charset="0"/>
                <a:ea typeface="Calibri" pitchFamily="34" charset="0"/>
                <a:cs typeface="Consolas" pitchFamily="49" charset="0"/>
              </a:rPr>
              <a:t>	</a:t>
            </a:r>
            <a:r>
              <a:rPr lang="en-US" b="1" dirty="0">
                <a:solidFill>
                  <a:srgbClr val="C00000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&lt;/</a:t>
            </a:r>
            <a:r>
              <a:rPr lang="en-US" b="1" dirty="0" err="1">
                <a:solidFill>
                  <a:srgbClr val="C00000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nav</a:t>
            </a:r>
            <a:r>
              <a:rPr lang="en-US" b="1" dirty="0">
                <a:solidFill>
                  <a:srgbClr val="C00000"/>
                </a:solidFill>
                <a:latin typeface="Consolas" pitchFamily="49" charset="0"/>
                <a:ea typeface="Calibri" pitchFamily="34" charset="0"/>
                <a:cs typeface="Consolas" pitchFamily="49" charset="0"/>
              </a:rPr>
              <a:t>&gt;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en-US" dirty="0">
                <a:latin typeface="Consolas" pitchFamily="49" charset="0"/>
                <a:ea typeface="Calibri" pitchFamily="34" charset="0"/>
                <a:cs typeface="Consolas" pitchFamily="49" charset="0"/>
              </a:rPr>
              <a:t>&lt;/header&gt;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4FC9CF9-6056-2946-8F9B-1CEFEC97C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1014573" cy="378367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CA" dirty="0"/>
              <a:t>The </a:t>
            </a:r>
            <a:r>
              <a:rPr lang="en-CA" b="1" dirty="0"/>
              <a:t>&lt;</a:t>
            </a:r>
            <a:r>
              <a:rPr lang="en-CA" b="1" dirty="0" err="1"/>
              <a:t>nav</a:t>
            </a:r>
            <a:r>
              <a:rPr lang="en-CA" b="1" dirty="0"/>
              <a:t>&gt;</a:t>
            </a:r>
            <a:r>
              <a:rPr lang="en-CA" dirty="0"/>
              <a:t> element lets you mark up the various navigation sections of your website. This goes for the main site navigation, links to related pages in a sidebar, tables of content, and pretty much any group of links. 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4CD3A2-62B1-C949-BE1F-D4FA5BCC7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229" y="3130881"/>
            <a:ext cx="2399083" cy="313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169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Articles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D5B9C-5B3A-8E41-B041-7F041EE1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6D3AE-9A6B-4724-B938-46259D069CC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4615B18-EA7D-C94E-9B4C-F6F4362C4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8463144" cy="378367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 </a:t>
            </a:r>
            <a:r>
              <a:rPr lang="en-US" b="1" dirty="0"/>
              <a:t>&lt;article&gt; </a:t>
            </a:r>
            <a:r>
              <a:rPr lang="en-US" dirty="0"/>
              <a:t>element </a:t>
            </a:r>
            <a:r>
              <a:rPr lang="en-US"/>
              <a:t>represents some part of </a:t>
            </a:r>
            <a:r>
              <a:rPr lang="en-US" dirty="0"/>
              <a:t>content that forms an </a:t>
            </a:r>
            <a:r>
              <a:rPr lang="en-US"/>
              <a:t>independent component </a:t>
            </a:r>
            <a:r>
              <a:rPr lang="en-US" dirty="0"/>
              <a:t>of a document or site; for example, a magazine or newspaper article, or a blog entry.</a:t>
            </a:r>
          </a:p>
          <a:p>
            <a:pPr lvl="1" algn="just"/>
            <a:r>
              <a:rPr lang="en-CA" sz="2800" dirty="0"/>
              <a:t>An app like </a:t>
            </a:r>
            <a:r>
              <a:rPr lang="en-CA" sz="2800" dirty="0">
                <a:hlinkClick r:id="rId2"/>
              </a:rPr>
              <a:t>Flipboard</a:t>
            </a:r>
            <a:r>
              <a:rPr lang="en-CA" sz="2800" dirty="0"/>
              <a:t> should be able to grab an &lt;</a:t>
            </a:r>
            <a:r>
              <a:rPr lang="en-CA" sz="2800" b="1" dirty="0"/>
              <a:t>article</a:t>
            </a:r>
            <a:r>
              <a:rPr lang="en-CA" sz="2800" dirty="0"/>
              <a:t>&gt; element from your site, display it in its own app, and have it make perfect sense to its readers. 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716321-237C-1548-85C4-0720A756E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301343" y="3085129"/>
            <a:ext cx="2551430" cy="285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8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D5B9C-5B3A-8E41-B041-7F041EE1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6D3AE-9A6B-4724-B938-46259D069CC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4615B18-EA7D-C94E-9B4C-F6F4362C4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1014573" cy="3783672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The </a:t>
            </a:r>
            <a:r>
              <a:rPr lang="en-US" sz="3200" b="1" dirty="0"/>
              <a:t>&lt;section&gt; </a:t>
            </a:r>
            <a:r>
              <a:rPr lang="en-US" sz="3200" dirty="0"/>
              <a:t>element </a:t>
            </a:r>
            <a:r>
              <a:rPr lang="en-US" sz="3200"/>
              <a:t>represents some part </a:t>
            </a:r>
            <a:r>
              <a:rPr lang="en-US" sz="3200" dirty="0"/>
              <a:t>of a document, typically with a title or heading.</a:t>
            </a:r>
          </a:p>
          <a:p>
            <a:pPr algn="just"/>
            <a:r>
              <a:rPr lang="en-CA" sz="3200" dirty="0"/>
              <a:t>The &lt;</a:t>
            </a:r>
            <a:r>
              <a:rPr lang="en-CA" sz="3200" b="1" dirty="0"/>
              <a:t>section</a:t>
            </a:r>
            <a:r>
              <a:rPr lang="en-CA" sz="3200" dirty="0"/>
              <a:t>&gt; element is sort of like an &lt;</a:t>
            </a:r>
            <a:r>
              <a:rPr lang="en-CA" sz="3200" b="1" dirty="0"/>
              <a:t>article</a:t>
            </a:r>
            <a:r>
              <a:rPr lang="en-CA" sz="3200" dirty="0"/>
              <a:t>&gt;, except it doesn’t need to make sense outside the context of the document. 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921162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&lt;article&gt; vs &lt;section&gt;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i="1" dirty="0"/>
              <a:t>The article element represents a complete, or self-contained, composition in a document … and that is, in principal, interdependently distributable or re-usable.</a:t>
            </a:r>
          </a:p>
          <a:p>
            <a:pPr algn="just"/>
            <a:endParaRPr lang="en-US" i="1" dirty="0"/>
          </a:p>
          <a:p>
            <a:pPr algn="just"/>
            <a:r>
              <a:rPr lang="en-US" i="1" dirty="0"/>
              <a:t>The section element represents a generic section of a document or application …. The theme or each section should be identified, typically by including a section heading (h1-h6) as a child element of the section element.</a:t>
            </a:r>
          </a:p>
          <a:p>
            <a:pPr algn="just"/>
            <a:endParaRPr lang="en-US" i="1" dirty="0"/>
          </a:p>
          <a:p>
            <a:pPr marL="457200" lvl="1" indent="0" algn="just">
              <a:buNone/>
            </a:pPr>
            <a:r>
              <a:rPr lang="en-US" i="1" dirty="0"/>
              <a:t>- W3C HTML5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3408146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D5B9C-5B3A-8E41-B041-7F041EE1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6D3AE-9A6B-4724-B938-46259D069CC8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4615B18-EA7D-C94E-9B4C-F6F4362C4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879080" cy="3783672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The </a:t>
            </a:r>
            <a:r>
              <a:rPr lang="en-US" sz="3200" b="1" dirty="0"/>
              <a:t>&lt;aside&gt; </a:t>
            </a:r>
            <a:r>
              <a:rPr lang="en-US" sz="3200" dirty="0"/>
              <a:t>element is used for marking up content that is separate from the main content on the page. </a:t>
            </a:r>
          </a:p>
          <a:p>
            <a:pPr algn="just"/>
            <a:r>
              <a:rPr lang="en-CA" sz="3200" dirty="0"/>
              <a:t>For example, a sponsored blog post might contain an advertisement about the sponsoring company; however, we probably don’t want to make it part of the article text. This is what the &lt;aside&gt; element is for.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144670-99C3-A24B-9B6A-31C9CBC29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8142" y="2560320"/>
            <a:ext cx="2733040" cy="361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1021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Markup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D5B9C-5B3A-8E41-B041-7F041EE1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6D3AE-9A6B-4724-B938-46259D069CC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4615B18-EA7D-C94E-9B4C-F6F4362C4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1014573" cy="378367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>
                <a:solidFill>
                  <a:schemeClr val="accent1"/>
                </a:solidFill>
              </a:rPr>
              <a:t>Maintainability</a:t>
            </a:r>
            <a:r>
              <a:rPr lang="en-US" dirty="0"/>
              <a:t>. Semantic markup is easier to update and change than web pages that contain a great deal of presentation markup.</a:t>
            </a:r>
          </a:p>
          <a:p>
            <a:pPr algn="just"/>
            <a:r>
              <a:rPr lang="en-US" b="1" dirty="0">
                <a:solidFill>
                  <a:schemeClr val="accent1"/>
                </a:solidFill>
              </a:rPr>
              <a:t>Faster</a:t>
            </a:r>
            <a:r>
              <a:rPr lang="en-US" dirty="0"/>
              <a:t>. Semantic web pages are typically quicker to author and faster to download.</a:t>
            </a:r>
          </a:p>
          <a:p>
            <a:pPr algn="just"/>
            <a:r>
              <a:rPr lang="en-US" b="1" dirty="0">
                <a:solidFill>
                  <a:schemeClr val="accent1"/>
                </a:solidFill>
              </a:rPr>
              <a:t>Accessibility</a:t>
            </a:r>
            <a:r>
              <a:rPr lang="en-US" dirty="0"/>
              <a:t>. Visiting a web page using voice reading software can be a very frustrating experience if the site does not use semantic markup.</a:t>
            </a:r>
          </a:p>
          <a:p>
            <a:pPr algn="just"/>
            <a:r>
              <a:rPr lang="en-US" b="1" dirty="0">
                <a:solidFill>
                  <a:schemeClr val="accent1"/>
                </a:solidFill>
              </a:rPr>
              <a:t>Search engine optimization</a:t>
            </a:r>
            <a:r>
              <a:rPr lang="en-US" dirty="0"/>
              <a:t>. Semantic markup provides better instructions for search engines: it tells them what things are important content on the site.</a:t>
            </a:r>
          </a:p>
        </p:txBody>
      </p:sp>
    </p:spTree>
    <p:extLst>
      <p:ext uri="{BB962C8B-B14F-4D97-AF65-F5344CB8AC3E}">
        <p14:creationId xmlns:p14="http://schemas.microsoft.com/office/powerpoint/2010/main" val="27360501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C640F1-8E22-4A47-BA23-21253AA89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363" y="309006"/>
            <a:ext cx="6548437" cy="327421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9D4D011-EA26-3F41-B93D-63422CD0516C}"/>
              </a:ext>
            </a:extLst>
          </p:cNvPr>
          <p:cNvSpPr txBox="1">
            <a:spLocks/>
          </p:cNvSpPr>
          <p:nvPr/>
        </p:nvSpPr>
        <p:spPr>
          <a:xfrm>
            <a:off x="3464656" y="3583225"/>
            <a:ext cx="4967844" cy="19526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00000"/>
                </a:solidFill>
              </a:rPr>
              <a:t>Any Question?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04D0F-C849-BA45-AC7C-713B118DB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89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3397</TotalTime>
  <Words>1175</Words>
  <Application>Microsoft Office PowerPoint</Application>
  <PresentationFormat>Widescreen</PresentationFormat>
  <Paragraphs>170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Century</vt:lpstr>
      <vt:lpstr>Consolas</vt:lpstr>
      <vt:lpstr>Office Theme</vt:lpstr>
      <vt:lpstr>Semantic Markup</vt:lpstr>
      <vt:lpstr>Objectives</vt:lpstr>
      <vt:lpstr>Semantic Markup</vt:lpstr>
      <vt:lpstr>Semantic Markup</vt:lpstr>
      <vt:lpstr>Semantic Tags</vt:lpstr>
      <vt:lpstr>Page Structure Elements</vt:lpstr>
      <vt:lpstr>Semantic Markup</vt:lpstr>
      <vt:lpstr>XHTML vs. HTML5</vt:lpstr>
      <vt:lpstr>PowerPoint Presentation</vt:lpstr>
      <vt:lpstr>PowerPoint Presentation</vt:lpstr>
      <vt:lpstr>PowerPoint Presentation</vt:lpstr>
      <vt:lpstr>PowerPoint Presentation</vt:lpstr>
      <vt:lpstr>Header</vt:lpstr>
      <vt:lpstr>Footer</vt:lpstr>
      <vt:lpstr>Header and Article</vt:lpstr>
      <vt:lpstr>Navigation</vt:lpstr>
      <vt:lpstr>Articles</vt:lpstr>
      <vt:lpstr>Sections</vt:lpstr>
      <vt:lpstr>&lt;article&gt; vs &lt;section&gt;</vt:lpstr>
      <vt:lpstr>Aside</vt:lpstr>
      <vt:lpstr>Semantic Markup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Yasaman Amannejad</dc:creator>
  <cp:lastModifiedBy>Jim Davis</cp:lastModifiedBy>
  <cp:revision>69</cp:revision>
  <dcterms:created xsi:type="dcterms:W3CDTF">2018-06-11T03:49:54Z</dcterms:created>
  <dcterms:modified xsi:type="dcterms:W3CDTF">2026-01-13T00:34:54Z</dcterms:modified>
</cp:coreProperties>
</file>