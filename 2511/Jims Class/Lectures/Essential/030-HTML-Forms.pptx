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trictFirstAndLastChars="0" saveSubsetFonts="1" autoCompressPictures="0">
  <p:sldMasterIdLst>
    <p:sldMasterId id="2147483648" r:id="rId1"/>
  </p:sldMasterIdLst>
  <p:notesMasterIdLst>
    <p:notesMasterId r:id="rId3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84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33" roundtripDataSignature="AMtx7mjK5EWvnaSgCFsr156IUvfIzwfWz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7" d="100"/>
          <a:sy n="77" d="100"/>
        </p:scale>
        <p:origin x="115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customschemas.google.com/relationships/presentationmetadata" Target="meta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" name="Google Shape;10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" name="Google Shape;10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4" name="Google Shape;114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&lt;form method="post" action="mailto:yamannejad@mtroyal.ca"&gt;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	&lt;input type="hidden" name="subject" value="Feedback Form" /&gt;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	&lt;p&gt;</a:t>
            </a: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	&lt;label&gt; Name:</a:t>
            </a: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	&lt;input name="name" type="text" size="25" maxlength="30" /&gt;</a:t>
            </a: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	&lt;/label&gt;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	&lt;/p&gt;</a:t>
            </a: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	&lt;input type="submit" value="Submit" /&gt;</a:t>
            </a: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	&lt;input type="reset" value="Clear" /&gt;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&lt;/form&gt;</a:t>
            </a:r>
            <a:endParaRPr/>
          </a:p>
        </p:txBody>
      </p:sp>
      <p:sp>
        <p:nvSpPr>
          <p:cNvPr id="115" name="Google Shape;115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" name="Google Shape;124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1" name="Google Shape;131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5" name="Google Shape;145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Google Shape;152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9" name="Google Shape;159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4290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</a:rPr>
              <a:t>To ensure that the user enters a password in a proper format, </a:t>
            </a:r>
            <a:r>
              <a:rPr lang="en-US" sz="2400" b="1">
                <a:solidFill>
                  <a:srgbClr val="000000"/>
                </a:solidFill>
              </a:rPr>
              <a:t>pattern</a:t>
            </a:r>
            <a:r>
              <a:rPr lang="en-US" sz="2400">
                <a:solidFill>
                  <a:srgbClr val="000000"/>
                </a:solidFill>
              </a:rPr>
              <a:t> attribute must be defined, e.g.:</a:t>
            </a:r>
            <a:endParaRPr/>
          </a:p>
          <a:p>
            <a:pPr marL="804863" lvl="1" indent="-34290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</a:pPr>
            <a:r>
              <a:rPr lang="en-US" sz="1600" b="1">
                <a:solidFill>
                  <a:srgbClr val="000000"/>
                </a:solidFill>
                <a:latin typeface="Droid Sans Mono"/>
                <a:ea typeface="Droid Sans Mono"/>
                <a:cs typeface="Droid Sans Mono"/>
                <a:sym typeface="Droid Sans Mono"/>
              </a:rPr>
              <a:t>pattern</a:t>
            </a:r>
            <a:r>
              <a:rPr lang="en-US" sz="1600">
                <a:solidFill>
                  <a:srgbClr val="000000"/>
                </a:solidFill>
                <a:latin typeface="Droid Sans Mono"/>
                <a:ea typeface="Droid Sans Mono"/>
                <a:cs typeface="Droid Sans Mono"/>
                <a:sym typeface="Droid Sans Mono"/>
              </a:rPr>
              <a:t> = "(?=.*\d)(?=.*[a-z])(?=.*[A-Z]).{8,}" </a:t>
            </a:r>
            <a:endParaRPr/>
          </a:p>
          <a:p>
            <a:pPr marL="804863" lvl="1" indent="-34290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</a:pPr>
            <a:r>
              <a:rPr lang="en-US" sz="1600" b="1">
                <a:solidFill>
                  <a:srgbClr val="000000"/>
                </a:solidFill>
                <a:latin typeface="Droid Sans Mono"/>
                <a:ea typeface="Droid Sans Mono"/>
                <a:cs typeface="Droid Sans Mono"/>
                <a:sym typeface="Droid Sans Mono"/>
              </a:rPr>
              <a:t>title </a:t>
            </a:r>
            <a:r>
              <a:rPr lang="en-US" sz="1600">
                <a:solidFill>
                  <a:srgbClr val="000000"/>
                </a:solidFill>
                <a:latin typeface="Droid Sans Mono"/>
                <a:ea typeface="Droid Sans Mono"/>
                <a:cs typeface="Droid Sans Mono"/>
                <a:sym typeface="Droid Sans Mono"/>
              </a:rPr>
              <a:t>= "Must contain at least one number and one uppercase and lowercase letter, and at least 8 or more characters"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0" name="Google Shape;160;p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9" name="Google Shape;169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7" name="Google Shape;177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5" name="Google Shape;185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7" name="Google Shape;207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5" name="Google Shape;215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4" name="Google Shape;224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2" name="Google Shape;232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1" name="Google Shape;241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9" name="Google Shape;249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7" name="Google Shape;257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6" name="Google Shape;266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2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4" name="Google Shape;274;p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2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1" name="Google Shape;281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5" name="Google Shape;295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0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0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8" name="Google Shape;18;p3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4400"/>
              <a:buFont typeface="Calibri"/>
              <a:buNone/>
              <a:defRPr b="1">
                <a:solidFill>
                  <a:srgbClr val="002060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3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31"/>
          <p:cNvSpPr/>
          <p:nvPr/>
        </p:nvSpPr>
        <p:spPr>
          <a:xfrm>
            <a:off x="12049124" y="0"/>
            <a:ext cx="142876" cy="1371600"/>
          </a:xfrm>
          <a:prstGeom prst="rect">
            <a:avLst/>
          </a:prstGeom>
          <a:solidFill>
            <a:srgbClr val="8DA9D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5;p31"/>
          <p:cNvSpPr/>
          <p:nvPr/>
        </p:nvSpPr>
        <p:spPr>
          <a:xfrm>
            <a:off x="12049124" y="1371600"/>
            <a:ext cx="142876" cy="5486400"/>
          </a:xfrm>
          <a:prstGeom prst="rect">
            <a:avLst/>
          </a:prstGeom>
          <a:solidFill>
            <a:srgbClr val="2E75B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6" name="Google Shape;26;p3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42876" y="6030422"/>
            <a:ext cx="1228085" cy="807951"/>
          </a:xfrm>
          <a:prstGeom prst="rect">
            <a:avLst/>
          </a:prstGeom>
          <a:noFill/>
          <a:ln>
            <a:noFill/>
          </a:ln>
        </p:spPr>
      </p:pic>
      <p:sp>
        <p:nvSpPr>
          <p:cNvPr id="27" name="Google Shape;27;p31"/>
          <p:cNvSpPr/>
          <p:nvPr/>
        </p:nvSpPr>
        <p:spPr>
          <a:xfrm>
            <a:off x="1496291" y="6320458"/>
            <a:ext cx="9447755" cy="551397"/>
          </a:xfrm>
          <a:prstGeom prst="rect">
            <a:avLst/>
          </a:prstGeom>
          <a:solidFill>
            <a:srgbClr val="8DA9D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" name="Google Shape;28;p31"/>
          <p:cNvSpPr/>
          <p:nvPr/>
        </p:nvSpPr>
        <p:spPr>
          <a:xfrm>
            <a:off x="10944046" y="6311900"/>
            <a:ext cx="1105078" cy="546100"/>
          </a:xfrm>
          <a:prstGeom prst="rect">
            <a:avLst/>
          </a:prstGeom>
          <a:solidFill>
            <a:srgbClr val="2E75B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31"/>
          <p:cNvSpPr txBox="1">
            <a:spLocks noGrp="1"/>
          </p:cNvSpPr>
          <p:nvPr>
            <p:ph type="sldNum" idx="12"/>
          </p:nvPr>
        </p:nvSpPr>
        <p:spPr>
          <a:xfrm>
            <a:off x="11140397" y="6399738"/>
            <a:ext cx="71237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1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buNone/>
              <a:defRPr sz="1200" b="1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buNone/>
              <a:defRPr sz="1200" b="1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buNone/>
              <a:defRPr sz="1200" b="1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buNone/>
              <a:defRPr sz="1200" b="1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buNone/>
              <a:defRPr sz="1200" b="1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buNone/>
              <a:defRPr sz="1200" b="1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buNone/>
              <a:defRPr sz="1200" b="1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buNone/>
              <a:defRPr sz="1200" b="1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" name="Google Shape;30;p31"/>
          <p:cNvSpPr txBox="1">
            <a:spLocks noGrp="1"/>
          </p:cNvSpPr>
          <p:nvPr>
            <p:ph type="ftr" idx="11"/>
          </p:nvPr>
        </p:nvSpPr>
        <p:spPr>
          <a:xfrm>
            <a:off x="1496291" y="6399737"/>
            <a:ext cx="944775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solidFill>
                  <a:schemeClr val="dk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33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33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8" name="Google Shape;38;p3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3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3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3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3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34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5" name="Google Shape;45;p3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3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3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35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35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1" name="Google Shape;51;p35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2" name="Google Shape;52;p35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3" name="Google Shape;53;p35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4" name="Google Shape;54;p3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3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3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3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3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3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3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7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37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5" name="Google Shape;65;p37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6" name="Google Shape;66;p3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3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3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38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38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72" name="Google Shape;72;p38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3" name="Google Shape;73;p3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3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3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3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39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9" name="Google Shape;79;p3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3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3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40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40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5" name="Google Shape;85;p4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6" name="Google Shape;86;p4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7" name="Google Shape;87;p4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15F0BF4-0F3B-0C0D-DE90-55026EC473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73CBC9-E63F-2449-9BA5-B487CF9EB662}" type="datetimeFigureOut">
              <a:rPr lang="en-CA" smtClean="0"/>
              <a:t>2026-01-14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ACA2EF8-90D0-1086-8733-E9A7083C2D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4A0470-5FA7-65DA-1230-2C1ABB6085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A2DBB1-5FB0-484A-8047-82439D32D23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0121823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29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2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2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2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0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egular-expressions.info/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tiff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"/>
          <p:cNvSpPr txBox="1">
            <a:spLocks noGrp="1"/>
          </p:cNvSpPr>
          <p:nvPr>
            <p:ph type="ctrTitle"/>
          </p:nvPr>
        </p:nvSpPr>
        <p:spPr>
          <a:xfrm>
            <a:off x="1607127" y="1571229"/>
            <a:ext cx="9144000" cy="1952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6000"/>
              <a:buFont typeface="Calibri"/>
              <a:buNone/>
            </a:pPr>
            <a:r>
              <a:rPr lang="en-US" b="1">
                <a:solidFill>
                  <a:srgbClr val="C00000"/>
                </a:solidFill>
              </a:rPr>
              <a:t>Form Design in HTML</a:t>
            </a:r>
            <a:endParaRPr/>
          </a:p>
        </p:txBody>
      </p:sp>
      <p:pic>
        <p:nvPicPr>
          <p:cNvPr id="93" name="Google Shape;93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1777" y="219306"/>
            <a:ext cx="1561956" cy="1027603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"/>
          <p:cNvSpPr txBox="1"/>
          <p:nvPr/>
        </p:nvSpPr>
        <p:spPr>
          <a:xfrm>
            <a:off x="1607127" y="4256286"/>
            <a:ext cx="4485780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Yasaman</a:t>
            </a:r>
            <a:r>
              <a:rPr lang="en-US" sz="18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800" b="1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Amannejad</a:t>
            </a:r>
            <a:r>
              <a:rPr lang="en-US" sz="1800" b="1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</a:t>
            </a:r>
            <a:r>
              <a:rPr lang="en-US" sz="18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&amp; </a:t>
            </a:r>
            <a:r>
              <a:rPr lang="en-US" sz="18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PJ Perri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Department of Mathematics and Computing,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Mount Royal University</a:t>
            </a:r>
            <a:endParaRPr dirty="0"/>
          </a:p>
        </p:txBody>
      </p:sp>
      <p:sp>
        <p:nvSpPr>
          <p:cNvPr id="95" name="Google Shape;95;p1"/>
          <p:cNvSpPr/>
          <p:nvPr/>
        </p:nvSpPr>
        <p:spPr>
          <a:xfrm>
            <a:off x="1528071" y="1675910"/>
            <a:ext cx="4012806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COMP </a:t>
            </a:r>
            <a:r>
              <a:rPr lang="en-US" sz="16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2511 - Web I: Client Development </a:t>
            </a:r>
            <a:endParaRPr sz="16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 b="1" i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1"/>
          <p:cNvSpPr/>
          <p:nvPr/>
        </p:nvSpPr>
        <p:spPr>
          <a:xfrm>
            <a:off x="1607127" y="4256286"/>
            <a:ext cx="9144000" cy="1085115"/>
          </a:xfrm>
          <a:prstGeom prst="corner">
            <a:avLst>
              <a:gd name="adj1" fmla="val 3211"/>
              <a:gd name="adj2" fmla="val 2774"/>
            </a:avLst>
          </a:prstGeom>
          <a:solidFill>
            <a:srgbClr val="C00000"/>
          </a:solidFill>
          <a:ln w="127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1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"/>
          <p:cNvSpPr/>
          <p:nvPr/>
        </p:nvSpPr>
        <p:spPr>
          <a:xfrm rot="10800000">
            <a:off x="1530927" y="1664897"/>
            <a:ext cx="9220200" cy="1074948"/>
          </a:xfrm>
          <a:prstGeom prst="corner">
            <a:avLst>
              <a:gd name="adj1" fmla="val 3211"/>
              <a:gd name="adj2" fmla="val 2774"/>
            </a:avLst>
          </a:prstGeom>
          <a:solidFill>
            <a:srgbClr val="C00000"/>
          </a:solidFill>
          <a:ln w="127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1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"/>
          <p:cNvSpPr txBox="1">
            <a:spLocks noGrp="1"/>
          </p:cNvSpPr>
          <p:nvPr>
            <p:ph type="title"/>
          </p:nvPr>
        </p:nvSpPr>
        <p:spPr>
          <a:xfrm>
            <a:off x="838200" y="4413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4400"/>
              <a:buFont typeface="Calibri"/>
              <a:buNone/>
            </a:pPr>
            <a:r>
              <a:rPr lang="en-US"/>
              <a:t>Objectives</a:t>
            </a:r>
            <a:endParaRPr/>
          </a:p>
        </p:txBody>
      </p:sp>
      <p:sp>
        <p:nvSpPr>
          <p:cNvPr id="103" name="Google Shape;103;p2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09728" lvl="0" indent="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/>
              <a:t>By the end of this part of the course, you will</a:t>
            </a:r>
            <a:endParaRPr/>
          </a:p>
          <a:p>
            <a:pPr marL="1024128" lvl="1" indent="-457200" algn="just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/>
              <a:t>learn how to design a form with HTML</a:t>
            </a:r>
            <a:endParaRPr/>
          </a:p>
          <a:p>
            <a:pPr marL="1024128" lvl="1" indent="-457200" algn="just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/>
              <a:t>understand difference form methods and actions </a:t>
            </a:r>
            <a:endParaRPr/>
          </a:p>
          <a:p>
            <a:pPr marL="228600" lvl="0" indent="-508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/>
          </a:p>
          <a:p>
            <a:pPr marL="228600" lvl="0" indent="-508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/>
          </a:p>
          <a:p>
            <a:pPr marL="228600" lvl="0" indent="-508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 sz="2400" b="1"/>
              <a:t>Textbook</a:t>
            </a:r>
            <a:r>
              <a:rPr lang="en-US" sz="2400"/>
              <a:t>: </a:t>
            </a:r>
            <a:r>
              <a:rPr lang="en-US" sz="2400">
                <a:solidFill>
                  <a:srgbClr val="C00000"/>
                </a:solidFill>
              </a:rPr>
              <a:t>Fun</a:t>
            </a:r>
            <a:r>
              <a:rPr lang="en-US" sz="2400"/>
              <a:t>damentals of </a:t>
            </a:r>
            <a:r>
              <a:rPr lang="en-US" sz="2400">
                <a:solidFill>
                  <a:srgbClr val="C00000"/>
                </a:solidFill>
              </a:rPr>
              <a:t>Web</a:t>
            </a:r>
            <a:r>
              <a:rPr lang="en-US" sz="2400"/>
              <a:t> </a:t>
            </a:r>
            <a:r>
              <a:rPr lang="en-US" sz="2400">
                <a:solidFill>
                  <a:srgbClr val="C00000"/>
                </a:solidFill>
              </a:rPr>
              <a:t>Dev</a:t>
            </a:r>
            <a:r>
              <a:rPr lang="en-US" sz="2400"/>
              <a:t>elopment</a:t>
            </a:r>
            <a:endParaRPr/>
          </a:p>
          <a:p>
            <a:pPr marL="6858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en-US" sz="2000"/>
              <a:t>Chapter 5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endParaRPr sz="2400"/>
          </a:p>
        </p:txBody>
      </p:sp>
      <p:sp>
        <p:nvSpPr>
          <p:cNvPr id="104" name="Google Shape;104;p2"/>
          <p:cNvSpPr txBox="1">
            <a:spLocks noGrp="1"/>
          </p:cNvSpPr>
          <p:nvPr>
            <p:ph type="sldNum" idx="12"/>
          </p:nvPr>
        </p:nvSpPr>
        <p:spPr>
          <a:xfrm>
            <a:off x="11140397" y="6399738"/>
            <a:ext cx="71237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  <p:pic>
        <p:nvPicPr>
          <p:cNvPr id="105" name="Google Shape;105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198731" y="4125951"/>
            <a:ext cx="1654042" cy="20510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3"/>
          <p:cNvSpPr txBox="1">
            <a:spLocks noGrp="1"/>
          </p:cNvSpPr>
          <p:nvPr>
            <p:ph type="ctrTitle"/>
          </p:nvPr>
        </p:nvSpPr>
        <p:spPr>
          <a:xfrm>
            <a:off x="2346960" y="758952"/>
            <a:ext cx="7543800" cy="3203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</a:pPr>
            <a:r>
              <a:rPr lang="en-US" b="1"/>
              <a:t>Introducing </a:t>
            </a:r>
            <a:r>
              <a:rPr lang="en-US" b="1">
                <a:solidFill>
                  <a:srgbClr val="1E4E79"/>
                </a:solidFill>
              </a:rPr>
              <a:t>Forms</a:t>
            </a:r>
            <a:endParaRPr/>
          </a:p>
        </p:txBody>
      </p:sp>
      <p:sp>
        <p:nvSpPr>
          <p:cNvPr id="111" name="Google Shape;111;p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4400"/>
              <a:buFont typeface="Calibri"/>
              <a:buNone/>
            </a:pPr>
            <a:r>
              <a:rPr lang="en-US"/>
              <a:t>Forms</a:t>
            </a:r>
            <a:endParaRPr/>
          </a:p>
        </p:txBody>
      </p:sp>
      <p:sp>
        <p:nvSpPr>
          <p:cNvPr id="118" name="Google Shape;118;p4"/>
          <p:cNvSpPr txBox="1">
            <a:spLocks noGrp="1"/>
          </p:cNvSpPr>
          <p:nvPr>
            <p:ph type="sldNum" idx="12"/>
          </p:nvPr>
        </p:nvSpPr>
        <p:spPr>
          <a:xfrm>
            <a:off x="11140397" y="6399738"/>
            <a:ext cx="71237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  <p:sp>
        <p:nvSpPr>
          <p:cNvPr id="119" name="Google Shape;119;p4"/>
          <p:cNvSpPr txBox="1"/>
          <p:nvPr/>
        </p:nvSpPr>
        <p:spPr>
          <a:xfrm>
            <a:off x="1200149" y="1782231"/>
            <a:ext cx="10315575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B7B7B"/>
              </a:buClr>
              <a:buSzPts val="2200"/>
              <a:buFont typeface="Noto Sans Symbols"/>
              <a:buNone/>
            </a:pPr>
            <a:r>
              <a:rPr lang="en-US" sz="2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HTML5 provides </a:t>
            </a:r>
            <a:r>
              <a:rPr lang="en-US" sz="22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forms</a:t>
            </a:r>
            <a:r>
              <a:rPr lang="en-US" sz="2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for collecting information from users.</a:t>
            </a:r>
            <a:endParaRPr/>
          </a:p>
        </p:txBody>
      </p:sp>
      <p:pic>
        <p:nvPicPr>
          <p:cNvPr id="120" name="Google Shape;120;p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332992" y="2623819"/>
            <a:ext cx="7112000" cy="31905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21" name="Google Shape;121;p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943965" y="2623821"/>
            <a:ext cx="2704602" cy="11142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4400"/>
              <a:buFont typeface="Calibri"/>
              <a:buNone/>
            </a:pPr>
            <a:r>
              <a:rPr lang="en-US"/>
              <a:t>Method</a:t>
            </a:r>
            <a:endParaRPr/>
          </a:p>
        </p:txBody>
      </p:sp>
      <p:sp>
        <p:nvSpPr>
          <p:cNvPr id="127" name="Google Shape;127;p5"/>
          <p:cNvSpPr txBox="1">
            <a:spLocks noGrp="1"/>
          </p:cNvSpPr>
          <p:nvPr>
            <p:ph type="sldNum" idx="12"/>
          </p:nvPr>
        </p:nvSpPr>
        <p:spPr>
          <a:xfrm>
            <a:off x="11140397" y="6399738"/>
            <a:ext cx="71237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  <p:sp>
        <p:nvSpPr>
          <p:cNvPr id="128" name="Google Shape;128;p5"/>
          <p:cNvSpPr txBox="1"/>
          <p:nvPr/>
        </p:nvSpPr>
        <p:spPr>
          <a:xfrm>
            <a:off x="838201" y="1782231"/>
            <a:ext cx="10677524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2628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Arial"/>
              <a:buChar char="•"/>
            </a:pPr>
            <a:r>
              <a:rPr lang="en-US" sz="2200" b="1" i="1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method</a:t>
            </a:r>
            <a:r>
              <a:rPr lang="en-US" sz="2200" b="1" i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Attribute of the </a:t>
            </a:r>
            <a:r>
              <a:rPr lang="en-US" sz="2200" b="1" i="1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form</a:t>
            </a:r>
            <a:r>
              <a:rPr lang="en-US" sz="2200" b="1" i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Element</a:t>
            </a:r>
            <a:endParaRPr/>
          </a:p>
          <a:p>
            <a:pPr marL="621792" marR="0" lvl="1" indent="-4762" algn="just" rtl="0">
              <a:spcBef>
                <a:spcPts val="1524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rPr lang="en-US"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Attribute </a:t>
            </a:r>
            <a:r>
              <a:rPr lang="en-US" sz="2000" b="0" i="0" u="none" strike="noStrike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method</a:t>
            </a:r>
            <a:r>
              <a:rPr lang="en-US"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specifies how the form’s data is sent to the web server.</a:t>
            </a:r>
            <a:endParaRPr/>
          </a:p>
          <a:p>
            <a:pPr marL="621792" marR="0" lvl="1" indent="-4762" algn="just" rtl="0">
              <a:spcBef>
                <a:spcPts val="1524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rPr lang="en-US"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Using method = "</a:t>
            </a:r>
            <a:r>
              <a:rPr lang="en-US" sz="2000" b="0" i="0" u="none" strike="noStrike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post</a:t>
            </a:r>
            <a:r>
              <a:rPr lang="en-US"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" appends form data to the browser request, which contains the protocol (HTTP) and the requested resource’s URL. </a:t>
            </a:r>
            <a:endParaRPr/>
          </a:p>
          <a:p>
            <a:pPr marL="621792" marR="0" lvl="1" indent="-4762" algn="just" rtl="0">
              <a:spcBef>
                <a:spcPts val="1524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rPr lang="en-US"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other possible value, method = "</a:t>
            </a:r>
            <a:r>
              <a:rPr lang="en-US" sz="2000" b="0" i="0" u="none" strike="noStrike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get</a:t>
            </a:r>
            <a:r>
              <a:rPr lang="en-US"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", appends the form data directly to the end of the URL of the script, where it’s visible in the browser’s Address field.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4400"/>
              <a:buFont typeface="Calibri"/>
              <a:buNone/>
            </a:pPr>
            <a:r>
              <a:rPr lang="en-US"/>
              <a:t>GET vs POST</a:t>
            </a:r>
            <a:endParaRPr/>
          </a:p>
        </p:txBody>
      </p:sp>
      <p:sp>
        <p:nvSpPr>
          <p:cNvPr id="134" name="Google Shape;134;p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 b="1"/>
              <a:t>GET</a:t>
            </a:r>
            <a:endParaRPr/>
          </a:p>
          <a:p>
            <a:pPr marL="6858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/>
              <a:t>Appends form-data into the URL in name/value pairs</a:t>
            </a:r>
            <a:endParaRPr/>
          </a:p>
          <a:p>
            <a:pPr marL="6858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/>
              <a:t>The length of a URL is limited (about 3000 characters)</a:t>
            </a:r>
            <a:endParaRPr/>
          </a:p>
          <a:p>
            <a:pPr marL="6858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/>
              <a:t>Never use GET to send sensitive data! (will be visible in the URL)</a:t>
            </a:r>
            <a:endParaRPr/>
          </a:p>
          <a:p>
            <a:pPr marL="6858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/>
              <a:t>Useful for form submissions where a user wants to bookmark the result</a:t>
            </a:r>
            <a:endParaRPr/>
          </a:p>
          <a:p>
            <a:pPr marL="6858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/>
              <a:t>GET is better for non-secure data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 b="1"/>
              <a:t>POST:</a:t>
            </a:r>
            <a:endParaRPr/>
          </a:p>
          <a:p>
            <a:pPr marL="6858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/>
              <a:t>POST has no size limitations, and can be used to send large amounts of data.</a:t>
            </a:r>
            <a:endParaRPr/>
          </a:p>
          <a:p>
            <a:pPr marL="6858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/>
              <a:t>Form submissions with POST cannot be bookmarked</a:t>
            </a:r>
            <a:endParaRPr/>
          </a:p>
          <a:p>
            <a:pPr marL="228600" lvl="0" indent="-508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/>
          </a:p>
        </p:txBody>
      </p:sp>
      <p:sp>
        <p:nvSpPr>
          <p:cNvPr id="135" name="Google Shape;135;p6"/>
          <p:cNvSpPr txBox="1">
            <a:spLocks noGrp="1"/>
          </p:cNvSpPr>
          <p:nvPr>
            <p:ph type="sldNum" idx="12"/>
          </p:nvPr>
        </p:nvSpPr>
        <p:spPr>
          <a:xfrm>
            <a:off x="11140397" y="6399738"/>
            <a:ext cx="71237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4400"/>
              <a:buFont typeface="Calibri"/>
              <a:buNone/>
            </a:pPr>
            <a:r>
              <a:rPr lang="en-US"/>
              <a:t>Action</a:t>
            </a:r>
            <a:endParaRPr/>
          </a:p>
        </p:txBody>
      </p:sp>
      <p:sp>
        <p:nvSpPr>
          <p:cNvPr id="141" name="Google Shape;141;p7"/>
          <p:cNvSpPr txBox="1">
            <a:spLocks noGrp="1"/>
          </p:cNvSpPr>
          <p:nvPr>
            <p:ph type="sldNum" idx="12"/>
          </p:nvPr>
        </p:nvSpPr>
        <p:spPr>
          <a:xfrm>
            <a:off x="11140397" y="6399738"/>
            <a:ext cx="71237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  <p:sp>
        <p:nvSpPr>
          <p:cNvPr id="142" name="Google Shape;142;p7"/>
          <p:cNvSpPr txBox="1"/>
          <p:nvPr/>
        </p:nvSpPr>
        <p:spPr>
          <a:xfrm>
            <a:off x="685801" y="1782231"/>
            <a:ext cx="10829924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736092" marR="0" lvl="1" indent="-34290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Arial"/>
              <a:buChar char="•"/>
            </a:pPr>
            <a:r>
              <a:rPr lang="en-US" sz="2200" b="1" i="1" u="none" strike="noStrike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action</a:t>
            </a:r>
            <a:r>
              <a:rPr lang="en-US" sz="2200" b="1" i="1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Attribute of the </a:t>
            </a:r>
            <a:r>
              <a:rPr lang="en-US" sz="2200" b="1" i="1" u="none" strike="noStrike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form</a:t>
            </a:r>
            <a:r>
              <a:rPr lang="en-US" sz="2200" b="1" i="1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Element</a:t>
            </a:r>
            <a:endParaRPr/>
          </a:p>
          <a:p>
            <a:pPr marL="621792" marR="0" lvl="1" indent="-4762" algn="just" rtl="0">
              <a:spcBef>
                <a:spcPts val="1524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rPr lang="en-US"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action attribute of the form element specifies the script to which the form data will be sent.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DCF822-FA09-4F05-9894-E159919A1A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a Frame to the Form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6CFEA06-5C37-484F-9A62-DA9DBB77ED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done by using the &lt;</a:t>
            </a:r>
            <a:r>
              <a:rPr lang="en-US" dirty="0" err="1"/>
              <a:t>fieldset</a:t>
            </a:r>
            <a:r>
              <a:rPr lang="en-US" dirty="0"/>
              <a:t>&gt;&lt;/</a:t>
            </a:r>
            <a:r>
              <a:rPr lang="en-US" dirty="0" err="1"/>
              <a:t>fieldset</a:t>
            </a:r>
            <a:r>
              <a:rPr lang="en-US" dirty="0"/>
              <a:t>&gt; tags</a:t>
            </a:r>
          </a:p>
          <a:p>
            <a:r>
              <a:rPr lang="en-US" dirty="0"/>
              <a:t>Usually set inside the form tags</a:t>
            </a:r>
          </a:p>
          <a:p>
            <a:r>
              <a:rPr lang="en-US" dirty="0"/>
              <a:t>Puts a border around the form elements</a:t>
            </a:r>
          </a:p>
          <a:p>
            <a:r>
              <a:rPr lang="en-US" dirty="0"/>
              <a:t>Can also name the from by using the &lt;legend&gt;&lt;/legend&gt; tags immediately after &lt;frameset&gt;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212CFB-1073-4F30-903D-16D94C3DCAC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995F576-B515-4B12-A48C-E829EA85A369}"/>
              </a:ext>
            </a:extLst>
          </p:cNvPr>
          <p:cNvSpPr txBox="1"/>
          <p:nvPr/>
        </p:nvSpPr>
        <p:spPr>
          <a:xfrm>
            <a:off x="6498593" y="4408371"/>
            <a:ext cx="535418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&lt;form&gt;</a:t>
            </a:r>
          </a:p>
          <a:p>
            <a:r>
              <a:rPr lang="en-US" dirty="0"/>
              <a:t>   &lt;</a:t>
            </a:r>
            <a:r>
              <a:rPr lang="en-US" dirty="0" err="1"/>
              <a:t>fieldset</a:t>
            </a:r>
            <a:r>
              <a:rPr lang="en-US" dirty="0"/>
              <a:t>&gt;</a:t>
            </a:r>
          </a:p>
          <a:p>
            <a:r>
              <a:rPr lang="en-US" dirty="0"/>
              <a:t>      &lt;legend&gt;Personal Information&lt;/legend&gt;</a:t>
            </a:r>
          </a:p>
          <a:p>
            <a:endParaRPr lang="en-US" dirty="0"/>
          </a:p>
          <a:p>
            <a:r>
              <a:rPr lang="en-US" dirty="0"/>
              <a:t>   &lt;/</a:t>
            </a:r>
            <a:r>
              <a:rPr lang="en-US" dirty="0" err="1"/>
              <a:t>fieldset</a:t>
            </a:r>
            <a:r>
              <a:rPr lang="en-US" dirty="0"/>
              <a:t>&gt;</a:t>
            </a:r>
          </a:p>
          <a:p>
            <a:r>
              <a:rPr lang="en-US" dirty="0"/>
              <a:t>&lt;/form&gt;</a:t>
            </a:r>
          </a:p>
        </p:txBody>
      </p:sp>
    </p:spTree>
    <p:extLst>
      <p:ext uri="{BB962C8B-B14F-4D97-AF65-F5344CB8AC3E}">
        <p14:creationId xmlns:p14="http://schemas.microsoft.com/office/powerpoint/2010/main" val="35562078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4400"/>
              <a:buFont typeface="Calibri"/>
              <a:buNone/>
            </a:pPr>
            <a:r>
              <a:rPr lang="en-US"/>
              <a:t>Input</a:t>
            </a:r>
            <a:endParaRPr/>
          </a:p>
        </p:txBody>
      </p:sp>
      <p:sp>
        <p:nvSpPr>
          <p:cNvPr id="148" name="Google Shape;148;p8"/>
          <p:cNvSpPr txBox="1">
            <a:spLocks noGrp="1"/>
          </p:cNvSpPr>
          <p:nvPr>
            <p:ph type="sldNum" idx="12"/>
          </p:nvPr>
        </p:nvSpPr>
        <p:spPr>
          <a:xfrm>
            <a:off x="11140397" y="6399738"/>
            <a:ext cx="71237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  <p:sp>
        <p:nvSpPr>
          <p:cNvPr id="149" name="Google Shape;149;p8"/>
          <p:cNvSpPr txBox="1"/>
          <p:nvPr/>
        </p:nvSpPr>
        <p:spPr>
          <a:xfrm>
            <a:off x="685801" y="1782231"/>
            <a:ext cx="10829924" cy="39033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10000"/>
          </a:bodyPr>
          <a:lstStyle/>
          <a:p>
            <a:pPr marL="144463" marR="0" lvl="1" indent="-1270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r>
              <a:rPr lang="en-US" sz="22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Inputs</a:t>
            </a:r>
            <a:endParaRPr dirty="0"/>
          </a:p>
          <a:p>
            <a:pPr marL="446088" marR="0" lvl="1" indent="-385763" algn="just" rtl="0">
              <a:spcBef>
                <a:spcPts val="1524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lang="en-US" sz="24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input elements specify data to provide to the script that processes the form.</a:t>
            </a:r>
            <a:endParaRPr dirty="0"/>
          </a:p>
          <a:p>
            <a:pPr marL="446088" marR="0" lvl="1" indent="-385763" algn="just" rtl="0">
              <a:spcBef>
                <a:spcPts val="1524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lang="en-US" sz="24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 input’s type is determined by its type attribute. </a:t>
            </a:r>
            <a:endParaRPr dirty="0"/>
          </a:p>
          <a:p>
            <a:pPr marL="109728" marR="0" lvl="0" indent="0" algn="just" rtl="0">
              <a:lnSpc>
                <a:spcPct val="80000"/>
              </a:lnSpc>
              <a:spcBef>
                <a:spcPts val="1680"/>
              </a:spcBef>
              <a:spcAft>
                <a:spcPts val="0"/>
              </a:spcAft>
              <a:buClr>
                <a:srgbClr val="7B7B7B"/>
              </a:buClr>
              <a:buSzPts val="2400"/>
              <a:buFont typeface="Noto Sans Symbols"/>
              <a:buNone/>
            </a:pPr>
            <a:endParaRPr sz="2400" b="1" i="1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9728" marR="0" lvl="0" indent="0" algn="just" rtl="0">
              <a:lnSpc>
                <a:spcPct val="80000"/>
              </a:lnSpc>
              <a:spcBef>
                <a:spcPts val="1640"/>
              </a:spcBef>
              <a:spcAft>
                <a:spcPts val="0"/>
              </a:spcAft>
              <a:buClr>
                <a:srgbClr val="7B7B7B"/>
              </a:buClr>
              <a:buSzPts val="2200"/>
              <a:buFont typeface="Noto Sans Symbols"/>
              <a:buNone/>
            </a:pPr>
            <a:r>
              <a:rPr lang="en-US" sz="22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Hidden Inputs</a:t>
            </a:r>
            <a:endParaRPr dirty="0"/>
          </a:p>
          <a:p>
            <a:pPr marL="452628" marR="0" lvl="0" indent="-342900" algn="just" rtl="0">
              <a:lnSpc>
                <a:spcPct val="80000"/>
              </a:lnSpc>
              <a:spcBef>
                <a:spcPts val="16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lang="en-US" sz="24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Forms can contain visual and nonvisual components. </a:t>
            </a:r>
            <a:endParaRPr dirty="0"/>
          </a:p>
          <a:p>
            <a:pPr marL="452628" marR="0" lvl="0" indent="-342900" algn="just" rtl="0">
              <a:lnSpc>
                <a:spcPct val="80000"/>
              </a:lnSpc>
              <a:spcBef>
                <a:spcPts val="16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lang="en-US" sz="24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Visual components include clickable buttons and other graphical user interface components with which users interact. </a:t>
            </a:r>
            <a:endParaRPr dirty="0"/>
          </a:p>
          <a:p>
            <a:pPr marL="452628" marR="0" lvl="0" indent="-342900" algn="just" rtl="0">
              <a:lnSpc>
                <a:spcPct val="80000"/>
              </a:lnSpc>
              <a:spcBef>
                <a:spcPts val="16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lang="en-US" sz="24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Nonvisual components, called </a:t>
            </a:r>
            <a:r>
              <a:rPr lang="en-US" sz="24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hidden inputs</a:t>
            </a:r>
            <a:r>
              <a:rPr lang="en-US" sz="24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store any data that you specify. </a:t>
            </a:r>
            <a:endParaRPr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r>
              <a:rPr lang="en-US" dirty="0"/>
              <a:t>Input type: Text</a:t>
            </a:r>
            <a:endParaRPr dirty="0"/>
          </a:p>
        </p:txBody>
      </p:sp>
      <p:sp>
        <p:nvSpPr>
          <p:cNvPr id="155" name="Google Shape;155;p9"/>
          <p:cNvSpPr txBox="1">
            <a:spLocks noGrp="1"/>
          </p:cNvSpPr>
          <p:nvPr>
            <p:ph type="sldNum" idx="12"/>
          </p:nvPr>
        </p:nvSpPr>
        <p:spPr>
          <a:xfrm>
            <a:off x="11140397" y="6399738"/>
            <a:ext cx="71237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  <p:sp>
        <p:nvSpPr>
          <p:cNvPr id="156" name="Google Shape;156;p9"/>
          <p:cNvSpPr txBox="1"/>
          <p:nvPr/>
        </p:nvSpPr>
        <p:spPr>
          <a:xfrm>
            <a:off x="685801" y="1782231"/>
            <a:ext cx="10829924" cy="38456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2628" marR="0" lvl="0" indent="-342900" algn="just" rtl="0">
              <a:lnSpc>
                <a:spcPct val="80000"/>
              </a:lnSpc>
              <a:spcBef>
                <a:spcPts val="16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lang="en-US" sz="24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text input inserts a text field into the form, which allows the user to input data.</a:t>
            </a:r>
            <a:endParaRPr dirty="0"/>
          </a:p>
          <a:p>
            <a:pPr marL="452628" marR="0" lvl="0" indent="-342900" algn="just" rtl="0">
              <a:lnSpc>
                <a:spcPct val="80000"/>
              </a:lnSpc>
              <a:spcBef>
                <a:spcPts val="16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lang="en-US" sz="24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</a:t>
            </a:r>
            <a:r>
              <a:rPr lang="en-US" sz="24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label</a:t>
            </a:r>
            <a:r>
              <a:rPr lang="en-US" sz="24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element provides users with information about the input element’s purpose.</a:t>
            </a:r>
            <a:endParaRPr dirty="0"/>
          </a:p>
          <a:p>
            <a:pPr marL="452628" marR="0" lvl="0" indent="-342900" algn="just" rtl="0">
              <a:lnSpc>
                <a:spcPct val="80000"/>
              </a:lnSpc>
              <a:spcBef>
                <a:spcPts val="16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lang="en-US" sz="24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</a:t>
            </a:r>
            <a:r>
              <a:rPr lang="en-US" sz="24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size</a:t>
            </a:r>
            <a:r>
              <a:rPr lang="en-US" sz="24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attribute specifies the number of characters visible in the text field.</a:t>
            </a:r>
            <a:endParaRPr dirty="0"/>
          </a:p>
          <a:p>
            <a:pPr marL="452628" marR="0" lvl="0" indent="-342900" algn="just" rtl="0">
              <a:lnSpc>
                <a:spcPct val="80000"/>
              </a:lnSpc>
              <a:spcBef>
                <a:spcPts val="16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lang="en-US" sz="24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Optional attribute </a:t>
            </a:r>
            <a:r>
              <a:rPr lang="en-US" sz="2400" b="1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maxlength</a:t>
            </a:r>
            <a:r>
              <a:rPr lang="en-US" sz="24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limits the number of characters input into a text field.</a:t>
            </a:r>
            <a:endParaRPr dirty="0"/>
          </a:p>
        </p:txBody>
      </p:sp>
      <p:pic>
        <p:nvPicPr>
          <p:cNvPr id="5" name="Google Shape;120;p4">
            <a:extLst>
              <a:ext uri="{FF2B5EF4-FFF2-40B4-BE49-F238E27FC236}">
                <a16:creationId xmlns:a16="http://schemas.microsoft.com/office/drawing/2014/main" id="{A5A111E8-6905-4E94-A903-CA1A43079E7D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t="31028" b="40877"/>
          <a:stretch/>
        </p:blipFill>
        <p:spPr>
          <a:xfrm>
            <a:off x="1124763" y="4951757"/>
            <a:ext cx="7112000" cy="1101174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Google Shape;121;p4">
            <a:extLst>
              <a:ext uri="{FF2B5EF4-FFF2-40B4-BE49-F238E27FC236}">
                <a16:creationId xmlns:a16="http://schemas.microsoft.com/office/drawing/2014/main" id="{96DA8859-0CEB-4B3C-91BF-E17946F153CC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 b="70012"/>
          <a:stretch/>
        </p:blipFill>
        <p:spPr>
          <a:xfrm>
            <a:off x="8811123" y="5070766"/>
            <a:ext cx="2704602" cy="3341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1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4400"/>
              <a:buFont typeface="Calibri"/>
              <a:buNone/>
            </a:pPr>
            <a:r>
              <a:rPr lang="en-US" dirty="0"/>
              <a:t>Input Type Password</a:t>
            </a:r>
            <a:endParaRPr dirty="0"/>
          </a:p>
        </p:txBody>
      </p:sp>
      <p:sp>
        <p:nvSpPr>
          <p:cNvPr id="163" name="Google Shape;163;p10"/>
          <p:cNvSpPr txBox="1">
            <a:spLocks noGrp="1"/>
          </p:cNvSpPr>
          <p:nvPr>
            <p:ph type="sldNum" idx="12"/>
          </p:nvPr>
        </p:nvSpPr>
        <p:spPr>
          <a:xfrm>
            <a:off x="11140397" y="6399738"/>
            <a:ext cx="71237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  <p:sp>
        <p:nvSpPr>
          <p:cNvPr id="164" name="Google Shape;164;p10"/>
          <p:cNvSpPr txBox="1"/>
          <p:nvPr/>
        </p:nvSpPr>
        <p:spPr>
          <a:xfrm>
            <a:off x="685801" y="1782231"/>
            <a:ext cx="10829924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4290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lang="en-US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password input inserts a password box into a form.</a:t>
            </a:r>
            <a:endParaRPr/>
          </a:p>
          <a:p>
            <a:pPr marL="342900" marR="0" lvl="0" indent="-342900" algn="just" rtl="0">
              <a:lnSpc>
                <a:spcPct val="90000"/>
              </a:lnSpc>
              <a:spcBef>
                <a:spcPts val="16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lang="en-US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Allows users to enter sensitive information, such as credit card numbers and passwords, by “masking” the information input with another character, usually asterisks.</a:t>
            </a:r>
            <a:endParaRPr/>
          </a:p>
          <a:p>
            <a:pPr marL="342900" marR="0" lvl="0" indent="-342900" algn="just" rtl="0">
              <a:lnSpc>
                <a:spcPct val="90000"/>
              </a:lnSpc>
              <a:spcBef>
                <a:spcPts val="16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lang="en-US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actual value input is sent to the web server, not the asterisks that mask the input.</a:t>
            </a:r>
            <a:endParaRPr/>
          </a:p>
          <a:p>
            <a:pPr marL="342900" marR="0" lvl="0" indent="-190500" algn="just" rtl="0">
              <a:lnSpc>
                <a:spcPct val="90000"/>
              </a:lnSpc>
              <a:spcBef>
                <a:spcPts val="16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5" name="Google Shape;165;p1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67610" y="4616786"/>
            <a:ext cx="5588000" cy="1406327"/>
          </a:xfrm>
          <a:prstGeom prst="rect">
            <a:avLst/>
          </a:prstGeom>
          <a:noFill/>
          <a:ln>
            <a:noFill/>
          </a:ln>
        </p:spPr>
      </p:pic>
      <p:pic>
        <p:nvPicPr>
          <p:cNvPr id="166" name="Google Shape;166;p1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857297" y="4983923"/>
            <a:ext cx="3302000" cy="45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1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6042102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4400"/>
              <a:buFont typeface="Calibri"/>
              <a:buNone/>
            </a:pPr>
            <a:r>
              <a:rPr lang="en-US"/>
              <a:t>Input Type Email</a:t>
            </a:r>
            <a:endParaRPr/>
          </a:p>
        </p:txBody>
      </p:sp>
      <p:sp>
        <p:nvSpPr>
          <p:cNvPr id="172" name="Google Shape;172;p11"/>
          <p:cNvSpPr txBox="1">
            <a:spLocks noGrp="1"/>
          </p:cNvSpPr>
          <p:nvPr>
            <p:ph type="sldNum" idx="12"/>
          </p:nvPr>
        </p:nvSpPr>
        <p:spPr>
          <a:xfrm>
            <a:off x="11140397" y="6399738"/>
            <a:ext cx="71237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11</a:t>
            </a:fld>
            <a:endParaRPr/>
          </a:p>
        </p:txBody>
      </p:sp>
      <p:sp>
        <p:nvSpPr>
          <p:cNvPr id="173" name="Google Shape;173;p11"/>
          <p:cNvSpPr txBox="1"/>
          <p:nvPr/>
        </p:nvSpPr>
        <p:spPr>
          <a:xfrm>
            <a:off x="685801" y="1782231"/>
            <a:ext cx="10829924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4290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The </a:t>
            </a:r>
            <a:r>
              <a:rPr lang="en-US" sz="2400">
                <a:solidFill>
                  <a:srgbClr val="0000FF"/>
                </a:solidFill>
                <a:latin typeface="Calibri"/>
                <a:ea typeface="Calibri"/>
                <a:cs typeface="Calibri"/>
                <a:sym typeface="Calibri"/>
              </a:rPr>
              <a:t>email</a:t>
            </a:r>
            <a:r>
              <a:rPr lang="en-US"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2400">
                <a:solidFill>
                  <a:srgbClr val="0000FF"/>
                </a:solidFill>
                <a:latin typeface="Calibri"/>
                <a:ea typeface="Calibri"/>
                <a:cs typeface="Calibri"/>
                <a:sym typeface="Calibri"/>
              </a:rPr>
              <a:t>input type</a:t>
            </a:r>
            <a:r>
              <a:rPr lang="en-US"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enables the user to enter an e-mail address or a list of e-mail addresses separated by commas (if the </a:t>
            </a:r>
            <a:r>
              <a:rPr lang="en-US" sz="2400">
                <a:solidFill>
                  <a:srgbClr val="000000"/>
                </a:solidFill>
                <a:latin typeface="Droid Sans Mono"/>
                <a:ea typeface="Droid Sans Mono"/>
                <a:cs typeface="Droid Sans Mono"/>
                <a:sym typeface="Droid Sans Mono"/>
              </a:rPr>
              <a:t>multiple</a:t>
            </a:r>
            <a:r>
              <a:rPr lang="en-US"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attribute is specified). </a:t>
            </a:r>
            <a:endParaRPr/>
          </a:p>
          <a:p>
            <a:pPr marL="342900" marR="0" lvl="0" indent="-342900" algn="just" rtl="0">
              <a:spcBef>
                <a:spcPts val="16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HTML5 does not check whether an e-mail address entered by the user actually exists—rather it just validates that the e-mail address is in the </a:t>
            </a:r>
            <a:r>
              <a:rPr lang="en-US" sz="2400" i="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proper</a:t>
            </a:r>
            <a:r>
              <a:rPr lang="en-US"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2400" i="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format,</a:t>
            </a:r>
            <a:r>
              <a:rPr lang="en-US"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if a pattern is defined.</a:t>
            </a:r>
            <a:endParaRPr/>
          </a:p>
          <a:p>
            <a:pPr marL="342900" marR="0" lvl="0" indent="-342900" algn="just" rtl="0">
              <a:spcBef>
                <a:spcPts val="16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An example of a valid email pattern:</a:t>
            </a:r>
            <a:endParaRPr/>
          </a:p>
          <a:p>
            <a:pPr marL="804863" marR="0" lvl="1" indent="-342900" algn="just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Pattern = ”[a-z0-9._%+-]+@[a-z0-9.-]+\.[a-z]{2,4}$”</a:t>
            </a:r>
            <a:endParaRPr/>
          </a:p>
          <a:p>
            <a:pPr marL="342900" marR="0" lvl="0" indent="-342900" algn="just" rtl="0">
              <a:spcBef>
                <a:spcPts val="16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Learn about regular expression: </a:t>
            </a:r>
            <a:r>
              <a:rPr lang="en-US" sz="2400" u="sng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https://www.regular-expressions.info/</a:t>
            </a:r>
            <a:endParaRPr sz="24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1680"/>
              </a:spcBef>
              <a:spcAft>
                <a:spcPts val="0"/>
              </a:spcAft>
              <a:buClr>
                <a:srgbClr val="7B7B7B"/>
              </a:buClr>
              <a:buSzPts val="2400"/>
              <a:buFont typeface="Noto Sans Symbols"/>
              <a:buNone/>
            </a:pPr>
            <a:endParaRPr sz="24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4" name="Google Shape;174;p11" descr="iw3htp5_03_HTML5_pt2_Page_15"/>
          <p:cNvPicPr preferRelativeResize="0"/>
          <p:nvPr/>
        </p:nvPicPr>
        <p:blipFill rotWithShape="1">
          <a:blip r:embed="rId4">
            <a:alphaModFix/>
          </a:blip>
          <a:srcRect l="10207" t="4975" r="27500" b="60023"/>
          <a:stretch/>
        </p:blipFill>
        <p:spPr>
          <a:xfrm>
            <a:off x="6778487" y="93137"/>
            <a:ext cx="4903925" cy="1597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1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4400"/>
              <a:buFont typeface="Calibri"/>
              <a:buNone/>
            </a:pPr>
            <a:r>
              <a:rPr lang="en-US"/>
              <a:t>Input Type Email</a:t>
            </a:r>
            <a:endParaRPr/>
          </a:p>
        </p:txBody>
      </p:sp>
      <p:sp>
        <p:nvSpPr>
          <p:cNvPr id="180" name="Google Shape;180;p12"/>
          <p:cNvSpPr txBox="1">
            <a:spLocks noGrp="1"/>
          </p:cNvSpPr>
          <p:nvPr>
            <p:ph type="sldNum" idx="12"/>
          </p:nvPr>
        </p:nvSpPr>
        <p:spPr>
          <a:xfrm>
            <a:off x="11140397" y="6399738"/>
            <a:ext cx="71237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  <p:sp>
        <p:nvSpPr>
          <p:cNvPr id="181" name="Google Shape;181;p12"/>
          <p:cNvSpPr txBox="1"/>
          <p:nvPr/>
        </p:nvSpPr>
        <p:spPr>
          <a:xfrm>
            <a:off x="685801" y="1782231"/>
            <a:ext cx="10829924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4290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The </a:t>
            </a:r>
            <a:r>
              <a:rPr lang="en-US" sz="2400">
                <a:solidFill>
                  <a:srgbClr val="0000FF"/>
                </a:solidFill>
                <a:latin typeface="Calibri"/>
                <a:ea typeface="Calibri"/>
                <a:cs typeface="Calibri"/>
                <a:sym typeface="Calibri"/>
              </a:rPr>
              <a:t>placeholder attribute</a:t>
            </a:r>
            <a:r>
              <a:rPr lang="en-US"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allows you to place temporary text in a text field. </a:t>
            </a:r>
            <a:endParaRPr/>
          </a:p>
          <a:p>
            <a:pPr marL="342900" marR="0" lvl="0" indent="-342900" algn="just" rtl="0">
              <a:spcBef>
                <a:spcPts val="16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Generally, placeholder text is </a:t>
            </a:r>
            <a:r>
              <a:rPr lang="en-US" sz="2400" i="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light gray</a:t>
            </a:r>
            <a:r>
              <a:rPr lang="en-US"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and provides an example of the text and/or text format the user should enter. </a:t>
            </a:r>
            <a:endParaRPr/>
          </a:p>
          <a:p>
            <a:pPr marL="342900" marR="0" lvl="0" indent="-342900" algn="just" rtl="0">
              <a:spcBef>
                <a:spcPts val="16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When the </a:t>
            </a:r>
            <a:r>
              <a:rPr lang="en-US" sz="2400" i="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focus</a:t>
            </a:r>
            <a:r>
              <a:rPr lang="en-US"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is placed in the text field (i.e., the cursor is in the text field), the placeholder text disappears—it’s not “submitted” when the user clicks the Submit button.</a:t>
            </a:r>
            <a:endParaRPr/>
          </a:p>
          <a:p>
            <a:pPr marL="342900" marR="0" lvl="0" indent="-342900" algn="just" rtl="0">
              <a:spcBef>
                <a:spcPts val="16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The </a:t>
            </a:r>
            <a:r>
              <a:rPr lang="en-US" sz="2400">
                <a:solidFill>
                  <a:srgbClr val="0000FF"/>
                </a:solidFill>
                <a:latin typeface="Calibri"/>
                <a:ea typeface="Calibri"/>
                <a:cs typeface="Calibri"/>
                <a:sym typeface="Calibri"/>
              </a:rPr>
              <a:t>required attribute</a:t>
            </a:r>
            <a:r>
              <a:rPr lang="en-US"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forces the user to enter a value before submitting the form. You can add required to any of the input types. </a:t>
            </a:r>
            <a:endParaRPr/>
          </a:p>
          <a:p>
            <a:pPr marL="342900" marR="0" lvl="0" indent="-190500" algn="just" rtl="0">
              <a:spcBef>
                <a:spcPts val="16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190500" algn="just" rtl="0">
              <a:spcBef>
                <a:spcPts val="16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190500" algn="just" rtl="0">
              <a:spcBef>
                <a:spcPts val="16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2" name="Google Shape;182;p1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292297" y="549806"/>
            <a:ext cx="3848100" cy="719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4400"/>
              <a:buFont typeface="Calibri"/>
              <a:buNone/>
            </a:pPr>
            <a:r>
              <a:rPr lang="en-US"/>
              <a:t>Input Type Tel</a:t>
            </a:r>
            <a:endParaRPr/>
          </a:p>
        </p:txBody>
      </p:sp>
      <p:sp>
        <p:nvSpPr>
          <p:cNvPr id="188" name="Google Shape;188;p13"/>
          <p:cNvSpPr txBox="1">
            <a:spLocks noGrp="1"/>
          </p:cNvSpPr>
          <p:nvPr>
            <p:ph type="sldNum" idx="12"/>
          </p:nvPr>
        </p:nvSpPr>
        <p:spPr>
          <a:xfrm>
            <a:off x="11140397" y="6399738"/>
            <a:ext cx="71237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13</a:t>
            </a:fld>
            <a:endParaRPr/>
          </a:p>
        </p:txBody>
      </p:sp>
      <p:sp>
        <p:nvSpPr>
          <p:cNvPr id="189" name="Google Shape;189;p13"/>
          <p:cNvSpPr txBox="1"/>
          <p:nvPr/>
        </p:nvSpPr>
        <p:spPr>
          <a:xfrm>
            <a:off x="666661" y="1690688"/>
            <a:ext cx="10829924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42900" algn="just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The </a:t>
            </a:r>
            <a:r>
              <a:rPr lang="en-US" sz="2000">
                <a:solidFill>
                  <a:srgbClr val="0000FF"/>
                </a:solidFill>
                <a:latin typeface="Calibri"/>
                <a:ea typeface="Calibri"/>
                <a:cs typeface="Calibri"/>
                <a:sym typeface="Calibri"/>
              </a:rPr>
              <a:t>tel</a:t>
            </a:r>
            <a:r>
              <a:rPr lang="en-US" sz="20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2000">
                <a:solidFill>
                  <a:srgbClr val="0000FF"/>
                </a:solidFill>
                <a:latin typeface="Calibri"/>
                <a:ea typeface="Calibri"/>
                <a:cs typeface="Calibri"/>
                <a:sym typeface="Calibri"/>
              </a:rPr>
              <a:t>input type</a:t>
            </a:r>
            <a:r>
              <a:rPr lang="en-US" sz="20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enables the user to enter a telephone number—mobile browsers typically display a keypad specific to entering phone numbers for this </a:t>
            </a:r>
            <a:r>
              <a:rPr lang="en-US" sz="2000">
                <a:solidFill>
                  <a:srgbClr val="000000"/>
                </a:solidFill>
                <a:latin typeface="Droid Sans Mono"/>
                <a:ea typeface="Droid Sans Mono"/>
                <a:cs typeface="Droid Sans Mono"/>
                <a:sym typeface="Droid Sans Mono"/>
              </a:rPr>
              <a:t>input</a:t>
            </a:r>
            <a:r>
              <a:rPr lang="en-US" sz="20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type. </a:t>
            </a:r>
            <a:endParaRPr/>
          </a:p>
          <a:p>
            <a:pPr marL="342900" marR="0" lvl="0" indent="-342900" algn="just" rtl="0">
              <a:lnSpc>
                <a:spcPct val="8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At the time of this writing, the tel input type is rendered as a text field in all of the browsers. </a:t>
            </a:r>
            <a:endParaRPr/>
          </a:p>
          <a:p>
            <a:pPr marL="342900" marR="0" lvl="0" indent="-342900" algn="just" rtl="0">
              <a:lnSpc>
                <a:spcPct val="8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HTML5 does not self validate the tel input type. </a:t>
            </a:r>
            <a:endParaRPr/>
          </a:p>
          <a:p>
            <a:pPr marL="342900" marR="0" lvl="0" indent="-342900" algn="just" rtl="0">
              <a:lnSpc>
                <a:spcPct val="8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To ensure that the user enters a phone number in a proper format, </a:t>
            </a:r>
            <a:r>
              <a:rPr lang="en-US" sz="2000" b="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pattern</a:t>
            </a:r>
            <a:r>
              <a:rPr lang="en-US" sz="20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attribute must be defined. </a:t>
            </a:r>
            <a:endParaRPr/>
          </a:p>
          <a:p>
            <a:pPr marL="804863" marR="0" lvl="1" indent="-342900" algn="just" rtl="0">
              <a:lnSpc>
                <a:spcPct val="80000"/>
              </a:lnSpc>
              <a:spcBef>
                <a:spcPts val="14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US" sz="1400" b="0" i="0" u="none" strike="noStrike" cap="none">
                <a:solidFill>
                  <a:srgbClr val="000000"/>
                </a:solidFill>
                <a:latin typeface="Droid Sans Mono"/>
                <a:ea typeface="Droid Sans Mono"/>
                <a:cs typeface="Droid Sans Mono"/>
                <a:sym typeface="Droid Sans Mono"/>
              </a:rPr>
              <a:t>An example of a valid phone number pattern:</a:t>
            </a:r>
            <a:endParaRPr/>
          </a:p>
          <a:p>
            <a:pPr marL="804863" marR="0" lvl="1" indent="-342900" algn="just" rtl="0">
              <a:lnSpc>
                <a:spcPct val="80000"/>
              </a:lnSpc>
              <a:spcBef>
                <a:spcPts val="14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US" sz="1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Pattern</a:t>
            </a:r>
            <a:r>
              <a:rPr lang="en-US"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= “[0-9]{3}[\-][0-9]{3}[\-][0-9]{4}”</a:t>
            </a:r>
            <a:endParaRPr sz="1400" b="0" i="0" u="none" strike="noStrike" cap="none">
              <a:solidFill>
                <a:srgbClr val="000000"/>
              </a:solidFill>
              <a:latin typeface="Droid Sans Mono"/>
              <a:ea typeface="Droid Sans Mono"/>
              <a:cs typeface="Droid Sans Mono"/>
              <a:sym typeface="Droid Sans Mono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1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4400"/>
              <a:buFont typeface="Calibri"/>
              <a:buNone/>
            </a:pPr>
            <a:r>
              <a:rPr lang="en-US"/>
              <a:t>Input Type Number</a:t>
            </a:r>
            <a:endParaRPr/>
          </a:p>
        </p:txBody>
      </p:sp>
      <p:sp>
        <p:nvSpPr>
          <p:cNvPr id="195" name="Google Shape;195;p14"/>
          <p:cNvSpPr txBox="1">
            <a:spLocks noGrp="1"/>
          </p:cNvSpPr>
          <p:nvPr>
            <p:ph type="sldNum" idx="12"/>
          </p:nvPr>
        </p:nvSpPr>
        <p:spPr>
          <a:xfrm>
            <a:off x="11140397" y="6399738"/>
            <a:ext cx="71237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14</a:t>
            </a:fld>
            <a:endParaRPr/>
          </a:p>
        </p:txBody>
      </p:sp>
      <p:sp>
        <p:nvSpPr>
          <p:cNvPr id="196" name="Google Shape;196;p14"/>
          <p:cNvSpPr txBox="1"/>
          <p:nvPr/>
        </p:nvSpPr>
        <p:spPr>
          <a:xfrm>
            <a:off x="666661" y="2019825"/>
            <a:ext cx="10829924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42900" algn="just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The </a:t>
            </a:r>
            <a:r>
              <a:rPr lang="en-US" sz="2400">
                <a:solidFill>
                  <a:srgbClr val="0000FF"/>
                </a:solidFill>
                <a:latin typeface="Calibri"/>
                <a:ea typeface="Calibri"/>
                <a:cs typeface="Calibri"/>
                <a:sym typeface="Calibri"/>
              </a:rPr>
              <a:t>number</a:t>
            </a:r>
            <a:r>
              <a:rPr lang="en-US"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2400">
                <a:solidFill>
                  <a:srgbClr val="0000FF"/>
                </a:solidFill>
                <a:latin typeface="Calibri"/>
                <a:ea typeface="Calibri"/>
                <a:cs typeface="Calibri"/>
                <a:sym typeface="Calibri"/>
              </a:rPr>
              <a:t>input type</a:t>
            </a:r>
            <a:r>
              <a:rPr lang="en-US"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enables the user to enter a numerical value—mobile browsers typically display a numeric keypad for this input type. </a:t>
            </a:r>
            <a:endParaRPr/>
          </a:p>
          <a:p>
            <a:pPr marL="342900" marR="0" lvl="0" indent="-342900" algn="just" rtl="0">
              <a:lnSpc>
                <a:spcPct val="80000"/>
              </a:lnSpc>
              <a:spcBef>
                <a:spcPts val="16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The </a:t>
            </a:r>
            <a:r>
              <a:rPr lang="en-US" sz="2400" b="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min</a:t>
            </a:r>
            <a:r>
              <a:rPr lang="en-US"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attribute sets the minimum valid number. The </a:t>
            </a:r>
            <a:r>
              <a:rPr lang="en-US" sz="2400" b="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max</a:t>
            </a:r>
            <a:r>
              <a:rPr lang="en-US"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attribute sets the maximum valid number. </a:t>
            </a:r>
            <a:endParaRPr/>
          </a:p>
          <a:p>
            <a:pPr marL="342900" marR="0" lvl="0" indent="-342900" algn="just" rtl="0">
              <a:lnSpc>
                <a:spcPct val="80000"/>
              </a:lnSpc>
              <a:spcBef>
                <a:spcPts val="16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The </a:t>
            </a:r>
            <a:r>
              <a:rPr lang="en-US" sz="2400" b="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step</a:t>
            </a:r>
            <a:r>
              <a:rPr lang="en-US"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attribute determines the increment in which the numbers increase. </a:t>
            </a:r>
            <a:endParaRPr/>
          </a:p>
          <a:p>
            <a:pPr marL="342900" marR="0" lvl="0" indent="-342900" algn="just" rtl="0">
              <a:lnSpc>
                <a:spcPct val="80000"/>
              </a:lnSpc>
              <a:spcBef>
                <a:spcPts val="16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The </a:t>
            </a:r>
            <a:r>
              <a:rPr lang="en-US" sz="2400" b="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value</a:t>
            </a:r>
            <a:r>
              <a:rPr lang="en-US"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attribute sets the initial value displayed in the form. </a:t>
            </a:r>
            <a:endParaRPr/>
          </a:p>
          <a:p>
            <a:pPr marL="342900" marR="0" lvl="0" indent="-342900" algn="just" rtl="0">
              <a:lnSpc>
                <a:spcPct val="80000"/>
              </a:lnSpc>
              <a:spcBef>
                <a:spcPts val="16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The spinner control includes only the valid numbers. </a:t>
            </a:r>
            <a:endParaRPr/>
          </a:p>
          <a:p>
            <a:pPr marL="342900" marR="0" lvl="0" indent="-342900" algn="just" rtl="0">
              <a:lnSpc>
                <a:spcPct val="80000"/>
              </a:lnSpc>
              <a:spcBef>
                <a:spcPts val="16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If the user attempts to enter an invalid value by typing in the text field, a callout pointing to the number input element will instruct the user to enter a valid value. </a:t>
            </a:r>
            <a:endParaRPr/>
          </a:p>
          <a:p>
            <a:pPr marL="342900" marR="0" lvl="0" indent="-190500" algn="just" rtl="0">
              <a:lnSpc>
                <a:spcPct val="80000"/>
              </a:lnSpc>
              <a:spcBef>
                <a:spcPts val="16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190500" algn="just" rtl="0">
              <a:lnSpc>
                <a:spcPct val="80000"/>
              </a:lnSpc>
              <a:spcBef>
                <a:spcPts val="16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4400"/>
              <a:buFont typeface="Calibri"/>
              <a:buNone/>
            </a:pPr>
            <a:r>
              <a:rPr lang="en-US"/>
              <a:t>Input Type Range</a:t>
            </a:r>
            <a:endParaRPr/>
          </a:p>
        </p:txBody>
      </p:sp>
      <p:sp>
        <p:nvSpPr>
          <p:cNvPr id="202" name="Google Shape;202;p15"/>
          <p:cNvSpPr txBox="1">
            <a:spLocks noGrp="1"/>
          </p:cNvSpPr>
          <p:nvPr>
            <p:ph type="sldNum" idx="12"/>
          </p:nvPr>
        </p:nvSpPr>
        <p:spPr>
          <a:xfrm>
            <a:off x="11140397" y="6399738"/>
            <a:ext cx="71237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15</a:t>
            </a:fld>
            <a:endParaRPr/>
          </a:p>
        </p:txBody>
      </p:sp>
      <p:sp>
        <p:nvSpPr>
          <p:cNvPr id="203" name="Google Shape;203;p15"/>
          <p:cNvSpPr txBox="1"/>
          <p:nvPr/>
        </p:nvSpPr>
        <p:spPr>
          <a:xfrm>
            <a:off x="666661" y="1690688"/>
            <a:ext cx="10829924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4290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The </a:t>
            </a:r>
            <a:r>
              <a:rPr lang="en-US" sz="2400">
                <a:solidFill>
                  <a:srgbClr val="0000FF"/>
                </a:solidFill>
                <a:latin typeface="Calibri"/>
                <a:ea typeface="Calibri"/>
                <a:cs typeface="Calibri"/>
                <a:sym typeface="Calibri"/>
              </a:rPr>
              <a:t>range input type</a:t>
            </a:r>
            <a:r>
              <a:rPr lang="en-US"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appears as a slider control in Chrome, Safari and Opera. </a:t>
            </a:r>
            <a:endParaRPr/>
          </a:p>
          <a:p>
            <a:pPr marL="342900" marR="0" lvl="0" indent="-342900" algn="just" rtl="0">
              <a:lnSpc>
                <a:spcPct val="90000"/>
              </a:lnSpc>
              <a:spcBef>
                <a:spcPts val="16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You can set the minimum and maximum and specify a value. </a:t>
            </a:r>
            <a:endParaRPr/>
          </a:p>
          <a:p>
            <a:pPr marL="342900" marR="0" lvl="0" indent="-342900" algn="just" rtl="0">
              <a:lnSpc>
                <a:spcPct val="90000"/>
              </a:lnSpc>
              <a:spcBef>
                <a:spcPts val="16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The </a:t>
            </a:r>
            <a:r>
              <a:rPr lang="en-US" sz="2400">
                <a:solidFill>
                  <a:srgbClr val="000000"/>
                </a:solidFill>
                <a:latin typeface="Droid Sans Mono"/>
                <a:ea typeface="Droid Sans Mono"/>
                <a:cs typeface="Droid Sans Mono"/>
                <a:sym typeface="Droid Sans Mono"/>
              </a:rPr>
              <a:t>range</a:t>
            </a:r>
            <a:r>
              <a:rPr lang="en-US"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2400">
                <a:solidFill>
                  <a:srgbClr val="000000"/>
                </a:solidFill>
                <a:latin typeface="Droid Sans Mono"/>
                <a:ea typeface="Droid Sans Mono"/>
                <a:cs typeface="Droid Sans Mono"/>
                <a:sym typeface="Droid Sans Mono"/>
              </a:rPr>
              <a:t>input</a:t>
            </a:r>
            <a:r>
              <a:rPr lang="en-US"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type is inherently self-validating when it is rendered by the browser as a slider control, because the user is unable to move the slider outside the bounds of the minimum or maximum value.  </a:t>
            </a:r>
            <a:endParaRPr/>
          </a:p>
          <a:p>
            <a:pPr marL="342900" marR="0" lvl="0" indent="-190500" algn="just" rtl="0">
              <a:lnSpc>
                <a:spcPct val="90000"/>
              </a:lnSpc>
              <a:spcBef>
                <a:spcPts val="16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4" name="Google Shape;204;p15" descr="iw3htp5_03_HTML5_pt2_Page_20"/>
          <p:cNvPicPr preferRelativeResize="0"/>
          <p:nvPr/>
        </p:nvPicPr>
        <p:blipFill rotWithShape="1">
          <a:blip r:embed="rId3">
            <a:alphaModFix/>
          </a:blip>
          <a:srcRect l="9427" t="19659" r="29479" b="68259"/>
          <a:stretch/>
        </p:blipFill>
        <p:spPr>
          <a:xfrm>
            <a:off x="6096000" y="4293704"/>
            <a:ext cx="5400585" cy="10548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1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4400"/>
              <a:buFont typeface="Calibri"/>
              <a:buNone/>
            </a:pPr>
            <a:r>
              <a:rPr lang="en-US"/>
              <a:t>Color Input Type </a:t>
            </a:r>
            <a:endParaRPr/>
          </a:p>
        </p:txBody>
      </p:sp>
      <p:sp>
        <p:nvSpPr>
          <p:cNvPr id="210" name="Google Shape;210;p16"/>
          <p:cNvSpPr txBox="1">
            <a:spLocks noGrp="1"/>
          </p:cNvSpPr>
          <p:nvPr>
            <p:ph type="sldNum" idx="12"/>
          </p:nvPr>
        </p:nvSpPr>
        <p:spPr>
          <a:xfrm>
            <a:off x="11140397" y="6399738"/>
            <a:ext cx="71237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16</a:t>
            </a:fld>
            <a:endParaRPr/>
          </a:p>
        </p:txBody>
      </p:sp>
      <p:sp>
        <p:nvSpPr>
          <p:cNvPr id="211" name="Google Shape;211;p16"/>
          <p:cNvSpPr txBox="1"/>
          <p:nvPr/>
        </p:nvSpPr>
        <p:spPr>
          <a:xfrm>
            <a:off x="685801" y="1782231"/>
            <a:ext cx="8476306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4290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The </a:t>
            </a:r>
            <a:r>
              <a:rPr lang="en-US" sz="2400" dirty="0">
                <a:solidFill>
                  <a:srgbClr val="0000FF"/>
                </a:solidFill>
                <a:latin typeface="Calibri"/>
                <a:ea typeface="Calibri"/>
                <a:cs typeface="Calibri"/>
                <a:sym typeface="Calibri"/>
              </a:rPr>
              <a:t>color input type</a:t>
            </a:r>
            <a:r>
              <a:rPr lang="en-US" sz="24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enables the user to enter a color. </a:t>
            </a:r>
            <a:endParaRPr dirty="0"/>
          </a:p>
          <a:p>
            <a:pPr marL="342900" marR="0" lvl="0" indent="-342900" algn="just" rtl="0">
              <a:spcBef>
                <a:spcPts val="16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Not yet universally supported by all browsers.</a:t>
            </a:r>
            <a:endParaRPr dirty="0"/>
          </a:p>
          <a:p>
            <a:pPr marL="342900" marR="0" lvl="0" indent="-342900" algn="just" rtl="0">
              <a:spcBef>
                <a:spcPts val="16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Most browsers render the </a:t>
            </a:r>
            <a:r>
              <a:rPr lang="en-US" sz="2400" dirty="0">
                <a:solidFill>
                  <a:srgbClr val="000000"/>
                </a:solidFill>
                <a:latin typeface="Droid Sans Mono"/>
                <a:ea typeface="Droid Sans Mono"/>
                <a:cs typeface="Droid Sans Mono"/>
                <a:sym typeface="Droid Sans Mono"/>
              </a:rPr>
              <a:t>color</a:t>
            </a:r>
            <a:r>
              <a:rPr lang="en-US" sz="24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2400" dirty="0">
                <a:solidFill>
                  <a:srgbClr val="000000"/>
                </a:solidFill>
                <a:latin typeface="Droid Sans Mono"/>
                <a:ea typeface="Droid Sans Mono"/>
                <a:cs typeface="Droid Sans Mono"/>
                <a:sym typeface="Droid Sans Mono"/>
              </a:rPr>
              <a:t>input</a:t>
            </a:r>
            <a:r>
              <a:rPr lang="en-US" sz="24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type as a text field in which the user can enter a </a:t>
            </a:r>
            <a:r>
              <a:rPr lang="en-US" sz="2400" dirty="0" err="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hexadecamal</a:t>
            </a:r>
            <a:r>
              <a:rPr lang="en-US" sz="24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code or a color name. </a:t>
            </a:r>
            <a:endParaRPr dirty="0"/>
          </a:p>
          <a:p>
            <a:pPr marL="342900" marR="0" lvl="0" indent="-342900" algn="just" rtl="0">
              <a:spcBef>
                <a:spcPts val="16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In the future, when you click a </a:t>
            </a:r>
            <a:r>
              <a:rPr lang="en-US" sz="2400" dirty="0">
                <a:solidFill>
                  <a:srgbClr val="000000"/>
                </a:solidFill>
                <a:latin typeface="Droid Sans Mono"/>
                <a:ea typeface="Droid Sans Mono"/>
                <a:cs typeface="Droid Sans Mono"/>
                <a:sym typeface="Droid Sans Mono"/>
              </a:rPr>
              <a:t>color</a:t>
            </a:r>
            <a:r>
              <a:rPr lang="en-US" sz="24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2400" dirty="0">
                <a:solidFill>
                  <a:srgbClr val="000000"/>
                </a:solidFill>
                <a:latin typeface="Droid Sans Mono"/>
                <a:ea typeface="Droid Sans Mono"/>
                <a:cs typeface="Droid Sans Mono"/>
                <a:sym typeface="Droid Sans Mono"/>
              </a:rPr>
              <a:t>input</a:t>
            </a:r>
            <a:r>
              <a:rPr lang="en-US" sz="24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, browsers will likely display a </a:t>
            </a:r>
            <a:r>
              <a:rPr lang="en-US" sz="2400" i="1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color picker</a:t>
            </a:r>
            <a:r>
              <a:rPr lang="en-US" sz="24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similar to the Microsoft Windows color dialog.    </a:t>
            </a:r>
            <a:endParaRPr dirty="0"/>
          </a:p>
        </p:txBody>
      </p:sp>
      <p:pic>
        <p:nvPicPr>
          <p:cNvPr id="212" name="Google Shape;212;p16" descr="iw3htp5_03_HTML5_pt2_Page_10"/>
          <p:cNvPicPr preferRelativeResize="0"/>
          <p:nvPr/>
        </p:nvPicPr>
        <p:blipFill rotWithShape="1">
          <a:blip r:embed="rId3">
            <a:alphaModFix/>
          </a:blip>
          <a:srcRect l="21456" t="5491" r="39480" b="45611"/>
          <a:stretch/>
        </p:blipFill>
        <p:spPr>
          <a:xfrm>
            <a:off x="7911548" y="188649"/>
            <a:ext cx="3941225" cy="288254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1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4400"/>
              <a:buFont typeface="Calibri"/>
              <a:buNone/>
            </a:pPr>
            <a:r>
              <a:rPr lang="en-US"/>
              <a:t>Input Type Date </a:t>
            </a:r>
            <a:endParaRPr/>
          </a:p>
        </p:txBody>
      </p:sp>
      <p:sp>
        <p:nvSpPr>
          <p:cNvPr id="218" name="Google Shape;218;p17"/>
          <p:cNvSpPr txBox="1">
            <a:spLocks noGrp="1"/>
          </p:cNvSpPr>
          <p:nvPr>
            <p:ph type="sldNum" idx="12"/>
          </p:nvPr>
        </p:nvSpPr>
        <p:spPr>
          <a:xfrm>
            <a:off x="11140397" y="6399738"/>
            <a:ext cx="71237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17</a:t>
            </a:fld>
            <a:endParaRPr/>
          </a:p>
        </p:txBody>
      </p:sp>
      <p:sp>
        <p:nvSpPr>
          <p:cNvPr id="219" name="Google Shape;219;p17"/>
          <p:cNvSpPr txBox="1"/>
          <p:nvPr/>
        </p:nvSpPr>
        <p:spPr>
          <a:xfrm>
            <a:off x="685801" y="1782231"/>
            <a:ext cx="10829924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4290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•"/>
            </a:pPr>
            <a:r>
              <a:rPr lang="en-US" sz="2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The </a:t>
            </a:r>
            <a:r>
              <a:rPr lang="en-US" sz="2200">
                <a:solidFill>
                  <a:srgbClr val="0000FF"/>
                </a:solidFill>
                <a:latin typeface="Calibri"/>
                <a:ea typeface="Calibri"/>
                <a:cs typeface="Calibri"/>
                <a:sym typeface="Calibri"/>
              </a:rPr>
              <a:t>date</a:t>
            </a:r>
            <a:r>
              <a:rPr lang="en-US" sz="2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2200">
                <a:solidFill>
                  <a:srgbClr val="0000FF"/>
                </a:solidFill>
                <a:latin typeface="Calibri"/>
                <a:ea typeface="Calibri"/>
                <a:cs typeface="Calibri"/>
                <a:sym typeface="Calibri"/>
              </a:rPr>
              <a:t>input type</a:t>
            </a:r>
            <a:r>
              <a:rPr lang="en-US" sz="2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enables the user to enter a date (year, month, day). </a:t>
            </a:r>
            <a:endParaRPr/>
          </a:p>
        </p:txBody>
      </p:sp>
      <p:pic>
        <p:nvPicPr>
          <p:cNvPr id="220" name="Google Shape;220;p1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121525" y="3081338"/>
            <a:ext cx="4394200" cy="2895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1" name="Google Shape;221;p1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460500" y="3277962"/>
            <a:ext cx="3482975" cy="149282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4400"/>
              <a:buFont typeface="Calibri"/>
              <a:buNone/>
            </a:pPr>
            <a:r>
              <a:rPr lang="en-US"/>
              <a:t>Input Type Search</a:t>
            </a:r>
            <a:endParaRPr/>
          </a:p>
        </p:txBody>
      </p:sp>
      <p:sp>
        <p:nvSpPr>
          <p:cNvPr id="227" name="Google Shape;227;p18"/>
          <p:cNvSpPr txBox="1">
            <a:spLocks noGrp="1"/>
          </p:cNvSpPr>
          <p:nvPr>
            <p:ph type="sldNum" idx="12"/>
          </p:nvPr>
        </p:nvSpPr>
        <p:spPr>
          <a:xfrm>
            <a:off x="11140397" y="6399738"/>
            <a:ext cx="71237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18</a:t>
            </a:fld>
            <a:endParaRPr/>
          </a:p>
        </p:txBody>
      </p:sp>
      <p:sp>
        <p:nvSpPr>
          <p:cNvPr id="228" name="Google Shape;228;p18"/>
          <p:cNvSpPr txBox="1"/>
          <p:nvPr/>
        </p:nvSpPr>
        <p:spPr>
          <a:xfrm>
            <a:off x="666661" y="1690688"/>
            <a:ext cx="10829924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B7B7B"/>
              </a:buClr>
              <a:buSzPts val="2000"/>
              <a:buFont typeface="Noto Sans Symbols"/>
              <a:buNone/>
            </a:pPr>
            <a:r>
              <a:rPr lang="en-US" sz="20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The </a:t>
            </a:r>
            <a:r>
              <a:rPr lang="en-US" sz="2000">
                <a:solidFill>
                  <a:srgbClr val="0000FF"/>
                </a:solidFill>
                <a:latin typeface="Calibri"/>
                <a:ea typeface="Calibri"/>
                <a:cs typeface="Calibri"/>
                <a:sym typeface="Calibri"/>
              </a:rPr>
              <a:t>search</a:t>
            </a:r>
            <a:r>
              <a:rPr lang="en-US" sz="20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2000">
                <a:solidFill>
                  <a:srgbClr val="0000FF"/>
                </a:solidFill>
                <a:latin typeface="Calibri"/>
                <a:ea typeface="Calibri"/>
                <a:cs typeface="Calibri"/>
                <a:sym typeface="Calibri"/>
              </a:rPr>
              <a:t>input</a:t>
            </a:r>
            <a:r>
              <a:rPr lang="en-US" sz="20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2000">
                <a:solidFill>
                  <a:srgbClr val="0000FF"/>
                </a:solidFill>
                <a:latin typeface="Calibri"/>
                <a:ea typeface="Calibri"/>
                <a:cs typeface="Calibri"/>
                <a:sym typeface="Calibri"/>
              </a:rPr>
              <a:t>type</a:t>
            </a:r>
            <a:r>
              <a:rPr lang="en-US" sz="20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provides a search field for entering a query. </a:t>
            </a:r>
            <a:endParaRPr/>
          </a:p>
          <a:p>
            <a:pPr marL="0" marR="0" lvl="0" indent="0" algn="l" rtl="0">
              <a:spcBef>
                <a:spcPts val="1600"/>
              </a:spcBef>
              <a:spcAft>
                <a:spcPts val="0"/>
              </a:spcAft>
              <a:buClr>
                <a:srgbClr val="7B7B7B"/>
              </a:buClr>
              <a:buSzPts val="2000"/>
              <a:buFont typeface="Noto Sans Symbols"/>
              <a:buNone/>
            </a:pPr>
            <a:r>
              <a:rPr lang="en-US" sz="20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This input element is functionally equivalent to an input of type text. </a:t>
            </a:r>
            <a:endParaRPr/>
          </a:p>
          <a:p>
            <a:pPr marL="0" marR="0" lvl="0" indent="0" algn="l" rtl="0">
              <a:spcBef>
                <a:spcPts val="1600"/>
              </a:spcBef>
              <a:spcAft>
                <a:spcPts val="0"/>
              </a:spcAft>
              <a:buClr>
                <a:srgbClr val="7B7B7B"/>
              </a:buClr>
              <a:buSzPts val="2000"/>
              <a:buFont typeface="Noto Sans Symbols"/>
              <a:buNone/>
            </a:pPr>
            <a:r>
              <a:rPr lang="en-US" sz="20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When the user begins to type in the search field, Chrome and Safari display an X that can be clicked to clear the field.</a:t>
            </a:r>
            <a:endParaRPr/>
          </a:p>
        </p:txBody>
      </p:sp>
      <p:pic>
        <p:nvPicPr>
          <p:cNvPr id="229" name="Google Shape;229;p18" descr="iw3htp5_03_HTML5_pt2_Page_21"/>
          <p:cNvPicPr preferRelativeResize="0"/>
          <p:nvPr/>
        </p:nvPicPr>
        <p:blipFill rotWithShape="1">
          <a:blip r:embed="rId3">
            <a:alphaModFix/>
          </a:blip>
          <a:srcRect l="12863" t="4718" r="29947" b="68001"/>
          <a:stretch/>
        </p:blipFill>
        <p:spPr>
          <a:xfrm>
            <a:off x="5536096" y="3429000"/>
            <a:ext cx="6250951" cy="212195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1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4400"/>
              <a:buFont typeface="Calibri"/>
              <a:buNone/>
            </a:pPr>
            <a:r>
              <a:rPr lang="en-US"/>
              <a:t>Input Type File</a:t>
            </a:r>
            <a:endParaRPr/>
          </a:p>
        </p:txBody>
      </p:sp>
      <p:sp>
        <p:nvSpPr>
          <p:cNvPr id="235" name="Google Shape;235;p19"/>
          <p:cNvSpPr txBox="1">
            <a:spLocks noGrp="1"/>
          </p:cNvSpPr>
          <p:nvPr>
            <p:ph type="sldNum" idx="12"/>
          </p:nvPr>
        </p:nvSpPr>
        <p:spPr>
          <a:xfrm>
            <a:off x="11140397" y="6399738"/>
            <a:ext cx="71237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19</a:t>
            </a:fld>
            <a:endParaRPr/>
          </a:p>
        </p:txBody>
      </p:sp>
      <p:sp>
        <p:nvSpPr>
          <p:cNvPr id="236" name="Google Shape;236;p19"/>
          <p:cNvSpPr txBox="1"/>
          <p:nvPr/>
        </p:nvSpPr>
        <p:spPr>
          <a:xfrm>
            <a:off x="666661" y="1690688"/>
            <a:ext cx="10829924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just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B7B7B"/>
              </a:buClr>
              <a:buSzPts val="2000"/>
              <a:buFont typeface="Noto Sans Symbols"/>
              <a:buNone/>
            </a:pPr>
            <a:endParaRPr sz="20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37" name="Google Shape;237;p1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31785" y="2335696"/>
            <a:ext cx="4749800" cy="1653692"/>
          </a:xfrm>
          <a:prstGeom prst="rect">
            <a:avLst/>
          </a:prstGeom>
          <a:noFill/>
          <a:ln>
            <a:noFill/>
          </a:ln>
        </p:spPr>
      </p:pic>
      <p:pic>
        <p:nvPicPr>
          <p:cNvPr id="238" name="Google Shape;238;p1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31785" y="4721087"/>
            <a:ext cx="2705100" cy="5811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4400"/>
              <a:buFont typeface="Calibri"/>
              <a:buNone/>
            </a:pPr>
            <a:r>
              <a:rPr lang="en-US"/>
              <a:t>Input Type Checkbox</a:t>
            </a:r>
            <a:endParaRPr/>
          </a:p>
        </p:txBody>
      </p:sp>
      <p:sp>
        <p:nvSpPr>
          <p:cNvPr id="244" name="Google Shape;244;p20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257800" cy="4258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 sz="2400" dirty="0"/>
              <a:t>The checkbox is shown as a square box that is ticked (checked) when activated.</a:t>
            </a:r>
            <a:endParaRPr dirty="0"/>
          </a:p>
          <a:p>
            <a:pPr marL="228600" lvl="0" indent="-22860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 sz="2400" dirty="0"/>
              <a:t>Checkboxes are used to let a user select one or more options of a limited number of choices.</a:t>
            </a:r>
            <a:endParaRPr dirty="0"/>
          </a:p>
          <a:p>
            <a:pPr marL="228600" lvl="0" indent="-22860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 sz="2400" dirty="0"/>
              <a:t>When your form has several checkboxes with the same name, make sure that they have different values, or the web server scripts will not be able to distinguish them.</a:t>
            </a:r>
            <a:endParaRPr dirty="0"/>
          </a:p>
          <a:p>
            <a:pPr marL="228600" lvl="0" indent="-5080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dirty="0"/>
          </a:p>
          <a:p>
            <a:pPr marL="228600" lvl="0" indent="-5080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b="1" dirty="0"/>
          </a:p>
        </p:txBody>
      </p:sp>
      <p:sp>
        <p:nvSpPr>
          <p:cNvPr id="245" name="Google Shape;245;p20"/>
          <p:cNvSpPr txBox="1">
            <a:spLocks noGrp="1"/>
          </p:cNvSpPr>
          <p:nvPr>
            <p:ph type="sldNum" idx="12"/>
          </p:nvPr>
        </p:nvSpPr>
        <p:spPr>
          <a:xfrm>
            <a:off x="11140397" y="6399738"/>
            <a:ext cx="71237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20</a:t>
            </a:fld>
            <a:endParaRPr/>
          </a:p>
        </p:txBody>
      </p:sp>
      <p:pic>
        <p:nvPicPr>
          <p:cNvPr id="246" name="Google Shape;246;p2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504992" y="2072907"/>
            <a:ext cx="5064502" cy="360233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4400"/>
              <a:buFont typeface="Calibri"/>
              <a:buNone/>
            </a:pPr>
            <a:r>
              <a:rPr lang="en-US"/>
              <a:t>Input Type Radio</a:t>
            </a:r>
            <a:endParaRPr/>
          </a:p>
        </p:txBody>
      </p:sp>
      <p:sp>
        <p:nvSpPr>
          <p:cNvPr id="252" name="Google Shape;252;p21"/>
          <p:cNvSpPr txBox="1">
            <a:spLocks noGrp="1"/>
          </p:cNvSpPr>
          <p:nvPr>
            <p:ph type="body" idx="1"/>
          </p:nvPr>
        </p:nvSpPr>
        <p:spPr>
          <a:xfrm>
            <a:off x="838200" y="1690688"/>
            <a:ext cx="5513967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 sz="2400"/>
              <a:t>Radio buttons are normally presented in groups (a collection of radio buttons describing a set of related options). 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 sz="2400" b="1"/>
              <a:t>Only one </a:t>
            </a:r>
            <a:r>
              <a:rPr lang="en-US" sz="2400"/>
              <a:t>radio button in the a group can be selected at the same time.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 sz="2400"/>
              <a:t>Radio buttons in one group must have a same name.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 sz="2400"/>
              <a:t>Not setting the name attributes of the radio buttons in a group to the same name is a logic error, because it lets the user select all of the radio buttons at the same time.</a:t>
            </a:r>
            <a:endParaRPr/>
          </a:p>
          <a:p>
            <a:pPr marL="228600" lvl="0" indent="-508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/>
          </a:p>
          <a:p>
            <a:pPr marL="228600" lvl="0" indent="-508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/>
          </a:p>
        </p:txBody>
      </p:sp>
      <p:sp>
        <p:nvSpPr>
          <p:cNvPr id="253" name="Google Shape;253;p21"/>
          <p:cNvSpPr txBox="1">
            <a:spLocks noGrp="1"/>
          </p:cNvSpPr>
          <p:nvPr>
            <p:ph type="sldNum" idx="12"/>
          </p:nvPr>
        </p:nvSpPr>
        <p:spPr>
          <a:xfrm>
            <a:off x="11140397" y="6399738"/>
            <a:ext cx="71237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21</a:t>
            </a:fld>
            <a:endParaRPr/>
          </a:p>
        </p:txBody>
      </p:sp>
      <p:pic>
        <p:nvPicPr>
          <p:cNvPr id="254" name="Google Shape;254;p2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515788" y="1588442"/>
            <a:ext cx="5513966" cy="445358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2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4400"/>
              <a:buFont typeface="Calibri"/>
              <a:buNone/>
            </a:pPr>
            <a:r>
              <a:rPr lang="en-US"/>
              <a:t>Input Type Select</a:t>
            </a:r>
            <a:endParaRPr/>
          </a:p>
        </p:txBody>
      </p:sp>
      <p:sp>
        <p:nvSpPr>
          <p:cNvPr id="260" name="Google Shape;260;p22"/>
          <p:cNvSpPr txBox="1">
            <a:spLocks noGrp="1"/>
          </p:cNvSpPr>
          <p:nvPr>
            <p:ph type="sldNum" idx="12"/>
          </p:nvPr>
        </p:nvSpPr>
        <p:spPr>
          <a:xfrm>
            <a:off x="11140397" y="6399738"/>
            <a:ext cx="71237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22</a:t>
            </a:fld>
            <a:endParaRPr/>
          </a:p>
        </p:txBody>
      </p:sp>
      <p:sp>
        <p:nvSpPr>
          <p:cNvPr id="261" name="Google Shape;261;p22"/>
          <p:cNvSpPr txBox="1"/>
          <p:nvPr/>
        </p:nvSpPr>
        <p:spPr>
          <a:xfrm>
            <a:off x="838200" y="1825625"/>
            <a:ext cx="5940287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marR="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&lt;select&gt; element is used to create a drop-down list.</a:t>
            </a:r>
            <a:endParaRPr/>
          </a:p>
          <a:p>
            <a:pPr marL="2286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Multi-select list can be created with multiple attribute.</a:t>
            </a:r>
            <a:endParaRPr/>
          </a:p>
          <a:p>
            <a:pPr marL="2286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Size attribute defines the number of visible options in a drop-down list.</a:t>
            </a:r>
            <a:endParaRPr/>
          </a:p>
          <a:p>
            <a:pPr marL="2286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Specifies that the drop-down list should automatically get focus when the page loads.</a:t>
            </a:r>
            <a:endParaRPr/>
          </a:p>
        </p:txBody>
      </p:sp>
      <p:pic>
        <p:nvPicPr>
          <p:cNvPr id="262" name="Google Shape;262;p2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896339" y="1690687"/>
            <a:ext cx="4956434" cy="2982135"/>
          </a:xfrm>
          <a:prstGeom prst="rect">
            <a:avLst/>
          </a:prstGeom>
          <a:noFill/>
          <a:ln>
            <a:noFill/>
          </a:ln>
        </p:spPr>
      </p:pic>
      <p:pic>
        <p:nvPicPr>
          <p:cNvPr id="263" name="Google Shape;263;p2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300416" y="4672822"/>
            <a:ext cx="2320662" cy="11316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2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4400"/>
              <a:buFont typeface="Calibri"/>
              <a:buNone/>
            </a:pPr>
            <a:r>
              <a:rPr lang="en-US"/>
              <a:t>Textarea</a:t>
            </a:r>
            <a:endParaRPr/>
          </a:p>
        </p:txBody>
      </p:sp>
      <p:sp>
        <p:nvSpPr>
          <p:cNvPr id="269" name="Google Shape;269;p23"/>
          <p:cNvSpPr txBox="1">
            <a:spLocks noGrp="1"/>
          </p:cNvSpPr>
          <p:nvPr>
            <p:ph type="sldNum" idx="12"/>
          </p:nvPr>
        </p:nvSpPr>
        <p:spPr>
          <a:xfrm>
            <a:off x="11140397" y="6399738"/>
            <a:ext cx="71237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23</a:t>
            </a:fld>
            <a:endParaRPr/>
          </a:p>
        </p:txBody>
      </p:sp>
      <p:sp>
        <p:nvSpPr>
          <p:cNvPr id="270" name="Google Shape;270;p23"/>
          <p:cNvSpPr txBox="1"/>
          <p:nvPr/>
        </p:nvSpPr>
        <p:spPr>
          <a:xfrm>
            <a:off x="685801" y="1782231"/>
            <a:ext cx="10829924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09728" marR="0" lvl="0" indent="0" algn="just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B7B7B"/>
              </a:buClr>
              <a:buSzPts val="2400"/>
              <a:buFont typeface="Noto Sans Symbols"/>
              <a:buNone/>
            </a:pPr>
            <a:r>
              <a:rPr lang="en-US" sz="24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Additional Form Elements</a:t>
            </a:r>
            <a:endParaRPr/>
          </a:p>
          <a:p>
            <a:pPr marL="452628" marR="0" lvl="0" indent="-342900" algn="just" rtl="0">
              <a:lnSpc>
                <a:spcPct val="80000"/>
              </a:lnSpc>
              <a:spcBef>
                <a:spcPts val="16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lang="en-US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</a:t>
            </a:r>
            <a:r>
              <a:rPr lang="en-US" sz="24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textarea</a:t>
            </a:r>
            <a:r>
              <a:rPr lang="en-US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element inserts a </a:t>
            </a:r>
            <a:r>
              <a:rPr lang="en-US" sz="2400" i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multiline text area </a:t>
            </a:r>
            <a:r>
              <a:rPr lang="en-US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into the form. </a:t>
            </a:r>
            <a:endParaRPr/>
          </a:p>
          <a:p>
            <a:pPr marL="452628" marR="0" lvl="0" indent="-342900" algn="just" rtl="0">
              <a:lnSpc>
                <a:spcPct val="80000"/>
              </a:lnSpc>
              <a:spcBef>
                <a:spcPts val="16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lang="en-US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number of rows is specified with the </a:t>
            </a:r>
            <a:r>
              <a:rPr lang="en-US" sz="24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rows</a:t>
            </a:r>
            <a:r>
              <a:rPr lang="en-US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attribute, and the number of columns (i.e., characters per line) with the </a:t>
            </a:r>
            <a:r>
              <a:rPr lang="en-US" sz="24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cols</a:t>
            </a:r>
            <a:r>
              <a:rPr lang="en-US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attribute. </a:t>
            </a:r>
            <a:endParaRPr/>
          </a:p>
          <a:p>
            <a:pPr marL="452628" marR="0" lvl="0" indent="-342900" algn="just" rtl="0">
              <a:lnSpc>
                <a:spcPct val="80000"/>
              </a:lnSpc>
              <a:spcBef>
                <a:spcPts val="16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lang="en-US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Default text can be specified in other input types, such as text fields, by using the value attribute.</a:t>
            </a:r>
            <a:endParaRPr/>
          </a:p>
        </p:txBody>
      </p:sp>
      <p:pic>
        <p:nvPicPr>
          <p:cNvPr id="271" name="Google Shape;271;p2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251713" y="4134678"/>
            <a:ext cx="4888684" cy="17135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4400"/>
              <a:buFont typeface="Calibri"/>
              <a:buNone/>
            </a:pPr>
            <a:r>
              <a:rPr lang="en-US"/>
              <a:t>Autofocus</a:t>
            </a:r>
            <a:endParaRPr/>
          </a:p>
        </p:txBody>
      </p:sp>
      <p:sp>
        <p:nvSpPr>
          <p:cNvPr id="277" name="Google Shape;277;p24"/>
          <p:cNvSpPr txBox="1">
            <a:spLocks noGrp="1"/>
          </p:cNvSpPr>
          <p:nvPr>
            <p:ph type="sldNum" idx="12"/>
          </p:nvPr>
        </p:nvSpPr>
        <p:spPr>
          <a:xfrm>
            <a:off x="11140397" y="6399738"/>
            <a:ext cx="71237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24</a:t>
            </a:fld>
            <a:endParaRPr/>
          </a:p>
        </p:txBody>
      </p:sp>
      <p:sp>
        <p:nvSpPr>
          <p:cNvPr id="278" name="Google Shape;278;p24"/>
          <p:cNvSpPr txBox="1"/>
          <p:nvPr/>
        </p:nvSpPr>
        <p:spPr>
          <a:xfrm>
            <a:off x="685801" y="1782231"/>
            <a:ext cx="10829924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36525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B7B7B"/>
              </a:buClr>
              <a:buSzPts val="2400"/>
              <a:buFont typeface="Noto Sans Symbols"/>
              <a:buNone/>
            </a:pPr>
            <a:r>
              <a:rPr lang="en-US" sz="2400" b="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autofocus Attribute</a:t>
            </a:r>
            <a:endParaRPr/>
          </a:p>
          <a:p>
            <a:pPr marL="342900" marR="0" lvl="0" indent="-342900" algn="just" rtl="0">
              <a:lnSpc>
                <a:spcPct val="80000"/>
              </a:lnSpc>
              <a:spcBef>
                <a:spcPts val="16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The </a:t>
            </a:r>
            <a:r>
              <a:rPr lang="en-US" sz="2400">
                <a:solidFill>
                  <a:srgbClr val="0000FF"/>
                </a:solidFill>
                <a:latin typeface="Calibri"/>
                <a:ea typeface="Calibri"/>
                <a:cs typeface="Calibri"/>
                <a:sym typeface="Calibri"/>
              </a:rPr>
              <a:t>autofocus attribute</a:t>
            </a:r>
            <a:r>
              <a:rPr lang="en-US"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—an optional attribute that can be used in only one input element on a form—automatically gives the focus to the input element, allowing the user to begin typing in that element immediately. </a:t>
            </a:r>
            <a:endParaRPr/>
          </a:p>
          <a:p>
            <a:pPr marL="342900" marR="0" lvl="0" indent="-190500" algn="l" rtl="0">
              <a:spcBef>
                <a:spcPts val="16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2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4400"/>
              <a:buFont typeface="Calibri"/>
              <a:buNone/>
            </a:pPr>
            <a:r>
              <a:rPr lang="en-US"/>
              <a:t>Submit and Reset</a:t>
            </a:r>
            <a:endParaRPr/>
          </a:p>
        </p:txBody>
      </p:sp>
      <p:sp>
        <p:nvSpPr>
          <p:cNvPr id="284" name="Google Shape;284;p25"/>
          <p:cNvSpPr txBox="1">
            <a:spLocks noGrp="1"/>
          </p:cNvSpPr>
          <p:nvPr>
            <p:ph type="sldNum" idx="12"/>
          </p:nvPr>
        </p:nvSpPr>
        <p:spPr>
          <a:xfrm>
            <a:off x="11140397" y="6399738"/>
            <a:ext cx="71237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25</a:t>
            </a:fld>
            <a:endParaRPr/>
          </a:p>
        </p:txBody>
      </p:sp>
      <p:sp>
        <p:nvSpPr>
          <p:cNvPr id="285" name="Google Shape;285;p25"/>
          <p:cNvSpPr txBox="1"/>
          <p:nvPr/>
        </p:nvSpPr>
        <p:spPr>
          <a:xfrm>
            <a:off x="685801" y="1782232"/>
            <a:ext cx="10829924" cy="26066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10000"/>
          </a:bodyPr>
          <a:lstStyle/>
          <a:p>
            <a:pPr marL="452628" marR="0" lvl="0" indent="-342900" algn="just" rtl="0">
              <a:lnSpc>
                <a:spcPct val="80000"/>
              </a:lnSpc>
              <a:spcBef>
                <a:spcPts val="16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lang="en-US" sz="24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</a:t>
            </a:r>
            <a:r>
              <a:rPr lang="en-US" sz="24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submit </a:t>
            </a:r>
            <a:r>
              <a:rPr lang="en-US" sz="24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and </a:t>
            </a:r>
            <a:r>
              <a:rPr lang="en-US" sz="24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clear</a:t>
            </a:r>
            <a:r>
              <a:rPr lang="en-US" sz="24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input elements are buttons. </a:t>
            </a:r>
            <a:endParaRPr dirty="0"/>
          </a:p>
          <a:p>
            <a:pPr marL="621792" marR="0" lvl="1" indent="-4762" algn="just" rtl="0">
              <a:lnSpc>
                <a:spcPct val="80000"/>
              </a:lnSpc>
              <a:spcBef>
                <a:spcPts val="1524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rPr lang="en-US" sz="20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When the </a:t>
            </a:r>
            <a:r>
              <a:rPr lang="en-US" sz="2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ubmit button is pressed, the form’s data is sent to the location specified in the form’s action attribute. </a:t>
            </a:r>
          </a:p>
          <a:p>
            <a:pPr marL="452628" lvl="4" indent="-342900" algn="just">
              <a:lnSpc>
                <a:spcPct val="80000"/>
              </a:lnSpc>
              <a:spcBef>
                <a:spcPts val="1680"/>
              </a:spcBef>
              <a:buClr>
                <a:schemeClr val="dk1"/>
              </a:buClr>
              <a:buSzPts val="2400"/>
              <a:buFont typeface="Arial"/>
              <a:buChar char="•"/>
            </a:pPr>
            <a:r>
              <a:rPr lang="en-US" sz="24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</a:t>
            </a:r>
            <a:r>
              <a:rPr lang="en-US" sz="24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reset</a:t>
            </a:r>
            <a:r>
              <a:rPr lang="en-US" sz="24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input element allows a user to reset all form elements to their default values.</a:t>
            </a:r>
          </a:p>
          <a:p>
            <a:pPr marL="452628" lvl="4" indent="-342900" algn="just">
              <a:lnSpc>
                <a:spcPct val="80000"/>
              </a:lnSpc>
              <a:spcBef>
                <a:spcPts val="1680"/>
              </a:spcBef>
              <a:buClr>
                <a:schemeClr val="dk1"/>
              </a:buClr>
              <a:buSzPts val="2400"/>
              <a:buFont typeface="Arial"/>
              <a:buChar char="•"/>
            </a:pPr>
            <a:endParaRPr lang="en-US" sz="2400" dirty="0"/>
          </a:p>
          <a:p>
            <a:pPr marL="452628" lvl="4" indent="-342900" algn="just">
              <a:lnSpc>
                <a:spcPct val="80000"/>
              </a:lnSpc>
              <a:spcBef>
                <a:spcPts val="1680"/>
              </a:spcBef>
              <a:buClr>
                <a:schemeClr val="dk1"/>
              </a:buClr>
              <a:buSzPts val="2400"/>
              <a:buFont typeface="Arial"/>
              <a:buChar char="•"/>
            </a:pPr>
            <a:r>
              <a:rPr lang="en-US" sz="24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Each’s </a:t>
            </a:r>
            <a:r>
              <a:rPr lang="en-US" sz="24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value</a:t>
            </a:r>
            <a:r>
              <a:rPr lang="en-US" sz="24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attribute sets the text displayed on the button. </a:t>
            </a:r>
            <a:endParaRPr dirty="0"/>
          </a:p>
        </p:txBody>
      </p:sp>
      <p:pic>
        <p:nvPicPr>
          <p:cNvPr id="5" name="Google Shape;121;p4">
            <a:extLst>
              <a:ext uri="{FF2B5EF4-FFF2-40B4-BE49-F238E27FC236}">
                <a16:creationId xmlns:a16="http://schemas.microsoft.com/office/drawing/2014/main" id="{FAF2EDAA-9A47-4DE7-9C51-547C1DE37EB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t="31025" r="49435" b="32413"/>
          <a:stretch/>
        </p:blipFill>
        <p:spPr>
          <a:xfrm>
            <a:off x="8320133" y="4633479"/>
            <a:ext cx="2086137" cy="753530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Google Shape;120;p4">
            <a:extLst>
              <a:ext uri="{FF2B5EF4-FFF2-40B4-BE49-F238E27FC236}">
                <a16:creationId xmlns:a16="http://schemas.microsoft.com/office/drawing/2014/main" id="{3C1465AA-89E4-4579-AD50-5A59C683443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 t="65494"/>
          <a:stretch/>
        </p:blipFill>
        <p:spPr>
          <a:xfrm>
            <a:off x="838200" y="4497938"/>
            <a:ext cx="7112000" cy="12934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2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4400"/>
              <a:buFont typeface="Calibri"/>
              <a:buNone/>
            </a:pPr>
            <a:r>
              <a:rPr lang="en-US"/>
              <a:t>Form validation</a:t>
            </a:r>
            <a:endParaRPr/>
          </a:p>
        </p:txBody>
      </p:sp>
      <p:sp>
        <p:nvSpPr>
          <p:cNvPr id="291" name="Google Shape;291;p26"/>
          <p:cNvSpPr txBox="1">
            <a:spLocks noGrp="1"/>
          </p:cNvSpPr>
          <p:nvPr>
            <p:ph type="sldNum" idx="12"/>
          </p:nvPr>
        </p:nvSpPr>
        <p:spPr>
          <a:xfrm>
            <a:off x="11140397" y="6399738"/>
            <a:ext cx="71237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26</a:t>
            </a:fld>
            <a:endParaRPr/>
          </a:p>
        </p:txBody>
      </p:sp>
      <p:sp>
        <p:nvSpPr>
          <p:cNvPr id="292" name="Google Shape;292;p26"/>
          <p:cNvSpPr txBox="1"/>
          <p:nvPr/>
        </p:nvSpPr>
        <p:spPr>
          <a:xfrm>
            <a:off x="685801" y="1782231"/>
            <a:ext cx="10829924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Clr>
                <a:srgbClr val="7B7B7B"/>
              </a:buClr>
              <a:buSzPts val="2400"/>
              <a:buFont typeface="Noto Sans Symbols"/>
              <a:buNone/>
            </a:pPr>
            <a:r>
              <a:rPr lang="en-US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If you want to bypass validation, you can add the </a:t>
            </a:r>
            <a:r>
              <a:rPr lang="en-US" sz="1800">
                <a:solidFill>
                  <a:srgbClr val="0000FF"/>
                </a:solidFill>
                <a:latin typeface="Droid Sans Mono"/>
                <a:ea typeface="Droid Sans Mono"/>
                <a:cs typeface="Droid Sans Mono"/>
                <a:sym typeface="Droid Sans Mono"/>
              </a:rPr>
              <a:t>formnovalidate</a:t>
            </a:r>
            <a:r>
              <a:rPr lang="en-US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attribute to input type submit: </a:t>
            </a:r>
            <a:endParaRPr/>
          </a:p>
          <a:p>
            <a:pPr marL="0" marR="0" lvl="0" indent="0" algn="ctr" rtl="0">
              <a:spcBef>
                <a:spcPts val="1560"/>
              </a:spcBef>
              <a:spcAft>
                <a:spcPts val="0"/>
              </a:spcAft>
              <a:buClr>
                <a:srgbClr val="7B7B7B"/>
              </a:buClr>
              <a:buSzPts val="1800"/>
              <a:buFont typeface="Noto Sans Symbols"/>
              <a:buNone/>
            </a:pPr>
            <a:r>
              <a:rPr lang="en-US" sz="1800">
                <a:solidFill>
                  <a:srgbClr val="0000FF"/>
                </a:solidFill>
                <a:latin typeface="Droid Sans Mono"/>
                <a:ea typeface="Droid Sans Mono"/>
                <a:cs typeface="Droid Sans Mono"/>
                <a:sym typeface="Droid Sans Mono"/>
              </a:rPr>
              <a:t>&lt;input type = "submit" value = "Submit" formnovalidate /&gt;</a:t>
            </a:r>
            <a:endParaRPr/>
          </a:p>
          <a:p>
            <a:pPr marL="630238" marR="0" lvl="2" indent="0" algn="l" rtl="0">
              <a:spcBef>
                <a:spcPts val="15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FF"/>
              </a:solidFill>
              <a:latin typeface="Droid Sans Mono"/>
              <a:ea typeface="Droid Sans Mono"/>
              <a:cs typeface="Droid Sans Mono"/>
              <a:sym typeface="Droid Sans Mono"/>
            </a:endParaRPr>
          </a:p>
          <a:p>
            <a:pPr marL="11113" marR="0" lvl="2" indent="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rPr lang="en-US"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Another solution is to add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Droid Sans Mono"/>
                <a:ea typeface="Droid Sans Mono"/>
                <a:cs typeface="Droid Sans Mono"/>
                <a:sym typeface="Droid Sans Mono"/>
              </a:rPr>
              <a:t>novalidate</a:t>
            </a:r>
            <a:r>
              <a:rPr lang="en-US"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attribute to the form:</a:t>
            </a:r>
            <a:endParaRPr/>
          </a:p>
          <a:p>
            <a:pPr marL="11113" marR="0" lvl="2" indent="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113" marR="0" lvl="2" indent="0" algn="ctr" rtl="0">
              <a:spcBef>
                <a:spcPts val="360"/>
              </a:spcBef>
              <a:spcAft>
                <a:spcPts val="0"/>
              </a:spcAft>
              <a:buClr>
                <a:srgbClr val="0000FF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rgbClr val="0000FF"/>
                </a:solidFill>
                <a:latin typeface="Droid Sans Mono"/>
                <a:ea typeface="Droid Sans Mono"/>
                <a:cs typeface="Droid Sans Mono"/>
                <a:sym typeface="Droid Sans Mono"/>
              </a:rPr>
              <a:t>&lt;form method="post" action="mailto:abc@xyz.ca" novalidate&gt;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2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4400"/>
              <a:buFont typeface="Calibri"/>
              <a:buNone/>
            </a:pPr>
            <a:r>
              <a:rPr lang="en-US"/>
              <a:t>Exercise</a:t>
            </a:r>
            <a:endParaRPr/>
          </a:p>
        </p:txBody>
      </p:sp>
      <p:sp>
        <p:nvSpPr>
          <p:cNvPr id="298" name="Google Shape;298;p27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Write a code to generate this form.</a:t>
            </a:r>
            <a:endParaRPr/>
          </a:p>
        </p:txBody>
      </p:sp>
      <p:sp>
        <p:nvSpPr>
          <p:cNvPr id="299" name="Google Shape;299;p27"/>
          <p:cNvSpPr txBox="1">
            <a:spLocks noGrp="1"/>
          </p:cNvSpPr>
          <p:nvPr>
            <p:ph type="sldNum" idx="12"/>
          </p:nvPr>
        </p:nvSpPr>
        <p:spPr>
          <a:xfrm>
            <a:off x="11140397" y="6399738"/>
            <a:ext cx="71237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27</a:t>
            </a:fld>
            <a:endParaRPr/>
          </a:p>
        </p:txBody>
      </p:sp>
      <p:pic>
        <p:nvPicPr>
          <p:cNvPr id="300" name="Google Shape;300;p27" descr="iw3htp5_02_HTML5_pt1_Page_53"/>
          <p:cNvPicPr preferRelativeResize="0"/>
          <p:nvPr/>
        </p:nvPicPr>
        <p:blipFill rotWithShape="1">
          <a:blip r:embed="rId3">
            <a:alphaModFix/>
          </a:blip>
          <a:srcRect l="4195" t="15645" r="50100" b="12822"/>
          <a:stretch/>
        </p:blipFill>
        <p:spPr>
          <a:xfrm>
            <a:off x="6626815" y="755374"/>
            <a:ext cx="5225957" cy="5493174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DC640F1-8E22-4A47-BA23-21253AA894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9363" y="309006"/>
            <a:ext cx="6548437" cy="3274219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69D4D011-EA26-3F41-B93D-63422CD0516C}"/>
              </a:ext>
            </a:extLst>
          </p:cNvPr>
          <p:cNvSpPr txBox="1">
            <a:spLocks/>
          </p:cNvSpPr>
          <p:nvPr/>
        </p:nvSpPr>
        <p:spPr>
          <a:xfrm>
            <a:off x="3464656" y="3583225"/>
            <a:ext cx="4967844" cy="1952625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b="1" dirty="0">
                <a:solidFill>
                  <a:srgbClr val="C00000"/>
                </a:solidFill>
              </a:rPr>
              <a:t>Any Question?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104D0F-C849-BA45-AC7C-713B118DB8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F9C409-AEBC-AC4B-B24C-458B6F1C7CF1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65899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1825</Words>
  <Application>Microsoft Office PowerPoint</Application>
  <PresentationFormat>Widescreen</PresentationFormat>
  <Paragraphs>188</Paragraphs>
  <Slides>29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4" baseType="lpstr">
      <vt:lpstr>Arial</vt:lpstr>
      <vt:lpstr>Calibri</vt:lpstr>
      <vt:lpstr>Droid Sans Mono</vt:lpstr>
      <vt:lpstr>Noto Sans Symbols</vt:lpstr>
      <vt:lpstr>Office Theme</vt:lpstr>
      <vt:lpstr>Form Design in HTML</vt:lpstr>
      <vt:lpstr>Objectives</vt:lpstr>
      <vt:lpstr>Introducing Forms</vt:lpstr>
      <vt:lpstr>Forms</vt:lpstr>
      <vt:lpstr>Method</vt:lpstr>
      <vt:lpstr>GET vs POST</vt:lpstr>
      <vt:lpstr>Action</vt:lpstr>
      <vt:lpstr>Add a Frame to the Form</vt:lpstr>
      <vt:lpstr>Input</vt:lpstr>
      <vt:lpstr>Input type: Text</vt:lpstr>
      <vt:lpstr>Input Type Password</vt:lpstr>
      <vt:lpstr>Input Type Email</vt:lpstr>
      <vt:lpstr>Input Type Email</vt:lpstr>
      <vt:lpstr>Input Type Tel</vt:lpstr>
      <vt:lpstr>Input Type Number</vt:lpstr>
      <vt:lpstr>Input Type Range</vt:lpstr>
      <vt:lpstr>Color Input Type </vt:lpstr>
      <vt:lpstr>Input Type Date </vt:lpstr>
      <vt:lpstr>Input Type Search</vt:lpstr>
      <vt:lpstr>Input Type File</vt:lpstr>
      <vt:lpstr>Input Type Checkbox</vt:lpstr>
      <vt:lpstr>Input Type Radio</vt:lpstr>
      <vt:lpstr>Input Type Select</vt:lpstr>
      <vt:lpstr>Textarea</vt:lpstr>
      <vt:lpstr>Autofocus</vt:lpstr>
      <vt:lpstr>Submit and Reset</vt:lpstr>
      <vt:lpstr>Form validation</vt:lpstr>
      <vt:lpstr>Exercise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Form Design in HTML</dc:title>
  <dc:creator>Yasaman Amannejad</dc:creator>
  <cp:lastModifiedBy>Jim Davis</cp:lastModifiedBy>
  <cp:revision>5</cp:revision>
  <dcterms:created xsi:type="dcterms:W3CDTF">2018-06-11T03:49:54Z</dcterms:created>
  <dcterms:modified xsi:type="dcterms:W3CDTF">2026-01-14T21:06:36Z</dcterms:modified>
</cp:coreProperties>
</file>