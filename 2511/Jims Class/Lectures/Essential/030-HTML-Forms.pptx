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5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K5EWvnaSgCFsr156IUvfIzwfW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&lt;form method="post" action="mailto:yamannejad@mtroyal.ca"&gt;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&lt;input type="hidden" name="subject" value="Feedback Form" /&gt;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&lt;p&gt;</a:t>
            </a: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&lt;label&gt; Name:</a:t>
            </a: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&lt;input name="name" type="text" size="25" maxlength="30" /&gt;</a:t>
            </a: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&lt;/label&gt;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&lt;/p&gt;</a:t>
            </a: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&lt;input type="submit" value="Submit" /&gt;</a:t>
            </a: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&lt;input type="reset" value="Clear" /&gt;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&lt;/form&gt;</a:t>
            </a:r>
            <a:endParaRPr/>
          </a:p>
        </p:txBody>
      </p:sp>
      <p:sp>
        <p:nvSpPr>
          <p:cNvPr id="115" name="Google Shape;11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To ensure that the user enters a password in a proper format, </a:t>
            </a:r>
            <a:r>
              <a:rPr lang="en-US" sz="2400" b="1">
                <a:solidFill>
                  <a:srgbClr val="000000"/>
                </a:solidFill>
              </a:rPr>
              <a:t>pattern</a:t>
            </a:r>
            <a:r>
              <a:rPr lang="en-US" sz="2400">
                <a:solidFill>
                  <a:srgbClr val="000000"/>
                </a:solidFill>
              </a:rPr>
              <a:t> attribute must be defined, e.g.:</a:t>
            </a:r>
            <a:endParaRPr/>
          </a:p>
          <a:p>
            <a:pPr marL="804863" lvl="1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pattern</a:t>
            </a:r>
            <a:r>
              <a:rPr lang="en-US" sz="1600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= "(?=.*\d)(?=.*[a-z])(?=.*[A-Z]).{8,}" </a:t>
            </a:r>
            <a:endParaRPr/>
          </a:p>
          <a:p>
            <a:pPr marL="804863" lvl="1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title </a:t>
            </a:r>
            <a:r>
              <a:rPr lang="en-US" sz="1600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= "Must contain at least one number and one uppercase and lowercase letter, and at least 8 or more characters"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/>
          <p:nvPr/>
        </p:nvSpPr>
        <p:spPr>
          <a:xfrm>
            <a:off x="12049124" y="0"/>
            <a:ext cx="142876" cy="137160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1"/>
          <p:cNvSpPr/>
          <p:nvPr/>
        </p:nvSpPr>
        <p:spPr>
          <a:xfrm>
            <a:off x="12049124" y="1371600"/>
            <a:ext cx="142876" cy="54864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2876" y="6030422"/>
            <a:ext cx="1228085" cy="80795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1"/>
          <p:cNvSpPr/>
          <p:nvPr/>
        </p:nvSpPr>
        <p:spPr>
          <a:xfrm>
            <a:off x="1496291" y="6320458"/>
            <a:ext cx="9447755" cy="551397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1"/>
          <p:cNvSpPr/>
          <p:nvPr/>
        </p:nvSpPr>
        <p:spPr>
          <a:xfrm>
            <a:off x="10944046" y="6311900"/>
            <a:ext cx="1105078" cy="5461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1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ftr" idx="11"/>
          </p:nvPr>
        </p:nvSpPr>
        <p:spPr>
          <a:xfrm>
            <a:off x="1496291" y="6399737"/>
            <a:ext cx="94477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5F0BF4-0F3B-0C0D-DE90-55026EC47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CBC9-E63F-2449-9BA5-B487CF9EB662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CA2EF8-90D0-1086-8733-E9A7083C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A0470-5FA7-65DA-1230-2C1ABB60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DBB1-5FB0-484A-8047-82439D32D2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218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gular-expressions.info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1607127" y="1571229"/>
            <a:ext cx="9144000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 b="1">
                <a:solidFill>
                  <a:srgbClr val="C00000"/>
                </a:solidFill>
              </a:rPr>
              <a:t>Form Design in HTML</a:t>
            </a: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77" y="219306"/>
            <a:ext cx="1561956" cy="102760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1607127" y="4256286"/>
            <a:ext cx="448578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Yasaman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Amannejad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PJ Perri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Mathematics and Computing,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Mount Royal University</a:t>
            </a:r>
            <a:endParaRPr dirty="0"/>
          </a:p>
        </p:txBody>
      </p:sp>
      <p:sp>
        <p:nvSpPr>
          <p:cNvPr id="95" name="Google Shape;95;p1"/>
          <p:cNvSpPr/>
          <p:nvPr/>
        </p:nvSpPr>
        <p:spPr>
          <a:xfrm>
            <a:off x="1528071" y="1675910"/>
            <a:ext cx="401280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 </a:t>
            </a: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2511 - Web I: Client Development 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607127" y="4256286"/>
            <a:ext cx="9144000" cy="1085115"/>
          </a:xfrm>
          <a:prstGeom prst="corner">
            <a:avLst>
              <a:gd name="adj1" fmla="val 3211"/>
              <a:gd name="adj2" fmla="val 2774"/>
            </a:avLst>
          </a:prstGeom>
          <a:solidFill>
            <a:srgbClr val="C0000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 rot="10800000">
            <a:off x="1530927" y="1664897"/>
            <a:ext cx="9220200" cy="1074948"/>
          </a:xfrm>
          <a:prstGeom prst="corner">
            <a:avLst>
              <a:gd name="adj1" fmla="val 3211"/>
              <a:gd name="adj2" fmla="val 2774"/>
            </a:avLst>
          </a:prstGeom>
          <a:solidFill>
            <a:srgbClr val="C0000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838200" y="441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9728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By the end of this part of the course, you will</a:t>
            </a:r>
            <a:endParaRPr/>
          </a:p>
          <a:p>
            <a:pPr marL="1024128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learn how to design a form with HTML</a:t>
            </a:r>
            <a:endParaRPr/>
          </a:p>
          <a:p>
            <a:pPr marL="1024128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understand difference form methods and actions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Textbook</a:t>
            </a:r>
            <a:r>
              <a:rPr lang="en-US" sz="2400"/>
              <a:t>: </a:t>
            </a:r>
            <a:r>
              <a:rPr lang="en-US" sz="2400">
                <a:solidFill>
                  <a:srgbClr val="C00000"/>
                </a:solidFill>
              </a:rPr>
              <a:t>Fun</a:t>
            </a:r>
            <a:r>
              <a:rPr lang="en-US" sz="2400"/>
              <a:t>damentals of </a:t>
            </a:r>
            <a:r>
              <a:rPr lang="en-US" sz="2400">
                <a:solidFill>
                  <a:srgbClr val="C00000"/>
                </a:solidFill>
              </a:rPr>
              <a:t>Web</a:t>
            </a:r>
            <a:r>
              <a:rPr lang="en-US" sz="2400"/>
              <a:t> </a:t>
            </a:r>
            <a:r>
              <a:rPr lang="en-US" sz="2400">
                <a:solidFill>
                  <a:srgbClr val="C00000"/>
                </a:solidFill>
              </a:rPr>
              <a:t>Dev</a:t>
            </a:r>
            <a:r>
              <a:rPr lang="en-US" sz="2400"/>
              <a:t>elopment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Chapter 5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8731" y="4125951"/>
            <a:ext cx="1654042" cy="2051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ctrTitle"/>
          </p:nvPr>
        </p:nvSpPr>
        <p:spPr>
          <a:xfrm>
            <a:off x="2346960" y="758952"/>
            <a:ext cx="7543800" cy="320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b="1"/>
              <a:t>Introducing </a:t>
            </a:r>
            <a:r>
              <a:rPr lang="en-US" b="1">
                <a:solidFill>
                  <a:srgbClr val="1E4E79"/>
                </a:solidFill>
              </a:rPr>
              <a:t>Forms</a:t>
            </a:r>
            <a:endParaRPr/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Forms</a:t>
            </a:r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1200149" y="1782231"/>
            <a:ext cx="1031557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2200"/>
              <a:buFont typeface="Noto Sans Symbols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HTML5 provides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collecting information from users.</a:t>
            </a:r>
            <a:endParaRPr/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2992" y="2623819"/>
            <a:ext cx="7112000" cy="319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43965" y="2623821"/>
            <a:ext cx="2704602" cy="1114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Method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838201" y="1782231"/>
            <a:ext cx="106775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2628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</a:pPr>
            <a:r>
              <a:rPr lang="en-US" sz="2200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lang="en-US" sz="22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 of the </a:t>
            </a:r>
            <a:r>
              <a:rPr lang="en-US" sz="2200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form</a:t>
            </a:r>
            <a:r>
              <a:rPr lang="en-US" sz="22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Element</a:t>
            </a:r>
            <a:endParaRPr/>
          </a:p>
          <a:p>
            <a:pPr marL="621792" marR="0" lvl="1" indent="-4762" algn="just" rtl="0">
              <a:spcBef>
                <a:spcPts val="152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 </a:t>
            </a:r>
            <a:r>
              <a:rPr lang="en-US"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specifies how the form’s data is sent to the web server.</a:t>
            </a:r>
            <a:endParaRPr/>
          </a:p>
          <a:p>
            <a:pPr marL="621792" marR="0" lvl="1" indent="-4762" algn="just" rtl="0">
              <a:spcBef>
                <a:spcPts val="152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method = "</a:t>
            </a:r>
            <a:r>
              <a:rPr lang="en-US"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 appends form data to the browser request, which contains the protocol (HTTP) and the requested resource’s URL. </a:t>
            </a:r>
            <a:endParaRPr/>
          </a:p>
          <a:p>
            <a:pPr marL="621792" marR="0" lvl="1" indent="-4762" algn="just" rtl="0">
              <a:spcBef>
                <a:spcPts val="152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other possible value, method = "</a:t>
            </a:r>
            <a:r>
              <a:rPr lang="en-US"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", appends the form data directly to the end of the URL of the script, where it’s visible in the browser’s Address field.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GET vs POST</a:t>
            </a:r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GET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Appends form-data into the URL in name/value pairs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length of a URL is limited (about 3000 characters)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Never use GET to send sensitive data! (will be visible in the URL)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Useful for form submissions where a user wants to bookmark the result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GET is better for non-secure data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POST: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POST has no size limitations, and can be used to send large amounts of data.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Form submissions with POST cannot be bookmarked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Action</a:t>
            </a:r>
            <a:endParaRPr/>
          </a:p>
        </p:txBody>
      </p:sp>
      <p:sp>
        <p:nvSpPr>
          <p:cNvPr id="141" name="Google Shape;141;p7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685801" y="1782231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36092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</a:pPr>
            <a:r>
              <a:rPr lang="en-US" sz="2200" b="1" i="1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r>
              <a:rPr lang="en-US" sz="22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 of the </a:t>
            </a:r>
            <a:r>
              <a:rPr lang="en-US" sz="2200" b="1" i="1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form</a:t>
            </a:r>
            <a:r>
              <a:rPr lang="en-US" sz="22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Element</a:t>
            </a:r>
            <a:endParaRPr/>
          </a:p>
          <a:p>
            <a:pPr marL="621792" marR="0" lvl="1" indent="-4762" algn="just" rtl="0">
              <a:spcBef>
                <a:spcPts val="152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action attribute of the form element specifies the script to which the form data will be sent.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F822-FA09-4F05-9894-E159919A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Frame to the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FEA06-5C37-484F-9A62-DA9DBB77E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done by using the &lt;</a:t>
            </a:r>
            <a:r>
              <a:rPr lang="en-US" dirty="0" err="1"/>
              <a:t>fieldset</a:t>
            </a:r>
            <a:r>
              <a:rPr lang="en-US" dirty="0"/>
              <a:t>&gt;&lt;/</a:t>
            </a:r>
            <a:r>
              <a:rPr lang="en-US" dirty="0" err="1"/>
              <a:t>fieldset</a:t>
            </a:r>
            <a:r>
              <a:rPr lang="en-US" dirty="0"/>
              <a:t>&gt; tags</a:t>
            </a:r>
          </a:p>
          <a:p>
            <a:r>
              <a:rPr lang="en-US" dirty="0"/>
              <a:t>Usually set inside the form tags</a:t>
            </a:r>
          </a:p>
          <a:p>
            <a:r>
              <a:rPr lang="en-US" dirty="0"/>
              <a:t>Puts a border around the form elements</a:t>
            </a:r>
          </a:p>
          <a:p>
            <a:r>
              <a:rPr lang="en-US" dirty="0"/>
              <a:t>Can also name the from by using the &lt;legend&gt;&lt;/legend&gt; tags immediately after &lt;frameset&gt;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12CFB-1073-4F30-903D-16D94C3DCA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5F576-B515-4B12-A48C-E829EA85A369}"/>
              </a:ext>
            </a:extLst>
          </p:cNvPr>
          <p:cNvSpPr txBox="1"/>
          <p:nvPr/>
        </p:nvSpPr>
        <p:spPr>
          <a:xfrm>
            <a:off x="6498593" y="4408371"/>
            <a:ext cx="53541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&lt;form&gt;</a:t>
            </a:r>
          </a:p>
          <a:p>
            <a:r>
              <a:rPr lang="en-US" dirty="0"/>
              <a:t>   &lt;</a:t>
            </a:r>
            <a:r>
              <a:rPr lang="en-US" dirty="0" err="1"/>
              <a:t>fieldset</a:t>
            </a:r>
            <a:r>
              <a:rPr lang="en-US" dirty="0"/>
              <a:t>&gt;</a:t>
            </a:r>
          </a:p>
          <a:p>
            <a:r>
              <a:rPr lang="en-US" dirty="0"/>
              <a:t>      &lt;legend&gt;Personal Information&lt;/legend&gt;</a:t>
            </a:r>
          </a:p>
          <a:p>
            <a:endParaRPr lang="en-US" dirty="0"/>
          </a:p>
          <a:p>
            <a:r>
              <a:rPr lang="en-US" dirty="0"/>
              <a:t>   &lt;/</a:t>
            </a:r>
            <a:r>
              <a:rPr lang="en-US" dirty="0" err="1"/>
              <a:t>fieldset</a:t>
            </a:r>
            <a:r>
              <a:rPr lang="en-US" dirty="0"/>
              <a:t>&gt;</a:t>
            </a:r>
          </a:p>
          <a:p>
            <a:r>
              <a:rPr lang="en-US" dirty="0"/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355620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</a:t>
            </a:r>
            <a:endParaRPr/>
          </a:p>
        </p:txBody>
      </p:sp>
      <p:sp>
        <p:nvSpPr>
          <p:cNvPr id="148" name="Google Shape;148;p8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685801" y="1782231"/>
            <a:ext cx="10829924" cy="3903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44463" marR="0" lvl="1" indent="-12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dirty="0"/>
          </a:p>
          <a:p>
            <a:pPr marL="446088" marR="0" lvl="1" indent="-385763" algn="just" rtl="0">
              <a:spcBef>
                <a:spcPts val="152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elements specify data to provide to the script that processes the form.</a:t>
            </a:r>
            <a:endParaRPr dirty="0"/>
          </a:p>
          <a:p>
            <a:pPr marL="446088" marR="0" lvl="1" indent="-385763" algn="just" rtl="0">
              <a:spcBef>
                <a:spcPts val="152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input’s type is determined by its type attribute. </a:t>
            </a:r>
            <a:endParaRPr dirty="0"/>
          </a:p>
          <a:p>
            <a:pPr marL="109728" marR="0" lvl="0" indent="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rgbClr val="7B7B7B"/>
              </a:buClr>
              <a:buSzPts val="2400"/>
              <a:buFont typeface="Noto Sans Symbols"/>
              <a:buNone/>
            </a:pPr>
            <a:endParaRPr sz="24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9728" marR="0" lvl="0" indent="0" algn="just" rtl="0">
              <a:lnSpc>
                <a:spcPct val="80000"/>
              </a:lnSpc>
              <a:spcBef>
                <a:spcPts val="1640"/>
              </a:spcBef>
              <a:spcAft>
                <a:spcPts val="0"/>
              </a:spcAft>
              <a:buClr>
                <a:srgbClr val="7B7B7B"/>
              </a:buClr>
              <a:buSzPts val="2200"/>
              <a:buFont typeface="Noto Sans Symbols"/>
              <a:buNone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Hidden Inputs</a:t>
            </a:r>
            <a:endParaRPr dirty="0"/>
          </a:p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Forms can contain visual and nonvisual components. </a:t>
            </a:r>
            <a:endParaRPr dirty="0"/>
          </a:p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components include clickable buttons and other graphical user interface components with which users interact. </a:t>
            </a:r>
            <a:endParaRPr dirty="0"/>
          </a:p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Nonvisual components, called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hidden inputs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store any data that you specify.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Input type: Text</a:t>
            </a:r>
            <a:endParaRPr dirty="0"/>
          </a:p>
        </p:txBody>
      </p:sp>
      <p:sp>
        <p:nvSpPr>
          <p:cNvPr id="155" name="Google Shape;155;p9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685801" y="1782231"/>
            <a:ext cx="10829924" cy="384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text input inserts a text field into the form, which allows the user to input data.</a:t>
            </a:r>
            <a:endParaRPr dirty="0"/>
          </a:p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element provides users with information about the input element’s purpose.</a:t>
            </a:r>
            <a:endParaRPr dirty="0"/>
          </a:p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 specifies the number of characters visible in the text field.</a:t>
            </a:r>
            <a:endParaRPr dirty="0"/>
          </a:p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attribute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maxlength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limits the number of characters input into a text field.</a:t>
            </a:r>
            <a:endParaRPr dirty="0"/>
          </a:p>
        </p:txBody>
      </p:sp>
      <p:pic>
        <p:nvPicPr>
          <p:cNvPr id="5" name="Google Shape;120;p4">
            <a:extLst>
              <a:ext uri="{FF2B5EF4-FFF2-40B4-BE49-F238E27FC236}">
                <a16:creationId xmlns:a16="http://schemas.microsoft.com/office/drawing/2014/main" id="{A5A111E8-6905-4E94-A903-CA1A43079E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1028" b="40877"/>
          <a:stretch/>
        </p:blipFill>
        <p:spPr>
          <a:xfrm>
            <a:off x="1124763" y="4951757"/>
            <a:ext cx="7112000" cy="110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1;p4">
            <a:extLst>
              <a:ext uri="{FF2B5EF4-FFF2-40B4-BE49-F238E27FC236}">
                <a16:creationId xmlns:a16="http://schemas.microsoft.com/office/drawing/2014/main" id="{96DA8859-0CEB-4B3C-91BF-E17946F153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70012"/>
          <a:stretch/>
        </p:blipFill>
        <p:spPr>
          <a:xfrm>
            <a:off x="8811123" y="5070766"/>
            <a:ext cx="2704602" cy="334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 dirty="0"/>
              <a:t>Input Type Password</a:t>
            </a:r>
            <a:endParaRPr dirty="0"/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64" name="Google Shape;164;p10"/>
          <p:cNvSpPr txBox="1"/>
          <p:nvPr/>
        </p:nvSpPr>
        <p:spPr>
          <a:xfrm>
            <a:off x="685801" y="1782231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password input inserts a password box into a form.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users to enter sensitive information, such as credit card numbers and passwords, by “masking” the information input with another character, usually asterisks.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 value input is sent to the web server, not the asterisks that mask the input.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Safari and Edge there is an icon in the right end of the field which displays it.</a:t>
            </a:r>
            <a:endParaRPr/>
          </a:p>
          <a:p>
            <a:pPr marL="342900" marR="0" lvl="0" indent="-190500" algn="just" rtl="0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610" y="4616786"/>
            <a:ext cx="5588000" cy="1406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7297" y="4983923"/>
            <a:ext cx="33020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604210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Email</a:t>
            </a:r>
            <a:endParaRPr/>
          </a:p>
        </p:txBody>
      </p:sp>
      <p:sp>
        <p:nvSpPr>
          <p:cNvPr id="172" name="Google Shape;172;p11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685801" y="1782231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input type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enables the user to enter an e-mail address or a list of e-mail addresses separated by commas (if the </a:t>
            </a:r>
            <a:r>
              <a:rPr lang="en-US" sz="2400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multiple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attribute is specified). </a:t>
            </a:r>
            <a:endParaRPr/>
          </a:p>
          <a:p>
            <a:pPr marL="342900" marR="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HTML5 does not check whether an e-mail address entered by the user actually exists—rather it just validates that the e-mail address is in the </a:t>
            </a: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format,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a pattern is defined.</a:t>
            </a:r>
            <a:endParaRPr/>
          </a:p>
          <a:p>
            <a:pPr marL="342900" marR="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example of a valid email pattern:</a:t>
            </a:r>
            <a:endParaRPr/>
          </a:p>
          <a:p>
            <a:pPr marL="804863" marR="0" lvl="1" indent="-342900" algn="just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= ”[a-z0-9._%+-]+@[a-z0-9.-]+\.[a-z]{2,4}$”</a:t>
            </a:r>
            <a:endParaRPr/>
          </a:p>
          <a:p>
            <a:pPr marL="342900" marR="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about regular expression: </a:t>
            </a:r>
            <a:r>
              <a:rPr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https://www.regular-expressions.info/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680"/>
              </a:spcBef>
              <a:spcAft>
                <a:spcPts val="0"/>
              </a:spcAft>
              <a:buClr>
                <a:srgbClr val="7B7B7B"/>
              </a:buClr>
              <a:buSzPts val="2400"/>
              <a:buFont typeface="Noto Sans Symbols"/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1" descr="iw3htp5_03_HTML5_pt2_Page_15"/>
          <p:cNvPicPr preferRelativeResize="0"/>
          <p:nvPr/>
        </p:nvPicPr>
        <p:blipFill rotWithShape="1">
          <a:blip r:embed="rId4">
            <a:alphaModFix/>
          </a:blip>
          <a:srcRect l="10207" t="4975" r="27500" b="60023"/>
          <a:stretch/>
        </p:blipFill>
        <p:spPr>
          <a:xfrm>
            <a:off x="6778487" y="93137"/>
            <a:ext cx="4903925" cy="15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Email</a:t>
            </a:r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81" name="Google Shape;181;p12"/>
          <p:cNvSpPr txBox="1"/>
          <p:nvPr/>
        </p:nvSpPr>
        <p:spPr>
          <a:xfrm>
            <a:off x="685801" y="1782231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placeholder attribute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allows you to place temporary text in a text field. </a:t>
            </a:r>
            <a:endParaRPr/>
          </a:p>
          <a:p>
            <a:pPr marL="342900" marR="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Generally, placeholder text is </a:t>
            </a: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light gray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provides an example of the text and/or text format the user should enter. </a:t>
            </a:r>
            <a:endParaRPr/>
          </a:p>
          <a:p>
            <a:pPr marL="342900" marR="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the </a:t>
            </a: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focus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placed in the text field (i.e., the cursor is in the text field), the placeholder text disappears—it’s not “submitted” when the user clicks the Submit button.</a:t>
            </a:r>
            <a:endParaRPr/>
          </a:p>
          <a:p>
            <a:pPr marL="342900" marR="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required attribute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forces the user to enter a value before submitting the form. You can add required to any of the input types. </a:t>
            </a:r>
            <a:endParaRPr/>
          </a:p>
          <a:p>
            <a:pPr marL="342900" marR="0" lvl="0" indent="-1905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2297" y="549806"/>
            <a:ext cx="3848100" cy="7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Tel</a:t>
            </a:r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666661" y="1690688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tel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input type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enables the user to enter a telephone number—mobile browsers typically display a keypad specific to entering phone numbers for this </a:t>
            </a:r>
            <a:r>
              <a:rPr lang="en-US" sz="2400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input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type. </a:t>
            </a:r>
            <a:endParaRPr sz="2400"/>
          </a:p>
          <a:p>
            <a:pPr marL="342900" marR="0" lvl="0" indent="-342900" algn="just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the time of this writing, the tel input type is rendered as a text field in all of the browsers. </a:t>
            </a:r>
            <a:endParaRPr sz="2400"/>
          </a:p>
          <a:p>
            <a:pPr marL="342900" marR="0" lvl="0" indent="-342900" algn="just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HTML5 does not self validate the tel input type. </a:t>
            </a:r>
            <a:endParaRPr sz="2400"/>
          </a:p>
          <a:p>
            <a:pPr marL="342900" marR="0" lvl="0" indent="-342900" algn="just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ensure that the user enters a phone number in a proper format, 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attribute must be defined. </a:t>
            </a:r>
            <a:endParaRPr sz="2400"/>
          </a:p>
          <a:p>
            <a:pPr marL="804863" marR="0" lvl="1" indent="-342900" algn="just" rtl="0">
              <a:lnSpc>
                <a:spcPct val="80000"/>
              </a:lnSpc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An example of a valid phone number pattern:</a:t>
            </a:r>
            <a:endParaRPr sz="1800"/>
          </a:p>
          <a:p>
            <a:pPr marL="804863" marR="0" lvl="1" indent="-342900" algn="just" rtl="0">
              <a:lnSpc>
                <a:spcPct val="80000"/>
              </a:lnSpc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“[0-9]{3}[\-][0-9]{3}[\-][0-9]{4}”</a:t>
            </a:r>
            <a:endParaRPr sz="1800" b="0" i="0" u="none" strike="noStrike" cap="none">
              <a:solidFill>
                <a:srgbClr val="00000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Number</a:t>
            </a: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666661" y="2019825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input type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enables the user to enter a numerical value—mobile browsers typically display a numeric keypad for this input type. 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attribute sets the minimum valid number. The 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attribute sets the maximum valid number. 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attribute determines the increment in which the numbers increase. 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attribute sets the initial value displayed in the form. 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spinner control includes only the valid numbers. 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user attempts to enter an invalid value by typing in the text field, a callout pointing to the number input element will instruct the user to enter a valid value. </a:t>
            </a:r>
            <a:endParaRPr/>
          </a:p>
          <a:p>
            <a:pPr marL="342900" marR="0" lvl="0" indent="-1905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Range</a:t>
            </a:r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666661" y="1690688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range input type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appears as a slider control in Chrome, Safari and Opera. 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set the minimum and maximum and specify a value. 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range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input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type is inherently self-validating when it is rendered by the browser as a slider control, because the user is unable to move the slider outside the bounds of the minimum or maximum value.  </a:t>
            </a:r>
            <a:endParaRPr/>
          </a:p>
          <a:p>
            <a:pPr marL="342900" marR="0" lvl="0" indent="-190500" algn="just" rtl="0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5" descr="iw3htp5_03_HTML5_pt2_Page_20"/>
          <p:cNvPicPr preferRelativeResize="0"/>
          <p:nvPr/>
        </p:nvPicPr>
        <p:blipFill rotWithShape="1">
          <a:blip r:embed="rId3">
            <a:alphaModFix/>
          </a:blip>
          <a:srcRect l="9427" t="19659" r="29479" b="68259"/>
          <a:stretch/>
        </p:blipFill>
        <p:spPr>
          <a:xfrm>
            <a:off x="6096000" y="4293704"/>
            <a:ext cx="5400585" cy="1054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Color Input Type </a:t>
            </a:r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685801" y="1782231"/>
            <a:ext cx="847630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color input type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enables the user to enter a color. </a:t>
            </a:r>
            <a:endParaRPr dirty="0"/>
          </a:p>
          <a:p>
            <a:pPr marL="342900" marR="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yet universally supported by all browsers.</a:t>
            </a:r>
            <a:endParaRPr dirty="0"/>
          </a:p>
          <a:p>
            <a:pPr marL="342900" marR="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 browsers render the </a:t>
            </a:r>
            <a:r>
              <a:rPr lang="en-US" sz="2400" dirty="0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color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input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type as a text field in which the user can enter a </a:t>
            </a:r>
            <a:r>
              <a:rPr lang="en-US"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hexadecamal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code or a color name. </a:t>
            </a:r>
            <a:endParaRPr dirty="0"/>
          </a:p>
          <a:p>
            <a:pPr marL="342900" marR="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the future, when you click a </a:t>
            </a:r>
            <a:r>
              <a:rPr lang="en-US" sz="2400" dirty="0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color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input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browsers will likely display a </a:t>
            </a:r>
            <a:r>
              <a:rPr lang="en-US" sz="24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color picker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similar to the Microsoft Windows color dialog.    </a:t>
            </a:r>
            <a:endParaRPr dirty="0"/>
          </a:p>
        </p:txBody>
      </p:sp>
      <p:pic>
        <p:nvPicPr>
          <p:cNvPr id="212" name="Google Shape;212;p16" descr="iw3htp5_03_HTML5_pt2_Page_10"/>
          <p:cNvPicPr preferRelativeResize="0"/>
          <p:nvPr/>
        </p:nvPicPr>
        <p:blipFill rotWithShape="1">
          <a:blip r:embed="rId3">
            <a:alphaModFix/>
          </a:blip>
          <a:srcRect l="21456" t="5491" r="39480" b="45611"/>
          <a:stretch/>
        </p:blipFill>
        <p:spPr>
          <a:xfrm>
            <a:off x="7911548" y="188649"/>
            <a:ext cx="3941225" cy="2882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Date </a:t>
            </a:r>
            <a:endParaRPr/>
          </a:p>
        </p:txBody>
      </p:sp>
      <p:sp>
        <p:nvSpPr>
          <p:cNvPr id="218" name="Google Shape;218;p17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685801" y="1782231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input type</a:t>
            </a: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enables the user to enter a date (year, month, day).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For dates not recent enter the year to jump to that year.</a:t>
            </a: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20" name="Google Shape;22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1525" y="3081338"/>
            <a:ext cx="43942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0500" y="3277962"/>
            <a:ext cx="3482975" cy="1492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Search</a:t>
            </a:r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666661" y="1690688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provides a search field for entering a query. </a:t>
            </a:r>
            <a:endParaRPr/>
          </a:p>
          <a:p>
            <a:pPr marL="0" marR="0" lvl="0" indent="0" algn="l" rtl="0">
              <a:spcBef>
                <a:spcPts val="1600"/>
              </a:spcBef>
              <a:spcAft>
                <a:spcPts val="0"/>
              </a:spcAft>
              <a:buClr>
                <a:srgbClr val="7B7B7B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input element is functionally equivalent to an input of type text. </a:t>
            </a:r>
            <a:endParaRPr/>
          </a:p>
          <a:p>
            <a:pPr marL="0" marR="0" lvl="0" indent="0" algn="l" rtl="0">
              <a:spcBef>
                <a:spcPts val="1600"/>
              </a:spcBef>
              <a:spcAft>
                <a:spcPts val="0"/>
              </a:spcAft>
              <a:buClr>
                <a:srgbClr val="7B7B7B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the user begins to type in the search field, Chrome and Safari display an X that can be clicked to clear the field.</a:t>
            </a:r>
            <a:endParaRPr/>
          </a:p>
        </p:txBody>
      </p:sp>
      <p:pic>
        <p:nvPicPr>
          <p:cNvPr id="229" name="Google Shape;229;p18" descr="iw3htp5_03_HTML5_pt2_Page_21"/>
          <p:cNvPicPr preferRelativeResize="0"/>
          <p:nvPr/>
        </p:nvPicPr>
        <p:blipFill rotWithShape="1">
          <a:blip r:embed="rId3">
            <a:alphaModFix/>
          </a:blip>
          <a:srcRect l="12863" t="4718" r="29947" b="68001"/>
          <a:stretch/>
        </p:blipFill>
        <p:spPr>
          <a:xfrm>
            <a:off x="5536096" y="3429000"/>
            <a:ext cx="6250951" cy="2121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File</a:t>
            </a:r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666661" y="1690688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2000"/>
              <a:buFont typeface="Noto Sans Symbols"/>
              <a:buNone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785" y="2335696"/>
            <a:ext cx="4749800" cy="165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1785" y="4721087"/>
            <a:ext cx="2705100" cy="5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Checkbox</a:t>
            </a:r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257800" cy="4258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checkbox is shown as a square box that is ticked (checked) when activated.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Checkboxes are used to let a user select one or more options of a limited number of choices.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When your form has several checkboxes with the same name, make sure that they have different values, or the web server scripts will not be able to distinguish them.</a:t>
            </a:r>
            <a:endParaRPr dirty="0"/>
          </a:p>
          <a:p>
            <a:pPr marL="22860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/>
          </a:p>
        </p:txBody>
      </p:sp>
      <p:sp>
        <p:nvSpPr>
          <p:cNvPr id="245" name="Google Shape;245;p20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46" name="Google Shape;24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4992" y="2072907"/>
            <a:ext cx="5064502" cy="3602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Radio</a:t>
            </a:r>
            <a:endParaRPr/>
          </a:p>
        </p:txBody>
      </p:sp>
      <p:sp>
        <p:nvSpPr>
          <p:cNvPr id="252" name="Google Shape;252;p21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551396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Radio buttons are normally presented in groups (a collection of radio buttons describing a set of related options).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Only one </a:t>
            </a:r>
            <a:r>
              <a:rPr lang="en-US" sz="2400"/>
              <a:t>radio button in the a group can be selected at the same time.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Radio buttons in one group must have a same name.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Not setting the name attributes of the radio buttons in a group to the same name is a logic error, because it lets the user select all of the radio buttons at the same time.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53" name="Google Shape;253;p21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54" name="Google Shape;25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5788" y="1588442"/>
            <a:ext cx="5513966" cy="4453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830D-F196-4DBD-BC1B-BDE6DCE83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For…	works for Checkbox &amp; Radio button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31011-8EB2-443D-BC23-D5A6F767D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US"/>
              <a:t>There are two ways to make sure the user can click on the words and not just the radio button or checkbox.</a:t>
            </a:r>
          </a:p>
          <a:p>
            <a:r>
              <a:rPr lang="en-US"/>
              <a:t>Nesting – enclose the input element inside a pair of labels (This is shown in the two previous slides)</a:t>
            </a:r>
          </a:p>
          <a:p>
            <a:r>
              <a:rPr lang="en-US"/>
              <a:t>Use the For structure to match the ids of the label and the input</a:t>
            </a:r>
          </a:p>
          <a:p>
            <a:pPr marL="114300" indent="0">
              <a:buNone/>
            </a:pPr>
            <a:r>
              <a:rPr lang="en-US"/>
              <a:t>	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"one-way"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One Way</a:t>
            </a:r>
          </a:p>
          <a:p>
            <a:pPr marL="1719263" indent="0">
              <a:buNone/>
              <a:tabLst>
                <a:tab pos="1660525" algn="l"/>
              </a:tabLs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"one-way"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"flighttype“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"one-way"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&amp;nbsp;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"two-way"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Two Way</a:t>
            </a:r>
          </a:p>
          <a:p>
            <a:pPr marL="1662113" indent="0">
              <a:buNone/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"two-way"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"flighttype"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               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"two-way"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C0EF8-CBB4-44C1-A92E-044EFF988B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09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Input Type Select</a:t>
            </a:r>
            <a:endParaRPr/>
          </a:p>
        </p:txBody>
      </p:sp>
      <p:sp>
        <p:nvSpPr>
          <p:cNvPr id="260" name="Google Shape;260;p22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838200" y="1825625"/>
            <a:ext cx="594028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&lt;select&gt; element is used to create a drop-down list.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Multi-select list can be created with multiple attribute.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attribute defines the number of visible options in a drop-down list.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Specifies that the drop-down list should automatically get focus when the page loads.</a:t>
            </a:r>
            <a:endParaRPr/>
          </a:p>
        </p:txBody>
      </p:sp>
      <p:pic>
        <p:nvPicPr>
          <p:cNvPr id="262" name="Google Shape;26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6339" y="1690687"/>
            <a:ext cx="4956434" cy="2982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0416" y="4672822"/>
            <a:ext cx="2320662" cy="1131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Textarea</a:t>
            </a:r>
            <a:endParaRPr/>
          </a:p>
        </p:txBody>
      </p:sp>
      <p:sp>
        <p:nvSpPr>
          <p:cNvPr id="269" name="Google Shape;269;p23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85801" y="1782231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9728" marR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2400"/>
              <a:buFont typeface="Noto Sans Symbols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Form Elements</a:t>
            </a:r>
            <a:endParaRPr dirty="0"/>
          </a:p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textarea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element inserts a </a:t>
            </a:r>
            <a:r>
              <a:rPr lang="en-US" sz="2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multiline text area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the form. </a:t>
            </a:r>
            <a:endParaRPr dirty="0"/>
          </a:p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rows is specified with the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attribute, and the number of columns (i.e., characters per line) with the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attribute. </a:t>
            </a:r>
            <a:endParaRPr dirty="0"/>
          </a:p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 text can be specified in other input types, such as text fields, by using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placeholder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attribute.</a:t>
            </a:r>
            <a:endParaRPr dirty="0"/>
          </a:p>
        </p:txBody>
      </p:sp>
      <p:pic>
        <p:nvPicPr>
          <p:cNvPr id="271" name="Google Shape;27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51713" y="4134678"/>
            <a:ext cx="4888684" cy="171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Autofocus</a:t>
            </a:r>
            <a:endParaRPr/>
          </a:p>
        </p:txBody>
      </p:sp>
      <p:sp>
        <p:nvSpPr>
          <p:cNvPr id="277" name="Google Shape;277;p24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685801" y="1782231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6525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autofocus Attribute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autofocus attribute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—an optional attribute that can be used in only one input element on a form—automatically gives the focus to the input element, allowing the user to begin typing in that element immediately. </a:t>
            </a:r>
          </a:p>
          <a:p>
            <a:pPr marL="342900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If entered in more than 1 field, the first in order receives the focus.</a:t>
            </a:r>
            <a:endParaRPr/>
          </a:p>
          <a:p>
            <a:pPr marL="342900" marR="0" lvl="0" indent="-190500" algn="l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Submit and Reset</a:t>
            </a:r>
            <a:endParaRPr/>
          </a:p>
        </p:txBody>
      </p:sp>
      <p:sp>
        <p:nvSpPr>
          <p:cNvPr id="284" name="Google Shape;284;p25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685801" y="1782232"/>
            <a:ext cx="10829924" cy="260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2628" marR="0" lvl="0" indent="-342900" algn="just" rtl="0">
              <a:lnSpc>
                <a:spcPct val="8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input elements are buttons. </a:t>
            </a:r>
            <a:endParaRPr dirty="0"/>
          </a:p>
          <a:p>
            <a:pPr marL="621792" marR="0" lvl="1" indent="-4762" algn="just" rtl="0">
              <a:lnSpc>
                <a:spcPct val="80000"/>
              </a:lnSpc>
              <a:spcBef>
                <a:spcPts val="152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ubmit button is pressed, the form’s data is sent to the location specified in the form’s action attribute. </a:t>
            </a:r>
          </a:p>
          <a:p>
            <a:pPr marL="452628" lvl="4" indent="-342900" algn="just">
              <a:lnSpc>
                <a:spcPct val="80000"/>
              </a:lnSpc>
              <a:spcBef>
                <a:spcPts val="16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input element allows a user to reset all form elements to their default values.</a:t>
            </a:r>
          </a:p>
          <a:p>
            <a:pPr marL="452628" lvl="4" indent="-342900" algn="just">
              <a:lnSpc>
                <a:spcPct val="80000"/>
              </a:lnSpc>
              <a:spcBef>
                <a:spcPts val="1680"/>
              </a:spcBef>
              <a:buClr>
                <a:schemeClr val="dk1"/>
              </a:buClr>
              <a:buSzPts val="2400"/>
              <a:buFont typeface="Arial"/>
              <a:buChar char="•"/>
            </a:pPr>
            <a:endParaRPr lang="en-US" sz="2400" dirty="0"/>
          </a:p>
          <a:p>
            <a:pPr marL="452628" lvl="4" indent="-342900" algn="just">
              <a:lnSpc>
                <a:spcPct val="80000"/>
              </a:lnSpc>
              <a:spcBef>
                <a:spcPts val="16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Each’s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 sets the text displayed on the button. </a:t>
            </a:r>
            <a:endParaRPr dirty="0"/>
          </a:p>
        </p:txBody>
      </p:sp>
      <p:pic>
        <p:nvPicPr>
          <p:cNvPr id="5" name="Google Shape;121;p4">
            <a:extLst>
              <a:ext uri="{FF2B5EF4-FFF2-40B4-BE49-F238E27FC236}">
                <a16:creationId xmlns:a16="http://schemas.microsoft.com/office/drawing/2014/main" id="{FAF2EDAA-9A47-4DE7-9C51-547C1DE37E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1025" r="49435" b="32413"/>
          <a:stretch/>
        </p:blipFill>
        <p:spPr>
          <a:xfrm>
            <a:off x="8320133" y="4633479"/>
            <a:ext cx="2086137" cy="753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0;p4">
            <a:extLst>
              <a:ext uri="{FF2B5EF4-FFF2-40B4-BE49-F238E27FC236}">
                <a16:creationId xmlns:a16="http://schemas.microsoft.com/office/drawing/2014/main" id="{3C1465AA-89E4-4579-AD50-5A59C68344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65494"/>
          <a:stretch/>
        </p:blipFill>
        <p:spPr>
          <a:xfrm>
            <a:off x="838200" y="4497938"/>
            <a:ext cx="7112000" cy="1293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Form validation</a:t>
            </a:r>
            <a:endParaRPr/>
          </a:p>
        </p:txBody>
      </p:sp>
      <p:sp>
        <p:nvSpPr>
          <p:cNvPr id="291" name="Google Shape;291;p26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685801" y="1782231"/>
            <a:ext cx="1082992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want to bypass validation, you can add the </a:t>
            </a:r>
            <a:r>
              <a:rPr lang="en-US" sz="18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formnovalidate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 to input type submit: </a:t>
            </a:r>
            <a:endParaRPr/>
          </a:p>
          <a:p>
            <a:pPr marL="0" marR="0" lvl="0" indent="0" algn="ctr" rtl="0">
              <a:spcBef>
                <a:spcPts val="1560"/>
              </a:spcBef>
              <a:spcAft>
                <a:spcPts val="0"/>
              </a:spcAft>
              <a:buClr>
                <a:srgbClr val="7B7B7B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&lt;input type = "submit" value = "Submit" formnovalidate /&gt;</a:t>
            </a:r>
            <a:endParaRPr/>
          </a:p>
          <a:p>
            <a:pPr marL="630238" marR="0" lvl="2" indent="0" algn="l" rtl="0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FF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11113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solution is to add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novalidate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 to the form:</a:t>
            </a:r>
            <a:endParaRPr/>
          </a:p>
          <a:p>
            <a:pPr marL="11113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113" marR="0" lvl="2" indent="0" algn="ctr" rtl="0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&lt;form method="post" action="mailto:abc@xyz.ca" novalidate&gt;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98" name="Google Shape;298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Write a code to generate this form.</a:t>
            </a:r>
            <a:endParaRPr/>
          </a:p>
        </p:txBody>
      </p:sp>
      <p:sp>
        <p:nvSpPr>
          <p:cNvPr id="299" name="Google Shape;299;p27"/>
          <p:cNvSpPr txBox="1">
            <a:spLocks noGrp="1"/>
          </p:cNvSpPr>
          <p:nvPr>
            <p:ph type="sldNum" idx="12"/>
          </p:nvPr>
        </p:nvSpPr>
        <p:spPr>
          <a:xfrm>
            <a:off x="11140397" y="6399738"/>
            <a:ext cx="712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00" name="Google Shape;300;p27" descr="iw3htp5_02_HTML5_pt1_Page_53"/>
          <p:cNvPicPr preferRelativeResize="0"/>
          <p:nvPr/>
        </p:nvPicPr>
        <p:blipFill rotWithShape="1">
          <a:blip r:embed="rId3">
            <a:alphaModFix/>
          </a:blip>
          <a:srcRect l="4195" t="15645" r="50100" b="12822"/>
          <a:stretch/>
        </p:blipFill>
        <p:spPr>
          <a:xfrm>
            <a:off x="6626815" y="755374"/>
            <a:ext cx="5225957" cy="549317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C640F1-8E22-4A47-BA23-21253AA89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363" y="309006"/>
            <a:ext cx="6548437" cy="327421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9D4D011-EA26-3F41-B93D-63422CD0516C}"/>
              </a:ext>
            </a:extLst>
          </p:cNvPr>
          <p:cNvSpPr txBox="1">
            <a:spLocks/>
          </p:cNvSpPr>
          <p:nvPr/>
        </p:nvSpPr>
        <p:spPr>
          <a:xfrm>
            <a:off x="3464656" y="3583225"/>
            <a:ext cx="4967844" cy="19526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</a:rPr>
              <a:t>Any Question?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04D0F-C849-BA45-AC7C-713B118D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8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2014</Words>
  <Application>Microsoft Office PowerPoint</Application>
  <PresentationFormat>Widescreen</PresentationFormat>
  <Paragraphs>202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Consolas</vt:lpstr>
      <vt:lpstr>Droid Sans Mono</vt:lpstr>
      <vt:lpstr>Noto Sans Symbols</vt:lpstr>
      <vt:lpstr>Office Theme</vt:lpstr>
      <vt:lpstr>Form Design in HTML</vt:lpstr>
      <vt:lpstr>Objectives</vt:lpstr>
      <vt:lpstr>Introducing Forms</vt:lpstr>
      <vt:lpstr>Forms</vt:lpstr>
      <vt:lpstr>Method</vt:lpstr>
      <vt:lpstr>GET vs POST</vt:lpstr>
      <vt:lpstr>Action</vt:lpstr>
      <vt:lpstr>Add a Frame to the Form</vt:lpstr>
      <vt:lpstr>Input</vt:lpstr>
      <vt:lpstr>Input type: Text</vt:lpstr>
      <vt:lpstr>Input Type Password</vt:lpstr>
      <vt:lpstr>Input Type Email</vt:lpstr>
      <vt:lpstr>Input Type Email</vt:lpstr>
      <vt:lpstr>Input Type Tel</vt:lpstr>
      <vt:lpstr>Input Type Number</vt:lpstr>
      <vt:lpstr>Input Type Range</vt:lpstr>
      <vt:lpstr>Color Input Type </vt:lpstr>
      <vt:lpstr>Input Type Date </vt:lpstr>
      <vt:lpstr>Input Type Search</vt:lpstr>
      <vt:lpstr>Input Type File</vt:lpstr>
      <vt:lpstr>Input Type Checkbox</vt:lpstr>
      <vt:lpstr>Input Type Radio</vt:lpstr>
      <vt:lpstr>For… works for Checkbox &amp; Radio button</vt:lpstr>
      <vt:lpstr>Input Type Select</vt:lpstr>
      <vt:lpstr>Textarea</vt:lpstr>
      <vt:lpstr>Autofocus</vt:lpstr>
      <vt:lpstr>Submit and Reset</vt:lpstr>
      <vt:lpstr>Form validation</vt:lpstr>
      <vt:lpstr>Exercise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Design in HTML</dc:title>
  <dc:creator>Yasaman Amannejad</dc:creator>
  <cp:lastModifiedBy>Jim Davis</cp:lastModifiedBy>
  <cp:revision>11</cp:revision>
  <dcterms:created xsi:type="dcterms:W3CDTF">2018-06-11T03:49:54Z</dcterms:created>
  <dcterms:modified xsi:type="dcterms:W3CDTF">2026-01-21T21:04:15Z</dcterms:modified>
</cp:coreProperties>
</file>