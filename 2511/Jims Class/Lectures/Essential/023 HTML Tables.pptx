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75" r:id="rId3"/>
    <p:sldId id="576" r:id="rId4"/>
    <p:sldId id="577" r:id="rId5"/>
    <p:sldId id="578" r:id="rId6"/>
    <p:sldId id="579" r:id="rId7"/>
    <p:sldId id="580" r:id="rId8"/>
    <p:sldId id="581" r:id="rId9"/>
    <p:sldId id="571" r:id="rId10"/>
    <p:sldId id="572" r:id="rId11"/>
    <p:sldId id="404" r:id="rId12"/>
    <p:sldId id="573" r:id="rId13"/>
    <p:sldId id="574" r:id="rId14"/>
    <p:sldId id="410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aman Amannejad" initials="YA" lastIdx="2" clrIdx="0">
    <p:extLst>
      <p:ext uri="{19B8F6BF-5375-455C-9EA6-DF929625EA0E}">
        <p15:presenceInfo xmlns:p15="http://schemas.microsoft.com/office/powerpoint/2012/main" userId="84858ff3-2816-48bf-a4b3-189216645a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7-24T21:32:19.067" idx="2">
    <p:pos x="3681" y="-270"/>
    <p:text>Add a more complete list</p:text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3EAC-5BFE-4786-B23B-D8E41B8E7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1A143-C777-48FF-B601-627B68DD8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99D1C-48B8-4BD3-B606-60875F64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34CD-5E35-4FAD-9905-3E134802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B3BEA-7E77-46F0-8A78-33420D6F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5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C560-83E5-4838-B1F2-8C4063D49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562FC-016E-47DA-918A-76B97E967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53C95-EBBB-4E99-9FA3-E8F64846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49CFF-B07A-4805-849D-B599EF054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F1AD-AA9B-40B1-87AD-A9041CFE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1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B355-DAC9-4002-BC41-871240BA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EB78C-B76D-4A0B-A042-CE66D4EDB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08815-345E-41CD-9F16-CA966619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9225E-915D-4B75-99A7-42B7C017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6812E-5573-4604-A56B-52BF9746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5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3773E-E92F-4F90-A7F6-97A216222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F8BC-9C5D-4769-BA91-2489182BB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937A6-1313-41EA-B161-877FC6309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9F233-D37C-4A9E-88CE-0D28233E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DA2B0-51F5-4BD0-A482-CF4C4B5C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FE336-A6D6-4EF1-BE7C-3F225AD4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1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635E-B7FE-4CC2-9859-BD4CD4B03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7324A-531D-43E9-918E-F507926D4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9BC4C-BE91-493F-A576-F4AAF2EB1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AD228-09C7-482E-96DC-B93E4FC5A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C7B097-EA06-4161-85DA-11B0E2F84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0888A5-7C44-4C5B-9101-FF3E0A18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BCA351-143F-434C-8EF1-0FA4C9262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C16BC-E2A5-4A2E-BB70-A3707F86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6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108D-0682-4918-B0D7-1F2546166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E44898-34BA-40B2-A283-5BC35B3C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701DA-9213-40C0-987E-C205F3D6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8B27F-8D2A-46BB-A185-15143146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83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AFFDB4-8AE7-45B7-B12B-5E9C9F43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EBC15-8C4C-4FA9-B3C7-3037242B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D7BCF-6570-4DD8-B06E-B2738529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9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B6C3-406B-4FD7-8703-0F083C89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A9031-B8BE-4AB9-BBAE-2F4CE5BF6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E241A-8428-47F5-B499-1127C5220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23E86-865C-406F-BE7B-D61B66DD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2BF27-7C57-4CC8-816A-BC7F4D29A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73828-576B-4D7D-889E-D9C8B8DEC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2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CE5F3-5BF3-4D4D-A31B-5E46E229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B669E-F16E-40E6-A49C-1B129E8A9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ED356-4480-4EA5-94E7-9CD20977D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CF0B4-1692-4DCB-B187-1D86CA81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8183B-AFAE-4553-B9E8-55C2067A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6A086-7F23-4CA5-BA45-74B077AD7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0548-A57F-4231-842A-6CFC9CBA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3612A-D6B6-4B34-ACF1-7764CA3B3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D9834-2E0C-4DB5-8C8F-68660334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113A3-29FE-4FBF-BCFC-ED378C8DD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119BA-A08A-4417-AA02-D512A581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20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A3B647-F562-49B7-B93D-BE670AEEC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8D3A7-E53F-47C9-95FE-2A8EBA0FA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83A06-08D1-45A6-90B4-E2F3DF27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5155D-8CEC-4C0B-8567-46ADD2917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6976B-9332-4FE5-A6E3-D69BE7BD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0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C6A48-4B26-4ACA-9F5C-4C0756CEB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99A30-2891-46CA-B6DC-45EBDC872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EEB5E-0E0E-48CA-9A31-0FF3F6EF8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8DC99-6601-4D9A-96B0-48E39CBC62B2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D32C0-5D2C-4A92-9DFC-D35924C07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44881-3D63-444D-923E-A6F04702F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552DB-E14E-48D5-BA91-B0A463530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3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66EA-9F4C-41BC-9DED-EAE4D7DA9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HTML Tables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E5BCC6-8A8A-4C4B-BCCD-43B9C86EF0C8}"/>
              </a:ext>
            </a:extLst>
          </p:cNvPr>
          <p:cNvSpPr/>
          <p:nvPr/>
        </p:nvSpPr>
        <p:spPr>
          <a:xfrm>
            <a:off x="1603248" y="405249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dirty="0" err="1"/>
              <a:t>Yasaman</a:t>
            </a:r>
            <a:r>
              <a:rPr lang="en-US" b="1" i="0" dirty="0"/>
              <a:t> </a:t>
            </a:r>
            <a:r>
              <a:rPr lang="en-US" b="1" i="0" dirty="0" err="1"/>
              <a:t>Amannejad</a:t>
            </a:r>
            <a:r>
              <a:rPr lang="en-US" b="1" i="0" dirty="0"/>
              <a:t>,</a:t>
            </a:r>
          </a:p>
          <a:p>
            <a:r>
              <a:rPr lang="en-US" b="1" i="0" dirty="0"/>
              <a:t>Department of Mathematics and Computing,</a:t>
            </a:r>
          </a:p>
          <a:p>
            <a:r>
              <a:rPr lang="en-US" b="1" i="0" dirty="0"/>
              <a:t>Mount Royal University</a:t>
            </a:r>
          </a:p>
          <a:p>
            <a:r>
              <a:rPr lang="en-US" b="1" dirty="0"/>
              <a:t>Modified by Jim Davis</a:t>
            </a:r>
            <a:endParaRPr lang="en-US" b="1" i="0" dirty="0"/>
          </a:p>
        </p:txBody>
      </p:sp>
      <p:sp>
        <p:nvSpPr>
          <p:cNvPr id="5" name="L-Shape 4">
            <a:extLst>
              <a:ext uri="{FF2B5EF4-FFF2-40B4-BE49-F238E27FC236}">
                <a16:creationId xmlns:a16="http://schemas.microsoft.com/office/drawing/2014/main" id="{39AD605D-20A9-4D3C-85B7-A2B41CE14B13}"/>
              </a:ext>
            </a:extLst>
          </p:cNvPr>
          <p:cNvSpPr/>
          <p:nvPr/>
        </p:nvSpPr>
        <p:spPr bwMode="auto">
          <a:xfrm rot="10800000">
            <a:off x="1530927" y="1664897"/>
            <a:ext cx="9220200" cy="1074948"/>
          </a:xfrm>
          <a:prstGeom prst="corner">
            <a:avLst>
              <a:gd name="adj1" fmla="val 3211"/>
              <a:gd name="adj2" fmla="val 2774"/>
            </a:avLst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" name="L-Shape 5">
            <a:extLst>
              <a:ext uri="{FF2B5EF4-FFF2-40B4-BE49-F238E27FC236}">
                <a16:creationId xmlns:a16="http://schemas.microsoft.com/office/drawing/2014/main" id="{9E2F4EFE-D536-433B-BA5F-517B6B7529F9}"/>
              </a:ext>
            </a:extLst>
          </p:cNvPr>
          <p:cNvSpPr/>
          <p:nvPr/>
        </p:nvSpPr>
        <p:spPr bwMode="auto">
          <a:xfrm>
            <a:off x="1524000" y="4264760"/>
            <a:ext cx="9144000" cy="1085115"/>
          </a:xfrm>
          <a:prstGeom prst="corner">
            <a:avLst>
              <a:gd name="adj1" fmla="val 3211"/>
              <a:gd name="adj2" fmla="val 2774"/>
            </a:avLst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A212B1-440B-4627-A8FF-DF2A102F7A49}"/>
              </a:ext>
            </a:extLst>
          </p:cNvPr>
          <p:cNvSpPr/>
          <p:nvPr/>
        </p:nvSpPr>
        <p:spPr>
          <a:xfrm>
            <a:off x="1603248" y="17728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COMP 2511 - </a:t>
            </a:r>
            <a:r>
              <a:rPr lang="en-CA" b="1" dirty="0"/>
              <a:t>Web I: Client Development 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4394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621792" lvl="1" algn="just">
              <a:spcBef>
                <a:spcPts val="324"/>
              </a:spcBef>
              <a:defRPr/>
            </a:pPr>
            <a:r>
              <a:rPr lang="en-US" dirty="0"/>
              <a:t>Tables are frequently used to organize data into </a:t>
            </a:r>
            <a:r>
              <a:rPr lang="en-US" i="1" dirty="0"/>
              <a:t>rows</a:t>
            </a:r>
            <a:r>
              <a:rPr lang="en-US" dirty="0"/>
              <a:t> and </a:t>
            </a:r>
            <a:r>
              <a:rPr lang="en-US" i="1" dirty="0"/>
              <a:t>columns</a:t>
            </a:r>
            <a:r>
              <a:rPr lang="en-US" dirty="0"/>
              <a:t>. </a:t>
            </a:r>
          </a:p>
          <a:p>
            <a:pPr marL="621792" lvl="1" algn="just">
              <a:spcBef>
                <a:spcPts val="324"/>
              </a:spcBef>
              <a:defRPr/>
            </a:pPr>
            <a:r>
              <a:rPr lang="en-US" dirty="0"/>
              <a:t>The table element defines an HTML5 table</a:t>
            </a:r>
          </a:p>
          <a:p>
            <a:pPr marL="621792" lvl="1" algn="just">
              <a:spcBef>
                <a:spcPts val="324"/>
              </a:spcBef>
              <a:defRPr/>
            </a:pPr>
            <a:r>
              <a:rPr lang="en-US" dirty="0"/>
              <a:t>The summary attribute summarizes the table’s contents and is used by speech devices to make the table more accessible to users with visual impairments.</a:t>
            </a:r>
          </a:p>
          <a:p>
            <a:pPr marL="621792" lvl="1" algn="just">
              <a:spcBef>
                <a:spcPts val="324"/>
              </a:spcBef>
              <a:defRPr/>
            </a:pPr>
            <a:r>
              <a:rPr lang="en-US" dirty="0"/>
              <a:t>The caption element specifies a table’s title.</a:t>
            </a:r>
          </a:p>
          <a:p>
            <a:pPr marL="621792" lvl="1" algn="just">
              <a:spcBef>
                <a:spcPts val="324"/>
              </a:spcBef>
              <a:defRPr/>
            </a:pPr>
            <a:endParaRPr lang="en-US" dirty="0"/>
          </a:p>
          <a:p>
            <a:pPr marL="621792" lvl="1" algn="just">
              <a:spcBef>
                <a:spcPts val="324"/>
              </a:spcBef>
              <a:defRPr/>
            </a:pPr>
            <a:r>
              <a:rPr lang="en-US" dirty="0"/>
              <a:t>It’s good practice to include a general description of a table’s information in the table element’s </a:t>
            </a:r>
            <a:r>
              <a:rPr lang="en-US" b="1" dirty="0"/>
              <a:t>summary</a:t>
            </a:r>
            <a:r>
              <a:rPr lang="en-US" dirty="0"/>
              <a:t> attribute—one of the many HTML5 features that make web pages more accessible to users with disabilities.</a:t>
            </a:r>
          </a:p>
          <a:p>
            <a:pPr marL="859536" lvl="2" algn="just">
              <a:buFont typeface="Wingdings 2"/>
              <a:buChar char=""/>
              <a:defRPr/>
            </a:pPr>
            <a:r>
              <a:rPr lang="en-US" dirty="0"/>
              <a:t>Speech devices use this attribute to make the table more accessible to users with visual impairments.</a:t>
            </a:r>
          </a:p>
          <a:p>
            <a:pPr marL="630936" lvl="2" indent="0" algn="just">
              <a:buNone/>
              <a:defRPr/>
            </a:pPr>
            <a:r>
              <a:rPr lang="en-US" dirty="0"/>
              <a:t>&lt;table summary=“Monthly savings for the Franks family”&gt;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5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A table can be split into three distinct sections: </a:t>
            </a:r>
          </a:p>
          <a:p>
            <a:pPr lvl="1"/>
            <a:r>
              <a:rPr lang="en-US" altLang="en-US" dirty="0"/>
              <a:t>Head (</a:t>
            </a:r>
            <a:r>
              <a:rPr lang="en-US" altLang="en-US" dirty="0" err="1"/>
              <a:t>thead</a:t>
            </a:r>
            <a:r>
              <a:rPr lang="en-US" altLang="en-US" dirty="0"/>
              <a:t> element)</a:t>
            </a:r>
          </a:p>
          <a:p>
            <a:pPr lvl="2"/>
            <a:r>
              <a:rPr lang="en-US" altLang="en-US" dirty="0"/>
              <a:t>Table titles</a:t>
            </a:r>
          </a:p>
          <a:p>
            <a:pPr lvl="2"/>
            <a:r>
              <a:rPr lang="en-US" altLang="en-US" dirty="0"/>
              <a:t>Column headers</a:t>
            </a:r>
          </a:p>
          <a:p>
            <a:pPr lvl="1"/>
            <a:r>
              <a:rPr lang="en-US" altLang="en-US" dirty="0"/>
              <a:t>Body (</a:t>
            </a:r>
            <a:r>
              <a:rPr lang="en-US" altLang="en-US" dirty="0" err="1"/>
              <a:t>tbody</a:t>
            </a:r>
            <a:r>
              <a:rPr lang="en-US" altLang="en-US" dirty="0"/>
              <a:t> element)</a:t>
            </a:r>
          </a:p>
          <a:p>
            <a:pPr lvl="2"/>
            <a:r>
              <a:rPr lang="en-US" altLang="en-US" dirty="0"/>
              <a:t>Primary table data</a:t>
            </a:r>
          </a:p>
          <a:p>
            <a:pPr lvl="1"/>
            <a:r>
              <a:rPr lang="en-US" altLang="en-US" dirty="0"/>
              <a:t>Table Foot (</a:t>
            </a:r>
            <a:r>
              <a:rPr lang="en-US" altLang="en-US" dirty="0" err="1"/>
              <a:t>tfoot</a:t>
            </a:r>
            <a:r>
              <a:rPr lang="en-US" altLang="en-US" dirty="0"/>
              <a:t> element)</a:t>
            </a:r>
          </a:p>
          <a:p>
            <a:pPr lvl="2"/>
            <a:r>
              <a:rPr lang="en-US" altLang="en-US" dirty="0"/>
              <a:t>Calculation results</a:t>
            </a:r>
          </a:p>
          <a:p>
            <a:pPr lvl="2"/>
            <a:r>
              <a:rPr lang="en-US" altLang="en-US" dirty="0"/>
              <a:t>Footnotes</a:t>
            </a:r>
          </a:p>
          <a:p>
            <a:pPr lvl="2"/>
            <a:r>
              <a:rPr lang="en-US" altLang="en-US" dirty="0"/>
              <a:t>Above body section in the code, but displays at the bottom in the page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5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1" descr="iw3htp5_02_HTML5_pt1_Page_37">
            <a:extLst>
              <a:ext uri="{FF2B5EF4-FFF2-40B4-BE49-F238E27FC236}">
                <a16:creationId xmlns:a16="http://schemas.microsoft.com/office/drawing/2014/main" id="{4EB3DD95-64C1-4049-898A-804F7B669E8D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7" r="27917" b="30684"/>
          <a:stretch/>
        </p:blipFill>
        <p:spPr bwMode="auto">
          <a:xfrm>
            <a:off x="385764" y="38094"/>
            <a:ext cx="5050931" cy="326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" descr="iw3htp5_02_HTML5_pt1_Page_38">
            <a:extLst>
              <a:ext uri="{FF2B5EF4-FFF2-40B4-BE49-F238E27FC236}">
                <a16:creationId xmlns:a16="http://schemas.microsoft.com/office/drawing/2014/main" id="{008FE06E-3D0F-0349-8403-739E7947C5ED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6" r="26511" b="12153"/>
          <a:stretch/>
        </p:blipFill>
        <p:spPr bwMode="auto">
          <a:xfrm>
            <a:off x="957264" y="3024184"/>
            <a:ext cx="4141492" cy="3690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 descr="iw3htp5_02_HTML5_pt1_Page_39">
            <a:extLst>
              <a:ext uri="{FF2B5EF4-FFF2-40B4-BE49-F238E27FC236}">
                <a16:creationId xmlns:a16="http://schemas.microsoft.com/office/drawing/2014/main" id="{D71C18D1-5042-E841-9E61-8B675D75EE9A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5" r="49324" b="40720"/>
          <a:stretch/>
        </p:blipFill>
        <p:spPr bwMode="auto">
          <a:xfrm>
            <a:off x="7272333" y="366715"/>
            <a:ext cx="3464978" cy="2800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 descr="iw3htp5_02_HTML5_pt1_Page_40">
            <a:extLst>
              <a:ext uri="{FF2B5EF4-FFF2-40B4-BE49-F238E27FC236}">
                <a16:creationId xmlns:a16="http://schemas.microsoft.com/office/drawing/2014/main" id="{493ADBD8-CDBA-0342-8EA3-66B097914F11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0" t="5490" r="29792" b="27596"/>
          <a:stretch/>
        </p:blipFill>
        <p:spPr bwMode="auto">
          <a:xfrm>
            <a:off x="6008195" y="2850204"/>
            <a:ext cx="5761258" cy="4007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5044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tr</a:t>
            </a:r>
            <a:r>
              <a:rPr lang="en-US" altLang="en-US" dirty="0"/>
              <a:t> Element </a:t>
            </a:r>
          </a:p>
          <a:p>
            <a:pPr lvl="1"/>
            <a:r>
              <a:rPr lang="en-US" altLang="en-US" dirty="0"/>
              <a:t>Defines individual table rows</a:t>
            </a:r>
          </a:p>
          <a:p>
            <a:pPr lvl="1"/>
            <a:r>
              <a:rPr lang="en-US" altLang="en-US" dirty="0"/>
              <a:t>Element </a:t>
            </a:r>
            <a:r>
              <a:rPr lang="en-US" altLang="en-US" dirty="0" err="1"/>
              <a:t>th</a:t>
            </a:r>
            <a:endParaRPr lang="en-US" altLang="en-US" dirty="0"/>
          </a:p>
          <a:p>
            <a:pPr lvl="2"/>
            <a:r>
              <a:rPr lang="en-US" altLang="en-US" dirty="0"/>
              <a:t>Defines a header cell</a:t>
            </a:r>
          </a:p>
          <a:p>
            <a:r>
              <a:rPr lang="en-US" altLang="en-US" dirty="0"/>
              <a:t>Td Element </a:t>
            </a:r>
          </a:p>
          <a:p>
            <a:pPr lvl="1"/>
            <a:r>
              <a:rPr lang="en-US" altLang="en-US" dirty="0"/>
              <a:t>Contains table data elements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10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891838" cy="4351338"/>
          </a:xfrm>
        </p:spPr>
        <p:txBody>
          <a:bodyPr>
            <a:normAutofit fontScale="92500" lnSpcReduction="20000"/>
          </a:bodyPr>
          <a:lstStyle/>
          <a:p>
            <a:pPr marL="109728" indent="0" algn="just">
              <a:buNone/>
              <a:defRPr/>
            </a:pPr>
            <a:r>
              <a:rPr lang="en-US" b="1" i="1" dirty="0"/>
              <a:t>Using </a:t>
            </a:r>
            <a:r>
              <a:rPr lang="en-US" b="1" i="1" dirty="0" err="1"/>
              <a:t>rowspan</a:t>
            </a:r>
            <a:r>
              <a:rPr lang="en-US" b="1" i="1" dirty="0"/>
              <a:t> and </a:t>
            </a:r>
            <a:r>
              <a:rPr lang="en-US" b="1" i="1" dirty="0" err="1"/>
              <a:t>colspan</a:t>
            </a:r>
            <a:r>
              <a:rPr lang="en-US" b="1" i="1" dirty="0"/>
              <a:t> with Tables</a:t>
            </a:r>
          </a:p>
          <a:p>
            <a:pPr marL="566928" indent="-457200" algn="just">
              <a:defRPr/>
            </a:pPr>
            <a:r>
              <a:rPr lang="en-US" dirty="0"/>
              <a:t>Figure 2.13 introduces two new attributes that allow you to build more complex tables.</a:t>
            </a:r>
          </a:p>
          <a:p>
            <a:pPr marL="566928" indent="-457200" algn="just">
              <a:defRPr/>
            </a:pPr>
            <a:r>
              <a:rPr lang="en-US" dirty="0"/>
              <a:t>You can merge data cells with the </a:t>
            </a:r>
            <a:r>
              <a:rPr lang="en-US" dirty="0" err="1"/>
              <a:t>rowspan</a:t>
            </a:r>
            <a:r>
              <a:rPr lang="en-US" dirty="0"/>
              <a:t> and </a:t>
            </a:r>
            <a:r>
              <a:rPr lang="en-US" dirty="0" err="1"/>
              <a:t>colspan</a:t>
            </a:r>
            <a:r>
              <a:rPr lang="en-US" dirty="0"/>
              <a:t> attributes</a:t>
            </a:r>
          </a:p>
          <a:p>
            <a:pPr marL="736092" lvl="1" indent="-342900" algn="just">
              <a:spcBef>
                <a:spcPts val="324"/>
              </a:spcBef>
              <a:buFont typeface="Courier New" panose="02070309020205020404" pitchFamily="49" charset="0"/>
              <a:buChar char="o"/>
              <a:defRPr/>
            </a:pPr>
            <a:r>
              <a:rPr lang="en-US" dirty="0"/>
              <a:t>The values of these attributes specify the number of rows or columns occupied by the cell.</a:t>
            </a:r>
          </a:p>
          <a:p>
            <a:pPr marL="736092" lvl="1" indent="-342900" algn="just">
              <a:spcBef>
                <a:spcPts val="324"/>
              </a:spcBef>
              <a:buFont typeface="Courier New" panose="02070309020205020404" pitchFamily="49" charset="0"/>
              <a:buChar char="o"/>
              <a:defRPr/>
            </a:pPr>
            <a:r>
              <a:rPr lang="en-US" dirty="0"/>
              <a:t>Can be placed inside any data cell or table header cell.</a:t>
            </a:r>
          </a:p>
          <a:p>
            <a:pPr marL="566928" indent="-457200" algn="just">
              <a:defRPr/>
            </a:pPr>
            <a:r>
              <a:rPr lang="en-US" dirty="0"/>
              <a:t>The </a:t>
            </a:r>
            <a:r>
              <a:rPr lang="en-US" dirty="0" err="1"/>
              <a:t>br</a:t>
            </a:r>
            <a:r>
              <a:rPr lang="en-US" dirty="0"/>
              <a:t> element is render as a line break in most browsers—any markup or text following a </a:t>
            </a:r>
            <a:r>
              <a:rPr lang="en-US" dirty="0" err="1"/>
              <a:t>br</a:t>
            </a:r>
            <a:r>
              <a:rPr lang="en-US" dirty="0"/>
              <a:t> element is rendered on the next line.</a:t>
            </a:r>
          </a:p>
          <a:p>
            <a:pPr marL="566928" indent="-457200" algn="just">
              <a:defRPr/>
            </a:pPr>
            <a:r>
              <a:rPr lang="en-US" dirty="0"/>
              <a:t>Like the </a:t>
            </a:r>
            <a:r>
              <a:rPr lang="en-US" dirty="0" err="1"/>
              <a:t>img</a:t>
            </a:r>
            <a:r>
              <a:rPr lang="en-US" dirty="0"/>
              <a:t> element, </a:t>
            </a:r>
            <a:r>
              <a:rPr lang="en-US" dirty="0" err="1"/>
              <a:t>br</a:t>
            </a:r>
            <a:r>
              <a:rPr lang="en-US" dirty="0"/>
              <a:t> is an example of a void element. </a:t>
            </a:r>
          </a:p>
          <a:p>
            <a:pPr marL="566928" indent="-457200" algn="just">
              <a:defRPr/>
            </a:pPr>
            <a:r>
              <a:rPr lang="en-US" dirty="0"/>
              <a:t>Like the </a:t>
            </a:r>
            <a:r>
              <a:rPr lang="en-US" dirty="0" err="1"/>
              <a:t>hr</a:t>
            </a:r>
            <a:r>
              <a:rPr lang="en-US" dirty="0"/>
              <a:t> element, </a:t>
            </a:r>
            <a:r>
              <a:rPr lang="en-US" dirty="0" err="1"/>
              <a:t>br</a:t>
            </a:r>
            <a:r>
              <a:rPr lang="en-US" dirty="0"/>
              <a:t> is considered a legacy formatting element that you should avoid using—in general, formatting should be specified using CSS.</a:t>
            </a:r>
          </a:p>
          <a:p>
            <a:pPr marL="859536" lvl="2" algn="just">
              <a:buFont typeface="Wingdings 2"/>
              <a:buChar char=""/>
              <a:defRPr/>
            </a:pPr>
            <a:endParaRPr lang="en-US" dirty="0"/>
          </a:p>
          <a:p>
            <a:pPr marL="621792" lvl="1" algn="just">
              <a:spcBef>
                <a:spcPts val="324"/>
              </a:spcBef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1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1" descr="iw3htp5_02_HTML5_pt1_Page_41">
            <a:extLst>
              <a:ext uri="{FF2B5EF4-FFF2-40B4-BE49-F238E27FC236}">
                <a16:creationId xmlns:a16="http://schemas.microsoft.com/office/drawing/2014/main" id="{5AADC5E3-2821-0940-801F-FD48B8F637CB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1" r="33854" b="39434"/>
          <a:stretch/>
        </p:blipFill>
        <p:spPr bwMode="auto">
          <a:xfrm>
            <a:off x="257175" y="0"/>
            <a:ext cx="4697863" cy="2909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" descr="iw3htp5_02_HTML5_pt1_Page_42">
            <a:extLst>
              <a:ext uri="{FF2B5EF4-FFF2-40B4-BE49-F238E27FC236}">
                <a16:creationId xmlns:a16="http://schemas.microsoft.com/office/drawing/2014/main" id="{2A1BEB56-714B-F54D-BB53-1C31103BD0C2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4" r="28542" b="18073"/>
          <a:stretch/>
        </p:blipFill>
        <p:spPr bwMode="auto">
          <a:xfrm>
            <a:off x="485775" y="2552702"/>
            <a:ext cx="4697863" cy="374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 descr="iw3htp5_02_HTML5_pt1_Page_43">
            <a:extLst>
              <a:ext uri="{FF2B5EF4-FFF2-40B4-BE49-F238E27FC236}">
                <a16:creationId xmlns:a16="http://schemas.microsoft.com/office/drawing/2014/main" id="{AA25862F-6FDE-4949-B233-12EAB606C6E8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8" r="41042" b="29911"/>
          <a:stretch/>
        </p:blipFill>
        <p:spPr bwMode="auto">
          <a:xfrm>
            <a:off x="6729405" y="538164"/>
            <a:ext cx="3813451" cy="3090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 descr="iw3htp5_02_HTML5_pt1_Page_44">
            <a:extLst>
              <a:ext uri="{FF2B5EF4-FFF2-40B4-BE49-F238E27FC236}">
                <a16:creationId xmlns:a16="http://schemas.microsoft.com/office/drawing/2014/main" id="{C8F31E0A-15E5-5B4C-80D0-75EF4D3E464A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0" t="3432" r="23542" b="22704"/>
          <a:stretch/>
        </p:blipFill>
        <p:spPr bwMode="auto">
          <a:xfrm>
            <a:off x="6096001" y="3492839"/>
            <a:ext cx="6096000" cy="3365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7426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C640F1-8E22-4A47-BA23-21253AA89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363" y="309006"/>
            <a:ext cx="6548437" cy="327421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9D4D011-EA26-3F41-B93D-63422CD0516C}"/>
              </a:ext>
            </a:extLst>
          </p:cNvPr>
          <p:cNvSpPr txBox="1">
            <a:spLocks/>
          </p:cNvSpPr>
          <p:nvPr/>
        </p:nvSpPr>
        <p:spPr>
          <a:xfrm>
            <a:off x="3464656" y="3583225"/>
            <a:ext cx="4967844" cy="19526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</a:rPr>
              <a:t>Any Question?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04D0F-C849-BA45-AC7C-713B118D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1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621792" lvl="1" algn="just">
              <a:spcBef>
                <a:spcPts val="324"/>
              </a:spcBef>
              <a:defRPr/>
            </a:pPr>
            <a:r>
              <a:rPr lang="en-US" dirty="0"/>
              <a:t>Tables are frequently used to organize data into </a:t>
            </a:r>
            <a:r>
              <a:rPr lang="en-US" i="1" dirty="0"/>
              <a:t>rows</a:t>
            </a:r>
            <a:r>
              <a:rPr lang="en-US" dirty="0"/>
              <a:t> and </a:t>
            </a:r>
            <a:r>
              <a:rPr lang="en-US" i="1" dirty="0"/>
              <a:t>columns</a:t>
            </a:r>
            <a:r>
              <a:rPr lang="en-US" dirty="0"/>
              <a:t>. </a:t>
            </a:r>
          </a:p>
          <a:p>
            <a:pPr marL="621792" lvl="1" algn="just">
              <a:spcBef>
                <a:spcPts val="324"/>
              </a:spcBef>
              <a:defRPr/>
            </a:pPr>
            <a:r>
              <a:rPr lang="en-US" dirty="0"/>
              <a:t>The table element defines an HTML5 table</a:t>
            </a:r>
          </a:p>
          <a:p>
            <a:pPr marL="621792" lvl="1" algn="just">
              <a:spcBef>
                <a:spcPts val="324"/>
              </a:spcBef>
              <a:defRPr/>
            </a:pPr>
            <a:r>
              <a:rPr lang="en-US" dirty="0"/>
              <a:t>The summary attribute summarizes the table’s contents and is used by speech devices to make the table more accessible to users with visual impairments.</a:t>
            </a:r>
          </a:p>
          <a:p>
            <a:pPr marL="621792" lvl="1" algn="just">
              <a:spcBef>
                <a:spcPts val="324"/>
              </a:spcBef>
              <a:defRPr/>
            </a:pPr>
            <a:r>
              <a:rPr lang="en-US" dirty="0"/>
              <a:t>The caption element specifies a table’s title.</a:t>
            </a:r>
          </a:p>
          <a:p>
            <a:pPr marL="621792" lvl="1" algn="just">
              <a:spcBef>
                <a:spcPts val="324"/>
              </a:spcBef>
              <a:defRPr/>
            </a:pPr>
            <a:endParaRPr lang="en-US" dirty="0"/>
          </a:p>
          <a:p>
            <a:pPr marL="621792" lvl="1" algn="just">
              <a:spcBef>
                <a:spcPts val="324"/>
              </a:spcBef>
              <a:defRPr/>
            </a:pPr>
            <a:r>
              <a:rPr lang="en-US" dirty="0"/>
              <a:t>It’s good practice to include a general description of a table’s information in the table element’s </a:t>
            </a:r>
            <a:r>
              <a:rPr lang="en-US" b="1" dirty="0"/>
              <a:t>summary</a:t>
            </a:r>
            <a:r>
              <a:rPr lang="en-US" dirty="0"/>
              <a:t> attribute—one of the many HTML5 features that make web pages more accessible to users with disabilities.</a:t>
            </a:r>
          </a:p>
          <a:p>
            <a:pPr marL="859536" lvl="2" algn="just">
              <a:buFont typeface="Wingdings 2"/>
              <a:buChar char=""/>
              <a:defRPr/>
            </a:pPr>
            <a:r>
              <a:rPr lang="en-US" dirty="0"/>
              <a:t>Speech devices use this attribute to make the table more accessible to users with visual impairments.</a:t>
            </a:r>
          </a:p>
          <a:p>
            <a:pPr marL="630936" lvl="2" indent="0" algn="just">
              <a:buNone/>
              <a:defRPr/>
            </a:pPr>
            <a:r>
              <a:rPr lang="en-US" dirty="0"/>
              <a:t>&lt;table summary=“Monthly savings for the Franks family”&gt;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80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A table can be split into three distinct sections: </a:t>
            </a:r>
          </a:p>
          <a:p>
            <a:pPr lvl="1"/>
            <a:r>
              <a:rPr lang="en-US" altLang="en-US" dirty="0"/>
              <a:t>Head (</a:t>
            </a:r>
            <a:r>
              <a:rPr lang="en-US" altLang="en-US" dirty="0" err="1"/>
              <a:t>thead</a:t>
            </a:r>
            <a:r>
              <a:rPr lang="en-US" altLang="en-US" dirty="0"/>
              <a:t> element)</a:t>
            </a:r>
          </a:p>
          <a:p>
            <a:pPr lvl="2"/>
            <a:r>
              <a:rPr lang="en-US" altLang="en-US" dirty="0"/>
              <a:t>Table titles</a:t>
            </a:r>
          </a:p>
          <a:p>
            <a:pPr lvl="2"/>
            <a:r>
              <a:rPr lang="en-US" altLang="en-US" dirty="0"/>
              <a:t>Column headers</a:t>
            </a:r>
          </a:p>
          <a:p>
            <a:pPr lvl="1"/>
            <a:r>
              <a:rPr lang="en-US" altLang="en-US" dirty="0"/>
              <a:t>Body (</a:t>
            </a:r>
            <a:r>
              <a:rPr lang="en-US" altLang="en-US" dirty="0" err="1"/>
              <a:t>tbody</a:t>
            </a:r>
            <a:r>
              <a:rPr lang="en-US" altLang="en-US" dirty="0"/>
              <a:t> element)</a:t>
            </a:r>
          </a:p>
          <a:p>
            <a:pPr lvl="2"/>
            <a:r>
              <a:rPr lang="en-US" altLang="en-US" dirty="0"/>
              <a:t>Primary table data</a:t>
            </a:r>
          </a:p>
          <a:p>
            <a:pPr lvl="1"/>
            <a:r>
              <a:rPr lang="en-US" altLang="en-US" dirty="0"/>
              <a:t>Table Foot (</a:t>
            </a:r>
            <a:r>
              <a:rPr lang="en-US" altLang="en-US" dirty="0" err="1"/>
              <a:t>tfoot</a:t>
            </a:r>
            <a:r>
              <a:rPr lang="en-US" altLang="en-US" dirty="0"/>
              <a:t> element)</a:t>
            </a:r>
          </a:p>
          <a:p>
            <a:pPr lvl="2"/>
            <a:r>
              <a:rPr lang="en-US" altLang="en-US" dirty="0"/>
              <a:t>Calculation results</a:t>
            </a:r>
          </a:p>
          <a:p>
            <a:pPr lvl="2"/>
            <a:r>
              <a:rPr lang="en-US" altLang="en-US" dirty="0"/>
              <a:t>Footnotes</a:t>
            </a:r>
          </a:p>
          <a:p>
            <a:pPr lvl="2"/>
            <a:r>
              <a:rPr lang="en-US" altLang="en-US" dirty="0"/>
              <a:t>Above body section in the code, but displays at the bottom in the page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9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1" descr="iw3htp5_02_HTML5_pt1_Page_37">
            <a:extLst>
              <a:ext uri="{FF2B5EF4-FFF2-40B4-BE49-F238E27FC236}">
                <a16:creationId xmlns:a16="http://schemas.microsoft.com/office/drawing/2014/main" id="{4EB3DD95-64C1-4049-898A-804F7B669E8D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7" r="27917" b="30684"/>
          <a:stretch/>
        </p:blipFill>
        <p:spPr bwMode="auto">
          <a:xfrm>
            <a:off x="385764" y="38094"/>
            <a:ext cx="5050931" cy="326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" descr="iw3htp5_02_HTML5_pt1_Page_38">
            <a:extLst>
              <a:ext uri="{FF2B5EF4-FFF2-40B4-BE49-F238E27FC236}">
                <a16:creationId xmlns:a16="http://schemas.microsoft.com/office/drawing/2014/main" id="{008FE06E-3D0F-0349-8403-739E7947C5ED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6" r="26511" b="12153"/>
          <a:stretch/>
        </p:blipFill>
        <p:spPr bwMode="auto">
          <a:xfrm>
            <a:off x="957264" y="3024184"/>
            <a:ext cx="4141492" cy="3690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 descr="iw3htp5_02_HTML5_pt1_Page_39">
            <a:extLst>
              <a:ext uri="{FF2B5EF4-FFF2-40B4-BE49-F238E27FC236}">
                <a16:creationId xmlns:a16="http://schemas.microsoft.com/office/drawing/2014/main" id="{D71C18D1-5042-E841-9E61-8B675D75EE9A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5" r="49324" b="40720"/>
          <a:stretch/>
        </p:blipFill>
        <p:spPr bwMode="auto">
          <a:xfrm>
            <a:off x="7272333" y="366715"/>
            <a:ext cx="3464978" cy="2800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 descr="iw3htp5_02_HTML5_pt1_Page_40">
            <a:extLst>
              <a:ext uri="{FF2B5EF4-FFF2-40B4-BE49-F238E27FC236}">
                <a16:creationId xmlns:a16="http://schemas.microsoft.com/office/drawing/2014/main" id="{493ADBD8-CDBA-0342-8EA3-66B097914F11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0" t="5490" r="29792" b="27596"/>
          <a:stretch/>
        </p:blipFill>
        <p:spPr bwMode="auto">
          <a:xfrm>
            <a:off x="6240191" y="3143250"/>
            <a:ext cx="5529262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7027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tr</a:t>
            </a:r>
            <a:r>
              <a:rPr lang="en-US" altLang="en-US" dirty="0"/>
              <a:t> Element </a:t>
            </a:r>
          </a:p>
          <a:p>
            <a:pPr lvl="1"/>
            <a:r>
              <a:rPr lang="en-US" altLang="en-US" dirty="0"/>
              <a:t>Defines individual table rows</a:t>
            </a:r>
          </a:p>
          <a:p>
            <a:pPr lvl="1"/>
            <a:r>
              <a:rPr lang="en-US" altLang="en-US" dirty="0"/>
              <a:t>Element </a:t>
            </a:r>
            <a:r>
              <a:rPr lang="en-US" altLang="en-US" dirty="0" err="1"/>
              <a:t>th</a:t>
            </a:r>
            <a:endParaRPr lang="en-US" altLang="en-US" dirty="0"/>
          </a:p>
          <a:p>
            <a:pPr lvl="2"/>
            <a:r>
              <a:rPr lang="en-US" altLang="en-US" dirty="0"/>
              <a:t>Defines a header cell</a:t>
            </a:r>
          </a:p>
          <a:p>
            <a:r>
              <a:rPr lang="en-US" altLang="en-US" dirty="0"/>
              <a:t>Td Element </a:t>
            </a:r>
          </a:p>
          <a:p>
            <a:pPr lvl="1"/>
            <a:r>
              <a:rPr lang="en-US" altLang="en-US" dirty="0"/>
              <a:t>Contains table data elements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72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891838" cy="4351338"/>
          </a:xfrm>
        </p:spPr>
        <p:txBody>
          <a:bodyPr>
            <a:normAutofit fontScale="92500" lnSpcReduction="20000"/>
          </a:bodyPr>
          <a:lstStyle/>
          <a:p>
            <a:pPr marL="109728" indent="0" algn="just">
              <a:buNone/>
              <a:defRPr/>
            </a:pPr>
            <a:r>
              <a:rPr lang="en-US" b="1" i="1" dirty="0"/>
              <a:t>Using </a:t>
            </a:r>
            <a:r>
              <a:rPr lang="en-US" b="1" i="1" dirty="0" err="1"/>
              <a:t>rowspan</a:t>
            </a:r>
            <a:r>
              <a:rPr lang="en-US" b="1" i="1" dirty="0"/>
              <a:t> and </a:t>
            </a:r>
            <a:r>
              <a:rPr lang="en-US" b="1" i="1" dirty="0" err="1"/>
              <a:t>colspan</a:t>
            </a:r>
            <a:r>
              <a:rPr lang="en-US" b="1" i="1" dirty="0"/>
              <a:t> with Tables</a:t>
            </a:r>
          </a:p>
          <a:p>
            <a:pPr marL="566928" indent="-457200" algn="just">
              <a:defRPr/>
            </a:pPr>
            <a:r>
              <a:rPr lang="en-US" dirty="0"/>
              <a:t>Figure 2.13 introduces two new attributes that allow you to build more complex tables.</a:t>
            </a:r>
          </a:p>
          <a:p>
            <a:pPr marL="566928" indent="-457200" algn="just">
              <a:defRPr/>
            </a:pPr>
            <a:r>
              <a:rPr lang="en-US" dirty="0"/>
              <a:t>You can merge data cells with the </a:t>
            </a:r>
            <a:r>
              <a:rPr lang="en-US" dirty="0" err="1"/>
              <a:t>rowspan</a:t>
            </a:r>
            <a:r>
              <a:rPr lang="en-US" dirty="0"/>
              <a:t> and </a:t>
            </a:r>
            <a:r>
              <a:rPr lang="en-US" dirty="0" err="1"/>
              <a:t>colspan</a:t>
            </a:r>
            <a:r>
              <a:rPr lang="en-US" dirty="0"/>
              <a:t> attributes</a:t>
            </a:r>
          </a:p>
          <a:p>
            <a:pPr marL="736092" lvl="1" indent="-342900" algn="just">
              <a:spcBef>
                <a:spcPts val="324"/>
              </a:spcBef>
              <a:buFont typeface="Courier New" panose="02070309020205020404" pitchFamily="49" charset="0"/>
              <a:buChar char="o"/>
              <a:defRPr/>
            </a:pPr>
            <a:r>
              <a:rPr lang="en-US" dirty="0"/>
              <a:t>The values of these attributes specify the number of rows or columns occupied by the cell.</a:t>
            </a:r>
          </a:p>
          <a:p>
            <a:pPr marL="736092" lvl="1" indent="-342900" algn="just">
              <a:spcBef>
                <a:spcPts val="324"/>
              </a:spcBef>
              <a:buFont typeface="Courier New" panose="02070309020205020404" pitchFamily="49" charset="0"/>
              <a:buChar char="o"/>
              <a:defRPr/>
            </a:pPr>
            <a:r>
              <a:rPr lang="en-US" dirty="0"/>
              <a:t>Can be placed inside any data cell or table header cell.</a:t>
            </a:r>
          </a:p>
          <a:p>
            <a:pPr marL="566928" indent="-457200" algn="just">
              <a:defRPr/>
            </a:pPr>
            <a:r>
              <a:rPr lang="en-US" dirty="0"/>
              <a:t>The </a:t>
            </a:r>
            <a:r>
              <a:rPr lang="en-US" dirty="0" err="1"/>
              <a:t>br</a:t>
            </a:r>
            <a:r>
              <a:rPr lang="en-US" dirty="0"/>
              <a:t> element is render as a line break in most browsers—any markup or text following a </a:t>
            </a:r>
            <a:r>
              <a:rPr lang="en-US" dirty="0" err="1"/>
              <a:t>br</a:t>
            </a:r>
            <a:r>
              <a:rPr lang="en-US" dirty="0"/>
              <a:t> element is rendered on the next line.</a:t>
            </a:r>
          </a:p>
          <a:p>
            <a:pPr marL="566928" indent="-457200" algn="just">
              <a:defRPr/>
            </a:pPr>
            <a:r>
              <a:rPr lang="en-US" dirty="0"/>
              <a:t>Like the </a:t>
            </a:r>
            <a:r>
              <a:rPr lang="en-US" dirty="0" err="1"/>
              <a:t>img</a:t>
            </a:r>
            <a:r>
              <a:rPr lang="en-US" dirty="0"/>
              <a:t> element, </a:t>
            </a:r>
            <a:r>
              <a:rPr lang="en-US" dirty="0" err="1"/>
              <a:t>br</a:t>
            </a:r>
            <a:r>
              <a:rPr lang="en-US" dirty="0"/>
              <a:t> is an example of a void element. </a:t>
            </a:r>
          </a:p>
          <a:p>
            <a:pPr marL="566928" indent="-457200" algn="just">
              <a:defRPr/>
            </a:pPr>
            <a:r>
              <a:rPr lang="en-US" dirty="0"/>
              <a:t>Like the </a:t>
            </a:r>
            <a:r>
              <a:rPr lang="en-US" dirty="0" err="1"/>
              <a:t>hr</a:t>
            </a:r>
            <a:r>
              <a:rPr lang="en-US" dirty="0"/>
              <a:t> element, </a:t>
            </a:r>
            <a:r>
              <a:rPr lang="en-US" dirty="0" err="1"/>
              <a:t>br</a:t>
            </a:r>
            <a:r>
              <a:rPr lang="en-US" dirty="0"/>
              <a:t> is considered a legacy formatting element that you should avoid using—in general, formatting should be specified using CSS.</a:t>
            </a:r>
          </a:p>
          <a:p>
            <a:pPr marL="859536" lvl="2" algn="just">
              <a:buFont typeface="Wingdings 2"/>
              <a:buChar char=""/>
              <a:defRPr/>
            </a:pPr>
            <a:endParaRPr lang="en-US" dirty="0"/>
          </a:p>
          <a:p>
            <a:pPr marL="621792" lvl="1" algn="just">
              <a:spcBef>
                <a:spcPts val="324"/>
              </a:spcBef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D5B9C-5B3A-8E41-B041-7F041EE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76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1" descr="iw3htp5_02_HTML5_pt1_Page_41">
            <a:extLst>
              <a:ext uri="{FF2B5EF4-FFF2-40B4-BE49-F238E27FC236}">
                <a16:creationId xmlns:a16="http://schemas.microsoft.com/office/drawing/2014/main" id="{5AADC5E3-2821-0940-801F-FD48B8F637CB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1" r="33854" b="39434"/>
          <a:stretch/>
        </p:blipFill>
        <p:spPr bwMode="auto">
          <a:xfrm>
            <a:off x="257175" y="0"/>
            <a:ext cx="4697863" cy="2909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" descr="iw3htp5_02_HTML5_pt1_Page_42">
            <a:extLst>
              <a:ext uri="{FF2B5EF4-FFF2-40B4-BE49-F238E27FC236}">
                <a16:creationId xmlns:a16="http://schemas.microsoft.com/office/drawing/2014/main" id="{2A1BEB56-714B-F54D-BB53-1C31103BD0C2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4" r="28542" b="18073"/>
          <a:stretch/>
        </p:blipFill>
        <p:spPr bwMode="auto">
          <a:xfrm>
            <a:off x="485775" y="2552702"/>
            <a:ext cx="4697863" cy="3748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 descr="iw3htp5_02_HTML5_pt1_Page_43">
            <a:extLst>
              <a:ext uri="{FF2B5EF4-FFF2-40B4-BE49-F238E27FC236}">
                <a16:creationId xmlns:a16="http://schemas.microsoft.com/office/drawing/2014/main" id="{AA25862F-6FDE-4949-B233-12EAB606C6E8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8" r="41042" b="29911"/>
          <a:stretch/>
        </p:blipFill>
        <p:spPr bwMode="auto">
          <a:xfrm>
            <a:off x="6729405" y="538164"/>
            <a:ext cx="3813451" cy="3090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 descr="iw3htp5_02_HTML5_pt1_Page_44">
            <a:extLst>
              <a:ext uri="{FF2B5EF4-FFF2-40B4-BE49-F238E27FC236}">
                <a16:creationId xmlns:a16="http://schemas.microsoft.com/office/drawing/2014/main" id="{C8F31E0A-15E5-5B4C-80D0-75EF4D3E464A}"/>
              </a:ext>
            </a:extLst>
          </p:cNvPr>
          <p:cNvPicPr>
            <a:picLocks noGrp="1" noChangeAspect="1"/>
          </p:cNvPicPr>
          <p:nvPr isPhoto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0" t="3432" r="23542" b="22704"/>
          <a:stretch/>
        </p:blipFill>
        <p:spPr bwMode="auto">
          <a:xfrm>
            <a:off x="6400801" y="3741746"/>
            <a:ext cx="4413145" cy="2859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170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C640F1-8E22-4A47-BA23-21253AA89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363" y="309006"/>
            <a:ext cx="6548437" cy="327421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9D4D011-EA26-3F41-B93D-63422CD0516C}"/>
              </a:ext>
            </a:extLst>
          </p:cNvPr>
          <p:cNvSpPr txBox="1">
            <a:spLocks/>
          </p:cNvSpPr>
          <p:nvPr/>
        </p:nvSpPr>
        <p:spPr>
          <a:xfrm>
            <a:off x="3464656" y="3583225"/>
            <a:ext cx="4967844" cy="19526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</a:rPr>
              <a:t>Any Question?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04D0F-C849-BA45-AC7C-713B118D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8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682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Wingdings 2</vt:lpstr>
      <vt:lpstr>Office Theme</vt:lpstr>
      <vt:lpstr>HTML Tables</vt:lpstr>
      <vt:lpstr>Tables</vt:lpstr>
      <vt:lpstr>Tables</vt:lpstr>
      <vt:lpstr>PowerPoint Presentation</vt:lpstr>
      <vt:lpstr>Tables</vt:lpstr>
      <vt:lpstr>Tables</vt:lpstr>
      <vt:lpstr>PowerPoint Presentation</vt:lpstr>
      <vt:lpstr>PowerPoint Presentation</vt:lpstr>
      <vt:lpstr>Tables</vt:lpstr>
      <vt:lpstr>Tables</vt:lpstr>
      <vt:lpstr>PowerPoint Presentation</vt:lpstr>
      <vt:lpstr>Tables</vt:lpstr>
      <vt:lpstr>Tables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Tables</dc:title>
  <dc:creator>Jim Davis</dc:creator>
  <cp:lastModifiedBy>Jim Davis</cp:lastModifiedBy>
  <cp:revision>3</cp:revision>
  <dcterms:created xsi:type="dcterms:W3CDTF">2024-01-16T17:39:56Z</dcterms:created>
  <dcterms:modified xsi:type="dcterms:W3CDTF">2026-01-14T20:57:48Z</dcterms:modified>
</cp:coreProperties>
</file>