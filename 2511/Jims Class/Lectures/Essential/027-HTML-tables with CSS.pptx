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65" r:id="rId3"/>
    <p:sldId id="286" r:id="rId4"/>
    <p:sldId id="573" r:id="rId5"/>
    <p:sldId id="287" r:id="rId6"/>
    <p:sldId id="576" r:id="rId7"/>
    <p:sldId id="577" r:id="rId8"/>
    <p:sldId id="571" r:id="rId9"/>
    <p:sldId id="572" r:id="rId10"/>
    <p:sldId id="578" r:id="rId11"/>
    <p:sldId id="288" r:id="rId12"/>
    <p:sldId id="575" r:id="rId13"/>
    <p:sldId id="410" r:id="rId14"/>
    <p:sldId id="579" r:id="rId15"/>
    <p:sldId id="580" r:id="rId16"/>
    <p:sldId id="293" r:id="rId17"/>
    <p:sldId id="292" r:id="rId18"/>
    <p:sldId id="294" r:id="rId19"/>
    <p:sldId id="295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8972BD-8CC2-9E48-B187-F04523419435}">
          <p14:sldIdLst>
            <p14:sldId id="257"/>
            <p14:sldId id="265"/>
          </p14:sldIdLst>
        </p14:section>
        <p14:section name="Table" id="{1A55DAA2-6D54-8549-B46E-0228F7AF3990}">
          <p14:sldIdLst>
            <p14:sldId id="286"/>
            <p14:sldId id="573"/>
            <p14:sldId id="287"/>
            <p14:sldId id="576"/>
            <p14:sldId id="577"/>
            <p14:sldId id="571"/>
            <p14:sldId id="572"/>
            <p14:sldId id="578"/>
            <p14:sldId id="288"/>
            <p14:sldId id="575"/>
            <p14:sldId id="410"/>
            <p14:sldId id="579"/>
            <p14:sldId id="580"/>
            <p14:sldId id="293"/>
            <p14:sldId id="292"/>
            <p14:sldId id="294"/>
            <p14:sldId id="29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aman Amannejad" initials="YA" lastIdx="8" clrIdx="0">
    <p:extLst>
      <p:ext uri="{19B8F6BF-5375-455C-9EA6-DF929625EA0E}">
        <p15:presenceInfo xmlns:p15="http://schemas.microsoft.com/office/powerpoint/2012/main" userId="84858ff3-2816-48bf-a4b3-189216645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30A0"/>
    <a:srgbClr val="414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1"/>
    <p:restoredTop sz="94752"/>
  </p:normalViewPr>
  <p:slideViewPr>
    <p:cSldViewPr snapToGrid="0" snapToObjects="1">
      <p:cViewPr varScale="1">
        <p:scale>
          <a:sx n="106" d="100"/>
          <a:sy n="106" d="100"/>
        </p:scale>
        <p:origin x="56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A0D91-2BA6-9C4D-BAC9-7C78D503C151}" type="datetimeFigureOut">
              <a:rPr lang="en-US" smtClean="0"/>
              <a:t>17-Jan-23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DA79A-80CC-5B49-A335-CC79BE11C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1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9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2429-09F3-A441-9EBC-5CA503E3D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DDE5F-1D85-8440-B6B3-290E96490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EF87-5079-7846-A2F1-6CF817A9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61C7-87DB-2E4E-9FFA-248F6B06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38A10-6BF5-E947-9C65-D851F69B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0181-B227-314B-BB3E-6E53FDE2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E3DD-DFD5-A544-9551-CB0E3D1F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A0D9E-DF2D-6F43-953F-F9C1CF111223}"/>
              </a:ext>
            </a:extLst>
          </p:cNvPr>
          <p:cNvSpPr/>
          <p:nvPr userDrawn="1"/>
        </p:nvSpPr>
        <p:spPr>
          <a:xfrm>
            <a:off x="12049124" y="0"/>
            <a:ext cx="142876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795A3-30AD-0A49-84BD-48DF54493C5C}"/>
              </a:ext>
            </a:extLst>
          </p:cNvPr>
          <p:cNvSpPr/>
          <p:nvPr userDrawn="1"/>
        </p:nvSpPr>
        <p:spPr>
          <a:xfrm>
            <a:off x="12049124" y="1371600"/>
            <a:ext cx="142876" cy="5486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3F2FD8-60D8-C44D-9062-807C0CBBF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6" y="6030422"/>
            <a:ext cx="1228085" cy="8079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A6A66B-BD08-CF46-A2C5-575BDF847F07}"/>
              </a:ext>
            </a:extLst>
          </p:cNvPr>
          <p:cNvSpPr/>
          <p:nvPr userDrawn="1"/>
        </p:nvSpPr>
        <p:spPr>
          <a:xfrm>
            <a:off x="1496291" y="6320458"/>
            <a:ext cx="9447755" cy="551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B337A-91D9-AE43-8464-AA0394F46ECE}"/>
              </a:ext>
            </a:extLst>
          </p:cNvPr>
          <p:cNvSpPr/>
          <p:nvPr userDrawn="1"/>
        </p:nvSpPr>
        <p:spPr>
          <a:xfrm>
            <a:off x="10944046" y="6311900"/>
            <a:ext cx="1105078" cy="546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EAFAF-D36F-AD44-8A9A-DB452B33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0397" y="6399738"/>
            <a:ext cx="712376" cy="365125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4EF9C409-AEBC-AC4B-B24C-458B6F1C7C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0F90-0F27-9E40-B540-C63E9DC9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6291" y="6399737"/>
            <a:ext cx="944775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123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5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2B44-01A2-5646-9D3F-B78DE52E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44A60-C556-094C-ABE3-64B476245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04825-DF6C-5C4E-BF74-D8A9CC53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5F8FB-E3D3-9C43-8B36-043523C4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D2DF1-52A6-FC40-8842-44D216D6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3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F550-C2BE-644F-8E01-75A99C5F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35FC8-2274-814A-9C10-47C5BF31D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7273C-C4FC-624B-8CC0-90D7E6B79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8AEBF-33AC-FB44-87E9-72402C6C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E3A28-12C5-104D-B2A1-3D16DBD6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7906C-ED44-5749-9249-9007AF4B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8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776C-99B7-E941-A901-26573133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98D8-FB17-9946-92CC-E84F1FE3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47362-BEF6-EF40-A938-50A9ABB3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496D2-CA92-0F44-9466-57C43E8B8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3402A-6C8B-9C4F-AB79-571E5C1C0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F9FE-5894-424A-ABF1-586A8133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7B9E2-34BF-F549-BBAC-2C2AAFF6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44EC2-EBA4-BF42-9BA7-55E1EE0A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483D-F2CA-ED40-B7DE-7DEAD466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1FE5D-509F-F941-B934-486F090F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80D30-3A9A-0C4D-8581-2DF3DF34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2B8F-3FF1-9147-9229-BFA0B389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2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E32D3-F654-B249-9654-04379FC9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39355-DD48-0147-AF27-0961190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C27D-69CE-AA41-8CAD-063DCB0D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7B30-3D63-D84B-A09E-3D35BDDA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2F72-6CDF-8B48-B05A-8E84F78C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5C44B-E508-0241-9162-1ABD6D0D8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0908-B75C-8A4E-BADC-EFEAF131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FA9FE-3AAC-8640-A573-BB297927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242AB-DBD9-1646-9A19-C5979A6B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1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16B1-BE89-D74E-A6A0-58972D4C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6898E-9CF4-9144-A370-7FB36882B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AA095-7884-9341-AAEA-6BA6326FD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066E9-9384-E042-8391-4F705DB4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CDBF1-9378-DE4A-AC48-BC344FC9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DE08-0C6C-AC45-858B-A0305A43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3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FAF0-7A7B-6A45-B194-84CB9D44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D7E86-0464-9747-B158-6099B245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A8B83-6BC6-994E-9E5A-F7DD36EA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D2AA-F233-7E44-9EF7-9A882170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3C038-1A69-2C44-AF4E-7CC0A962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E581-B640-3A40-BBF8-CCCED1312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8F220-9019-9348-B3E6-5C61336AB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36CE-95E6-B942-BC02-329E48C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26B84-3EE7-5E44-9A33-1F18A339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970C-EE3C-C54D-8DE4-6D0E16C4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14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09600" y="215371"/>
            <a:ext cx="10972800" cy="109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Font typeface="Times New Roman"/>
              <a:buNone/>
              <a:defRPr sz="4800" b="1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609601" y="1441451"/>
            <a:ext cx="10977033" cy="470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8447617" y="113071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1292415" y="113071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895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6126D-B0D4-C940-BAFD-CBDB9995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C7E51-3E1D-E447-B3D2-F3B5C059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A3AD-B660-1341-953C-A289DB47F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4D1F-CB85-E04F-B9B3-5CEC60977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1FE9-DA62-AF49-9404-F96234F98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4837-0CE3-D14B-927D-3DFE2839C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127" y="2044176"/>
            <a:ext cx="9144000" cy="195262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HTML</a:t>
            </a:r>
            <a:br>
              <a:rPr lang="en-US" sz="5400" b="1" dirty="0">
                <a:solidFill>
                  <a:srgbClr val="C00000"/>
                </a:solidFill>
              </a:rPr>
            </a:br>
            <a:r>
              <a:rPr lang="en-US" sz="5400" b="1" dirty="0">
                <a:solidFill>
                  <a:srgbClr val="C00000"/>
                </a:solidFill>
              </a:rPr>
              <a:t>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74DE2-F5E2-7A4E-8706-E96DA8F6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" y="219306"/>
            <a:ext cx="1561956" cy="102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1D74C-F6C7-5746-9CDE-CAD63E885D4E}"/>
              </a:ext>
            </a:extLst>
          </p:cNvPr>
          <p:cNvSpPr txBox="1"/>
          <p:nvPr/>
        </p:nvSpPr>
        <p:spPr>
          <a:xfrm>
            <a:off x="1607127" y="4256286"/>
            <a:ext cx="4485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/>
              <a:t>Randy Connolly</a:t>
            </a:r>
          </a:p>
          <a:p>
            <a:r>
              <a:rPr lang="en-US" b="1" dirty="0"/>
              <a:t>Modified by </a:t>
            </a:r>
            <a:r>
              <a:rPr lang="en-US" b="1" i="0" dirty="0" err="1"/>
              <a:t>Yasaman</a:t>
            </a:r>
            <a:r>
              <a:rPr lang="en-US" b="1" i="0" dirty="0"/>
              <a:t> </a:t>
            </a:r>
            <a:r>
              <a:rPr lang="en-US" b="1" i="0" dirty="0" err="1"/>
              <a:t>Amannejad</a:t>
            </a:r>
            <a:r>
              <a:rPr lang="en-US" b="1" i="0" dirty="0"/>
              <a:t> &amp; PJ Perri</a:t>
            </a:r>
          </a:p>
          <a:p>
            <a:r>
              <a:rPr lang="en-US" b="1" i="0" dirty="0"/>
              <a:t>Department of Mathematics and Computing,</a:t>
            </a:r>
          </a:p>
          <a:p>
            <a:r>
              <a:rPr lang="en-US" b="1" i="0" dirty="0"/>
              <a:t>Mount Royal University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E2279-C238-EE45-B9FE-62668B578A25}"/>
              </a:ext>
            </a:extLst>
          </p:cNvPr>
          <p:cNvSpPr/>
          <p:nvPr/>
        </p:nvSpPr>
        <p:spPr>
          <a:xfrm>
            <a:off x="1528071" y="1675910"/>
            <a:ext cx="40128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/>
              <a:t>COMP </a:t>
            </a:r>
            <a:r>
              <a:rPr lang="en-US" sz="1600" b="1" dirty="0"/>
              <a:t>2511 - </a:t>
            </a:r>
            <a:r>
              <a:rPr lang="en-CA" sz="1600" b="1" dirty="0"/>
              <a:t>Web I: Client Development </a:t>
            </a:r>
            <a:endParaRPr lang="en-US" sz="1600" b="1" dirty="0"/>
          </a:p>
          <a:p>
            <a:endParaRPr lang="en-US" sz="1600" b="1" i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1CAC17AB-7A92-7642-AA24-C91101DBAD16}"/>
              </a:ext>
            </a:extLst>
          </p:cNvPr>
          <p:cNvSpPr/>
          <p:nvPr/>
        </p:nvSpPr>
        <p:spPr bwMode="auto">
          <a:xfrm>
            <a:off x="1607127" y="4256286"/>
            <a:ext cx="9144000" cy="1085115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05AB60A7-2D5B-7E43-8D57-EC7156D69284}"/>
              </a:ext>
            </a:extLst>
          </p:cNvPr>
          <p:cNvSpPr/>
          <p:nvPr/>
        </p:nvSpPr>
        <p:spPr bwMode="auto">
          <a:xfrm rot="10800000">
            <a:off x="1530927" y="1664897"/>
            <a:ext cx="9220200" cy="1074948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5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2FAB-26C7-424E-A96F-BF02901B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6931F-3D73-C849-9755-92B529DF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Textbook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C00000"/>
                </a:solidFill>
              </a:rPr>
              <a:t>Fun</a:t>
            </a:r>
            <a:r>
              <a:rPr lang="en-US" sz="2400" dirty="0"/>
              <a:t>damentals of </a:t>
            </a:r>
            <a:r>
              <a:rPr lang="en-US" sz="2400" dirty="0">
                <a:solidFill>
                  <a:srgbClr val="C00000"/>
                </a:solidFill>
              </a:rPr>
              <a:t>Web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Dev</a:t>
            </a:r>
            <a:r>
              <a:rPr lang="en-US" sz="2400" dirty="0"/>
              <a:t>elopment</a:t>
            </a:r>
          </a:p>
          <a:p>
            <a:pPr lvl="1"/>
            <a:r>
              <a:rPr lang="en-US" sz="2000" dirty="0"/>
              <a:t>Chapters 5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5F899-427D-0746-B677-B1FFC74F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2F358C-A0A1-1C4D-96EE-BC5E221E3AA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25625"/>
            <a:ext cx="10863263" cy="4906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 algn="just">
              <a:defRPr/>
            </a:pPr>
            <a:r>
              <a:rPr lang="en-US" dirty="0"/>
              <a:t>By the end of this part of the course, you will</a:t>
            </a:r>
          </a:p>
          <a:p>
            <a:pPr marL="1024128" lvl="1" indent="-457200" algn="just">
              <a:defRPr/>
            </a:pPr>
            <a:r>
              <a:rPr lang="en-US" sz="2000" b="0" i="0" u="none" strike="noStrike" baseline="0" dirty="0">
                <a:solidFill>
                  <a:schemeClr val="tx1"/>
                </a:solidFill>
                <a:latin typeface="+mj-lt"/>
              </a:rPr>
              <a:t>What HTML tables are and how to create them</a:t>
            </a:r>
          </a:p>
          <a:p>
            <a:pPr marL="1024128" lvl="1" indent="-457200" algn="just">
              <a:defRPr/>
            </a:pPr>
            <a:endParaRPr lang="en-US" sz="2000" dirty="0">
              <a:latin typeface="+mj-lt"/>
            </a:endParaRPr>
          </a:p>
          <a:p>
            <a:pPr marL="1024128" lvl="1" indent="-457200" algn="just">
              <a:defRPr/>
            </a:pPr>
            <a:r>
              <a:rPr lang="en-US" sz="2000" b="0" i="0" u="none" strike="noStrike" baseline="0" dirty="0">
                <a:solidFill>
                  <a:schemeClr val="tx1"/>
                </a:solidFill>
                <a:latin typeface="+mj-lt"/>
              </a:rPr>
              <a:t>Very introductory styles used to change the appearance of tables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B556C-6C9A-6F4C-A0AD-2D6F01255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731" y="4125951"/>
            <a:ext cx="1654042" cy="20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3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6BB9-9AC7-493C-824E-3B1E4DE3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HTML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E6B7-3737-4AFD-8E99-10A242BBE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1441451"/>
            <a:ext cx="5486400" cy="4709968"/>
          </a:xfrm>
        </p:spPr>
        <p:txBody>
          <a:bodyPr>
            <a:normAutofit fontScale="92500" lnSpcReduction="20000"/>
          </a:bodyPr>
          <a:lstStyle/>
          <a:p>
            <a:pPr marL="152396" indent="0">
              <a:buNone/>
            </a:pP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A </a:t>
            </a:r>
            <a:r>
              <a:rPr lang="en-US" b="1" i="0" u="none" strike="noStrike" baseline="0" dirty="0">
                <a:solidFill>
                  <a:srgbClr val="009A9A"/>
                </a:solidFill>
                <a:latin typeface="+mj-lt"/>
              </a:rPr>
              <a:t>table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+mj-lt"/>
              </a:rPr>
              <a:t>in HTML is created using the &lt;table&gt; element and can be used to represent information that exists in a two-dimensional grid.</a:t>
            </a:r>
            <a:r>
              <a:rPr lang="en-CA" b="0" i="0" u="none" strike="noStrike" baseline="0" dirty="0">
                <a:latin typeface="+mj-lt"/>
              </a:rPr>
              <a:t> </a:t>
            </a:r>
          </a:p>
          <a:p>
            <a:pPr marL="152396" indent="0">
              <a:buNone/>
            </a:pPr>
            <a:r>
              <a:rPr lang="en-CA" b="0" i="0" u="none" strike="noStrike" baseline="0" dirty="0">
                <a:latin typeface="+mj-lt"/>
              </a:rPr>
              <a:t>Just like a </a:t>
            </a:r>
            <a:r>
              <a:rPr lang="en-US" b="0" i="0" u="none" strike="noStrike" baseline="0" dirty="0">
                <a:latin typeface="+mj-lt"/>
              </a:rPr>
              <a:t>real-world table, an HTML table can contain any type of data: not just numbers, but text, images, forms, even other tables</a:t>
            </a:r>
          </a:p>
          <a:p>
            <a:pPr marL="152396" indent="0">
              <a:buNone/>
            </a:pPr>
            <a:r>
              <a:rPr lang="en-US" b="0" i="0" u="none" strike="noStrike" baseline="0" dirty="0">
                <a:latin typeface="+mj-lt"/>
              </a:rPr>
              <a:t>&lt;table&gt; contains any number of rows (&lt;tr&gt;); each row contains any number of table data cells (&lt;td&gt;)</a:t>
            </a:r>
            <a:endParaRPr lang="en-CA" dirty="0">
              <a:latin typeface="+mj-lt"/>
            </a:endParaRPr>
          </a:p>
        </p:txBody>
      </p:sp>
      <p:pic>
        <p:nvPicPr>
          <p:cNvPr id="5" name="Picture 4" descr="FIGURE 5.1 Examples of tables">
            <a:extLst>
              <a:ext uri="{FF2B5EF4-FFF2-40B4-BE49-F238E27FC236}">
                <a16:creationId xmlns:a16="http://schemas.microsoft.com/office/drawing/2014/main" id="{4080CDD5-3D3B-4254-9131-79292F314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47" y="1828800"/>
            <a:ext cx="5527652" cy="337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3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tr</a:t>
            </a:r>
            <a:r>
              <a:rPr lang="en-US" altLang="en-US" dirty="0"/>
              <a:t> Element </a:t>
            </a:r>
          </a:p>
          <a:p>
            <a:pPr lvl="1"/>
            <a:r>
              <a:rPr lang="en-US" altLang="en-US" dirty="0"/>
              <a:t>Defines individual table rows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td Element </a:t>
            </a:r>
          </a:p>
          <a:p>
            <a:pPr lvl="1"/>
            <a:r>
              <a:rPr lang="en-US" altLang="en-US" dirty="0"/>
              <a:t>Contains table data elements – aka columns</a:t>
            </a:r>
          </a:p>
          <a:p>
            <a:pPr lvl="1"/>
            <a:endParaRPr lang="en-US" altLang="en-US" dirty="0"/>
          </a:p>
          <a:p>
            <a:r>
              <a:rPr lang="en-US" altLang="en-US" dirty="0" err="1"/>
              <a:t>th</a:t>
            </a:r>
            <a:r>
              <a:rPr lang="en-US" altLang="en-US" dirty="0"/>
              <a:t> Element</a:t>
            </a:r>
          </a:p>
          <a:p>
            <a:pPr lvl="1"/>
            <a:r>
              <a:rPr lang="en-US" altLang="en-US" dirty="0"/>
              <a:t>Defines a heading cell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7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CDC6-F03E-4ABF-88E3-E8F6A284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table structure</a:t>
            </a:r>
          </a:p>
        </p:txBody>
      </p:sp>
      <p:pic>
        <p:nvPicPr>
          <p:cNvPr id="5" name="Picture 4" descr="FIGURE 5.2 Basic table structure">
            <a:extLst>
              <a:ext uri="{FF2B5EF4-FFF2-40B4-BE49-F238E27FC236}">
                <a16:creationId xmlns:a16="http://schemas.microsoft.com/office/drawing/2014/main" id="{B3BF844B-696A-4F06-B89B-A13B8A545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942" y="1456970"/>
            <a:ext cx="9376116" cy="475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1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B21E-3704-D179-502E-1858F3DE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Border attribute </a:t>
            </a:r>
            <a:r>
              <a:rPr lang="en-CA" dirty="0">
                <a:solidFill>
                  <a:schemeClr val="accent2">
                    <a:lumMod val="75000"/>
                  </a:schemeClr>
                </a:solidFill>
              </a:rPr>
              <a:t>Inline</a:t>
            </a:r>
            <a:r>
              <a:rPr lang="en-CA" dirty="0"/>
              <a:t>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7BEA4-B937-0E4A-A2F6-0F761C3E90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4ED82D-C6D1-A628-856A-9EAEAAD4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6073" y="1502299"/>
            <a:ext cx="7152941" cy="3600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192A228-7134-5488-D37A-EBC93D3C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059" y="2854222"/>
            <a:ext cx="7321898" cy="3600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938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FA998-D35B-8F36-5684-4E6E613B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C68A13F-76F7-0808-619F-0D83BE0DC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9" y="1079500"/>
            <a:ext cx="10741620" cy="4320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DD69E7-E298-1BC4-8056-1D02FBEC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92" b="4692"/>
          <a:stretch/>
        </p:blipFill>
        <p:spPr>
          <a:xfrm>
            <a:off x="725190" y="1811925"/>
            <a:ext cx="10741620" cy="4320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858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attributes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164592" algn="just">
              <a:spcBef>
                <a:spcPts val="324"/>
              </a:spcBef>
              <a:defRPr/>
            </a:pPr>
            <a:r>
              <a:rPr lang="en-US" dirty="0"/>
              <a:t>Summarizes the table’s contents for speech devices to make the table more accessible to users with visual impairments.</a:t>
            </a:r>
          </a:p>
          <a:p>
            <a:pPr marL="393192" lvl="1" indent="0" algn="just">
              <a:spcBef>
                <a:spcPts val="324"/>
              </a:spcBef>
              <a:buNone/>
              <a:defRPr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summary="Monthly savings for the Franks family"&gt;</a:t>
            </a:r>
          </a:p>
          <a:p>
            <a:pPr marL="393192" lvl="1" indent="0" algn="just">
              <a:spcBef>
                <a:spcPts val="324"/>
              </a:spcBef>
              <a:buNone/>
              <a:defRPr/>
            </a:pPr>
            <a:endParaRPr lang="en-US" dirty="0"/>
          </a:p>
          <a:p>
            <a:pPr marL="621792" lvl="1" algn="just">
              <a:spcBef>
                <a:spcPts val="324"/>
              </a:spcBef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8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Elements for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83420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A table can be split into three SEMANTIC sections: </a:t>
            </a:r>
          </a:p>
          <a:p>
            <a:pPr lvl="1"/>
            <a:r>
              <a:rPr lang="en-US" altLang="en-US" dirty="0"/>
              <a:t>Head (</a:t>
            </a:r>
            <a:r>
              <a:rPr lang="en-US" altLang="en-US" dirty="0" err="1"/>
              <a:t>thead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Table titles</a:t>
            </a:r>
          </a:p>
          <a:p>
            <a:pPr lvl="2"/>
            <a:r>
              <a:rPr lang="en-US" altLang="en-US" dirty="0"/>
              <a:t>Column headers</a:t>
            </a:r>
          </a:p>
          <a:p>
            <a:pPr lvl="1"/>
            <a:r>
              <a:rPr lang="en-US" altLang="en-US" dirty="0"/>
              <a:t>Body (</a:t>
            </a:r>
            <a:r>
              <a:rPr lang="en-US" altLang="en-US" dirty="0" err="1"/>
              <a:t>tbody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Primary table data</a:t>
            </a:r>
          </a:p>
          <a:p>
            <a:pPr lvl="1"/>
            <a:r>
              <a:rPr lang="en-US" altLang="en-US" dirty="0"/>
              <a:t>Table Foot (</a:t>
            </a:r>
            <a:r>
              <a:rPr lang="en-US" altLang="en-US" dirty="0" err="1"/>
              <a:t>tfoot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Calculation results</a:t>
            </a:r>
          </a:p>
          <a:p>
            <a:pPr lvl="2"/>
            <a:r>
              <a:rPr lang="en-US" altLang="en-US" dirty="0"/>
              <a:t>Footnotes</a:t>
            </a:r>
          </a:p>
          <a:p>
            <a:pPr marL="457200" lvl="1" indent="0">
              <a:buNone/>
            </a:pPr>
            <a:r>
              <a:rPr lang="en-US" altLang="en-US" dirty="0"/>
              <a:t>and…</a:t>
            </a:r>
          </a:p>
          <a:p>
            <a:pPr lvl="1"/>
            <a:r>
              <a:rPr lang="en-US" altLang="en-US" dirty="0"/>
              <a:t>Caption element – table’s title</a:t>
            </a:r>
          </a:p>
          <a:p>
            <a:pPr lvl="2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must be placed immediately after table tag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</a:rPr>
              <a:t>Semantic elements don’t change the appearance of the content – UNTIL styles are added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134A0E-6636-40A5-9B5F-96989777E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149513"/>
              </p:ext>
            </p:extLst>
          </p:nvPr>
        </p:nvGraphicFramePr>
        <p:xfrm>
          <a:off x="7704499" y="1192192"/>
          <a:ext cx="2482661" cy="41798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482661">
                  <a:extLst>
                    <a:ext uri="{9D8B030D-6E8A-4147-A177-3AD203B41FA5}">
                      <a16:colId xmlns:a16="http://schemas.microsoft.com/office/drawing/2014/main" val="716438634"/>
                    </a:ext>
                  </a:extLst>
                </a:gridCol>
              </a:tblGrid>
              <a:tr h="1044956">
                <a:tc>
                  <a:txBody>
                    <a:bodyPr/>
                    <a:lstStyle/>
                    <a:p>
                      <a:r>
                        <a:rPr lang="en-US" sz="4000" dirty="0"/>
                        <a:t>caption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42853"/>
                  </a:ext>
                </a:extLst>
              </a:tr>
              <a:tr h="1044956">
                <a:tc>
                  <a:txBody>
                    <a:bodyPr/>
                    <a:lstStyle/>
                    <a:p>
                      <a:r>
                        <a:rPr lang="en-CA" sz="4000" dirty="0" err="1"/>
                        <a:t>thead</a:t>
                      </a:r>
                      <a:endParaRPr 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627038"/>
                  </a:ext>
                </a:extLst>
              </a:tr>
              <a:tr h="1044956">
                <a:tc>
                  <a:txBody>
                    <a:bodyPr/>
                    <a:lstStyle/>
                    <a:p>
                      <a:r>
                        <a:rPr lang="en-CA" sz="4000" dirty="0" err="1"/>
                        <a:t>tbody</a:t>
                      </a:r>
                      <a:endParaRPr 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941100"/>
                  </a:ext>
                </a:extLst>
              </a:tr>
              <a:tr h="1044956">
                <a:tc>
                  <a:txBody>
                    <a:bodyPr/>
                    <a:lstStyle/>
                    <a:p>
                      <a:r>
                        <a:rPr lang="en-CA" sz="4000" dirty="0" err="1"/>
                        <a:t>tfoot</a:t>
                      </a:r>
                      <a:endParaRPr lang="en-US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70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39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34825-6E49-C765-D348-CDBC342A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7534F6A1-5582-DE9C-8044-9A3E3A9D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84" y="634912"/>
            <a:ext cx="10320483" cy="590400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047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A4FB-0211-4DB9-B24B-8E869646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Spanning Rows and Columns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5A58-8058-42A5-93B3-819BE3DD9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+mj-lt"/>
              </a:rPr>
              <a:t>All content must appear within the &lt;td&gt; or &lt;</a:t>
            </a:r>
            <a:r>
              <a:rPr lang="en-US" sz="2400" dirty="0" err="1">
                <a:latin typeface="+mj-lt"/>
              </a:rPr>
              <a:t>th</a:t>
            </a:r>
            <a:r>
              <a:rPr lang="en-US" sz="2400" dirty="0">
                <a:latin typeface="+mj-lt"/>
              </a:rPr>
              <a:t>&gt; (table headings) container. </a:t>
            </a:r>
          </a:p>
          <a:p>
            <a:r>
              <a:rPr lang="en-US" sz="2400" dirty="0">
                <a:latin typeface="+mj-lt"/>
              </a:rPr>
              <a:t>Each row must have the same number of &lt;td&gt; or &lt;</a:t>
            </a:r>
            <a:r>
              <a:rPr lang="en-US" sz="2400" dirty="0" err="1">
                <a:latin typeface="+mj-lt"/>
              </a:rPr>
              <a:t>th</a:t>
            </a:r>
            <a:r>
              <a:rPr lang="en-US" sz="2400" dirty="0">
                <a:latin typeface="+mj-lt"/>
              </a:rPr>
              <a:t>&gt; containers.</a:t>
            </a:r>
          </a:p>
          <a:p>
            <a:pPr algn="l"/>
            <a:r>
              <a:rPr lang="en-US" sz="2400" dirty="0">
                <a:latin typeface="+mj-lt"/>
              </a:rPr>
              <a:t>If you want a given cell to cover several columns or rows, then you can do so by using the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colspan</a:t>
            </a:r>
            <a:r>
              <a:rPr lang="en-US" sz="2400" dirty="0">
                <a:latin typeface="+mj-lt"/>
              </a:rPr>
              <a:t> or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rowspan</a:t>
            </a:r>
            <a:r>
              <a:rPr lang="en-US" sz="2400" dirty="0">
                <a:latin typeface="+mj-lt"/>
              </a:rPr>
              <a:t> attributes</a:t>
            </a:r>
          </a:p>
          <a:p>
            <a:pPr marL="1219169" lvl="2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CA" dirty="0">
                <a:latin typeface="+mj-lt"/>
              </a:rPr>
              <a:t>The values of these attributes specify the number of rows or columns merged into one cell.</a:t>
            </a:r>
          </a:p>
          <a:p>
            <a:pPr marL="1219169" lvl="2"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CA" dirty="0">
                <a:latin typeface="+mj-lt"/>
              </a:rPr>
              <a:t>Can be placed inside any table data or table heading cell.</a:t>
            </a:r>
          </a:p>
        </p:txBody>
      </p:sp>
    </p:spTree>
    <p:extLst>
      <p:ext uri="{BB962C8B-B14F-4D97-AF65-F5344CB8AC3E}">
        <p14:creationId xmlns:p14="http://schemas.microsoft.com/office/powerpoint/2010/main" val="2559759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F8327-62E4-4760-AF7B-3DB87331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5952C9-26A8-14E7-1B5F-C74FAAF3B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9" y="787057"/>
            <a:ext cx="10381099" cy="477442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Callout: Left Arrow 1">
            <a:extLst>
              <a:ext uri="{FF2B5EF4-FFF2-40B4-BE49-F238E27FC236}">
                <a16:creationId xmlns:a16="http://schemas.microsoft.com/office/drawing/2014/main" id="{72B169A5-90EB-4422-ACF9-45DC41CE350C}"/>
              </a:ext>
            </a:extLst>
          </p:cNvPr>
          <p:cNvSpPr/>
          <p:nvPr/>
        </p:nvSpPr>
        <p:spPr>
          <a:xfrm>
            <a:off x="6464929" y="3585670"/>
            <a:ext cx="2399168" cy="914400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50" dirty="0">
                <a:solidFill>
                  <a:schemeClr val="bg1"/>
                </a:solidFill>
              </a:rPr>
              <a:t>white space does NOT matter, </a:t>
            </a:r>
            <a:br>
              <a:rPr lang="en-CA" sz="1050" dirty="0">
                <a:solidFill>
                  <a:schemeClr val="bg1"/>
                </a:solidFill>
              </a:rPr>
            </a:br>
            <a:r>
              <a:rPr lang="en-CA" sz="1050" dirty="0">
                <a:solidFill>
                  <a:schemeClr val="bg1"/>
                </a:solidFill>
              </a:rPr>
              <a:t>but may make layout clearer</a:t>
            </a:r>
          </a:p>
        </p:txBody>
      </p:sp>
    </p:spTree>
    <p:extLst>
      <p:ext uri="{BB962C8B-B14F-4D97-AF65-F5344CB8AC3E}">
        <p14:creationId xmlns:p14="http://schemas.microsoft.com/office/powerpoint/2010/main" val="1617415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1" descr="iw3htp5_02_HTML5_pt1_Page_41">
            <a:extLst>
              <a:ext uri="{FF2B5EF4-FFF2-40B4-BE49-F238E27FC236}">
                <a16:creationId xmlns:a16="http://schemas.microsoft.com/office/drawing/2014/main" id="{5AADC5E3-2821-0940-801F-FD48B8F637CB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r="33854" b="39434"/>
          <a:stretch/>
        </p:blipFill>
        <p:spPr bwMode="auto">
          <a:xfrm>
            <a:off x="257175" y="0"/>
            <a:ext cx="4697863" cy="2909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 descr="iw3htp5_02_HTML5_pt1_Page_42">
            <a:extLst>
              <a:ext uri="{FF2B5EF4-FFF2-40B4-BE49-F238E27FC236}">
                <a16:creationId xmlns:a16="http://schemas.microsoft.com/office/drawing/2014/main" id="{2A1BEB56-714B-F54D-BB53-1C31103BD0C2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" r="28542" b="18073"/>
          <a:stretch/>
        </p:blipFill>
        <p:spPr bwMode="auto">
          <a:xfrm>
            <a:off x="485775" y="2552702"/>
            <a:ext cx="4697863" cy="37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iw3htp5_02_HTML5_pt1_Page_43">
            <a:extLst>
              <a:ext uri="{FF2B5EF4-FFF2-40B4-BE49-F238E27FC236}">
                <a16:creationId xmlns:a16="http://schemas.microsoft.com/office/drawing/2014/main" id="{AA25862F-6FDE-4949-B233-12EAB606C6E8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8" r="41042" b="29911"/>
          <a:stretch/>
        </p:blipFill>
        <p:spPr bwMode="auto">
          <a:xfrm>
            <a:off x="6729405" y="538164"/>
            <a:ext cx="3813451" cy="3090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iw3htp5_02_HTML5_pt1_Page_44">
            <a:extLst>
              <a:ext uri="{FF2B5EF4-FFF2-40B4-BE49-F238E27FC236}">
                <a16:creationId xmlns:a16="http://schemas.microsoft.com/office/drawing/2014/main" id="{C8F31E0A-15E5-5B4C-80D0-75EF4D3E464A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" t="3432" r="23542" b="22704"/>
          <a:stretch/>
        </p:blipFill>
        <p:spPr bwMode="auto">
          <a:xfrm>
            <a:off x="6400801" y="3741746"/>
            <a:ext cx="4413145" cy="28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C60729-0AF5-D55F-1260-983D1C563420}"/>
              </a:ext>
            </a:extLst>
          </p:cNvPr>
          <p:cNvSpPr txBox="1"/>
          <p:nvPr/>
        </p:nvSpPr>
        <p:spPr>
          <a:xfrm>
            <a:off x="6096000" y="3923170"/>
            <a:ext cx="4933950" cy="26776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4200" dirty="0"/>
              <a:t>Can you predict what the browser how the browser will render this HTML?</a:t>
            </a:r>
          </a:p>
        </p:txBody>
      </p:sp>
    </p:spTree>
    <p:extLst>
      <p:ext uri="{BB962C8B-B14F-4D97-AF65-F5344CB8AC3E}">
        <p14:creationId xmlns:p14="http://schemas.microsoft.com/office/powerpoint/2010/main" val="340217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27C1C0-703A-3990-9751-8CC1CD31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use of  internal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615C4-BDC6-67DE-1900-91381900C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97873-9E6C-57AF-09A2-6CD07B7C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11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29EE04-C158-9750-7E39-8C308409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Cascading Style Sheets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AD3F47-E407-B1EC-17C4-668AD17DC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a way of formatting HTML elements by defining the appearance of the contents specified by element tags.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Up to now we’ve only shown you </a:t>
            </a:r>
            <a:r>
              <a:rPr lang="en-CA" b="1" dirty="0">
                <a:solidFill>
                  <a:schemeClr val="accent5">
                    <a:lumMod val="50000"/>
                  </a:schemeClr>
                </a:solidFill>
              </a:rPr>
              <a:t>inline</a:t>
            </a:r>
            <a:r>
              <a:rPr lang="en-CA" dirty="0"/>
              <a:t> styles – where the style is defined as an attribute of the element.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border="1"&gt;…</a:t>
            </a: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CA" sz="2800" dirty="0"/>
              <a:t>More usefully, let’s start to use </a:t>
            </a:r>
            <a:r>
              <a:rPr lang="en-CA" sz="3000" b="1" dirty="0">
                <a:solidFill>
                  <a:schemeClr val="accent2">
                    <a:lumMod val="75000"/>
                  </a:schemeClr>
                </a:solidFill>
              </a:rPr>
              <a:t>internal</a:t>
            </a:r>
            <a:r>
              <a:rPr lang="en-CA" sz="2800" dirty="0"/>
              <a:t> styles, 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CA" sz="2400" dirty="0"/>
              <a:t>Located in a style tag in the HTML’s head, thus internal to</a:t>
            </a:r>
            <a:br>
              <a:rPr lang="en-CA" sz="2400" dirty="0"/>
            </a:br>
            <a:r>
              <a:rPr lang="en-CA" sz="2400" dirty="0"/>
              <a:t>the web page, elements can be named and formatted.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CA" sz="2400" dirty="0"/>
              <a:t>Allows the programmer to efficiently specify </a:t>
            </a:r>
            <a:br>
              <a:rPr lang="en-CA" sz="2400" dirty="0"/>
            </a:br>
            <a:r>
              <a:rPr lang="en-CA" sz="2400" dirty="0"/>
              <a:t>multiple elements with common/consistent formatting choices.</a:t>
            </a:r>
          </a:p>
          <a:p>
            <a:pPr marL="457200" lvl="1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Content Placeholder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BCEC74F-58C8-6FDB-B384-3A637C57BB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9155"/>
          <a:stretch/>
        </p:blipFill>
        <p:spPr>
          <a:xfrm>
            <a:off x="8912225" y="4384780"/>
            <a:ext cx="2679700" cy="15921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4ADD3-22A9-981F-27BC-F7BB4BE9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64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B335-4577-46DE-864F-367A382B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table borders</a:t>
            </a:r>
            <a:endParaRPr lang="en-CA" dirty="0"/>
          </a:p>
        </p:txBody>
      </p:sp>
      <p:pic>
        <p:nvPicPr>
          <p:cNvPr id="5" name="Picture 4" descr="FIGURE 5.7 Styling table borders">
            <a:extLst>
              <a:ext uri="{FF2B5EF4-FFF2-40B4-BE49-F238E27FC236}">
                <a16:creationId xmlns:a16="http://schemas.microsoft.com/office/drawing/2014/main" id="{8F2B8A31-5DDF-41F4-AD4D-C87B4CEFB4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8" b="49476"/>
          <a:stretch/>
        </p:blipFill>
        <p:spPr>
          <a:xfrm>
            <a:off x="609600" y="1312650"/>
            <a:ext cx="6170226" cy="3975051"/>
          </a:xfrm>
          <a:prstGeom prst="rect">
            <a:avLst/>
          </a:prstGeom>
        </p:spPr>
      </p:pic>
      <p:pic>
        <p:nvPicPr>
          <p:cNvPr id="6" name="Picture 5" descr="FIGURE 5.7 Styling table borders">
            <a:extLst>
              <a:ext uri="{FF2B5EF4-FFF2-40B4-BE49-F238E27FC236}">
                <a16:creationId xmlns:a16="http://schemas.microsoft.com/office/drawing/2014/main" id="{3D87B68F-03CB-4F52-A0ED-F3CCFA731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782" r="16965" b="-525"/>
          <a:stretch/>
        </p:blipFill>
        <p:spPr>
          <a:xfrm>
            <a:off x="6177471" y="3212828"/>
            <a:ext cx="4779896" cy="3274176"/>
          </a:xfrm>
          <a:prstGeom prst="rect">
            <a:avLst/>
          </a:prstGeom>
        </p:spPr>
      </p:pic>
      <p:sp>
        <p:nvSpPr>
          <p:cNvPr id="3" name="Left Arrow Callout 2">
            <a:extLst>
              <a:ext uri="{FF2B5EF4-FFF2-40B4-BE49-F238E27FC236}">
                <a16:creationId xmlns:a16="http://schemas.microsoft.com/office/drawing/2014/main" id="{64B2ADCF-94FE-9998-72F8-EF84598A6CFD}"/>
              </a:ext>
            </a:extLst>
          </p:cNvPr>
          <p:cNvSpPr/>
          <p:nvPr/>
        </p:nvSpPr>
        <p:spPr>
          <a:xfrm>
            <a:off x="5506684" y="1018270"/>
            <a:ext cx="6075716" cy="1097279"/>
          </a:xfrm>
          <a:prstGeom prst="leftArrowCallout">
            <a:avLst>
              <a:gd name="adj1" fmla="val 6824"/>
              <a:gd name="adj2" fmla="val 7945"/>
              <a:gd name="adj3" fmla="val 8535"/>
              <a:gd name="adj4" fmla="val 407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Located within the &lt;style&gt; element in the &lt;head&gt;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C943E-D982-A414-8EA3-EAA76733F1CE}"/>
              </a:ext>
            </a:extLst>
          </p:cNvPr>
          <p:cNvSpPr txBox="1"/>
          <p:nvPr/>
        </p:nvSpPr>
        <p:spPr>
          <a:xfrm>
            <a:off x="9096374" y="915220"/>
            <a:ext cx="2762251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dirty="0"/>
              <a:t>Elements are named</a:t>
            </a:r>
          </a:p>
          <a:p>
            <a:r>
              <a:rPr lang="en-CA" dirty="0"/>
              <a:t>Various attributes are specified within {}</a:t>
            </a:r>
          </a:p>
          <a:p>
            <a:r>
              <a:rPr lang="en-CA" dirty="0"/>
              <a:t>each one ends with ;</a:t>
            </a:r>
          </a:p>
        </p:txBody>
      </p:sp>
    </p:spTree>
    <p:extLst>
      <p:ext uri="{BB962C8B-B14F-4D97-AF65-F5344CB8AC3E}">
        <p14:creationId xmlns:p14="http://schemas.microsoft.com/office/powerpoint/2010/main" val="403742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B77C-335E-4168-8A5C-864D40A3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Styling Tables (Borders)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86B0E-109C-429F-84B2-F644E66EE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sz="2400" dirty="0">
                <a:latin typeface="+mj-lt"/>
              </a:rPr>
              <a:t>Borders can be assigned to both the </a:t>
            </a:r>
            <a:r>
              <a:rPr lang="en-US" sz="2400" b="1" dirty="0">
                <a:latin typeface="+mj-lt"/>
              </a:rPr>
              <a:t>&lt;table&gt; </a:t>
            </a:r>
            <a:r>
              <a:rPr lang="en-US" sz="2400" dirty="0">
                <a:latin typeface="+mj-lt"/>
              </a:rPr>
              <a:t>and the </a:t>
            </a:r>
            <a:r>
              <a:rPr lang="en-US" sz="2400" b="1" dirty="0">
                <a:latin typeface="+mj-lt"/>
              </a:rPr>
              <a:t>&lt;td&gt; </a:t>
            </a:r>
            <a:r>
              <a:rPr lang="en-US" sz="2400" dirty="0">
                <a:latin typeface="+mj-lt"/>
              </a:rPr>
              <a:t>element. </a:t>
            </a:r>
          </a:p>
          <a:p>
            <a:pPr marL="761981" lvl="1" indent="0">
              <a:buNone/>
            </a:pPr>
            <a:r>
              <a:rPr lang="en-US" sz="2000" dirty="0">
                <a:latin typeface="+mj-lt"/>
              </a:rPr>
              <a:t>Borders 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cannot</a:t>
            </a:r>
            <a:r>
              <a:rPr lang="en-US" sz="2000" dirty="0">
                <a:latin typeface="+mj-lt"/>
              </a:rPr>
              <a:t> be assigned to the &lt;tr&gt;, &lt;</a:t>
            </a:r>
            <a:r>
              <a:rPr lang="en-US" sz="2000" dirty="0" err="1">
                <a:latin typeface="+mj-lt"/>
              </a:rPr>
              <a:t>thead</a:t>
            </a:r>
            <a:r>
              <a:rPr lang="en-US" sz="2000" dirty="0">
                <a:latin typeface="+mj-lt"/>
              </a:rPr>
              <a:t>&gt;, &lt;</a:t>
            </a:r>
            <a:r>
              <a:rPr lang="en-US" sz="2000" dirty="0" err="1">
                <a:latin typeface="+mj-lt"/>
              </a:rPr>
              <a:t>tfoot</a:t>
            </a:r>
            <a:r>
              <a:rPr lang="en-US" sz="2000" dirty="0">
                <a:latin typeface="+mj-lt"/>
              </a:rPr>
              <a:t>&gt;, and &lt;</a:t>
            </a:r>
            <a:r>
              <a:rPr lang="en-US" sz="2000" dirty="0" err="1">
                <a:latin typeface="+mj-lt"/>
              </a:rPr>
              <a:t>tbody</a:t>
            </a:r>
            <a:r>
              <a:rPr lang="en-US" sz="2000" dirty="0">
                <a:latin typeface="+mj-lt"/>
              </a:rPr>
              <a:t>&gt; elements. </a:t>
            </a:r>
          </a:p>
          <a:p>
            <a:pPr marL="152396" indent="0">
              <a:buNone/>
            </a:pPr>
            <a:r>
              <a:rPr lang="en-US" sz="2400" dirty="0">
                <a:latin typeface="+mj-lt"/>
              </a:rPr>
              <a:t>Notice the </a:t>
            </a:r>
            <a:r>
              <a:rPr lang="en-US" sz="2400" b="1" dirty="0">
                <a:latin typeface="+mj-lt"/>
              </a:rPr>
              <a:t>border-collapse</a:t>
            </a:r>
            <a:r>
              <a:rPr lang="en-US" sz="2400" dirty="0">
                <a:latin typeface="+mj-lt"/>
              </a:rPr>
              <a:t> property. This property selects the table’s </a:t>
            </a:r>
            <a:r>
              <a:rPr lang="en-CA" sz="2400" dirty="0">
                <a:latin typeface="+mj-lt"/>
              </a:rPr>
              <a:t>border model.</a:t>
            </a:r>
            <a:endParaRPr lang="en-US" sz="2400" dirty="0">
              <a:latin typeface="+mj-lt"/>
            </a:endParaRPr>
          </a:p>
          <a:p>
            <a:pPr lvl="1"/>
            <a:r>
              <a:rPr lang="en-CA" sz="2000" dirty="0">
                <a:latin typeface="+mj-lt"/>
              </a:rPr>
              <a:t>The default is the </a:t>
            </a:r>
            <a:r>
              <a:rPr lang="en-CA" sz="2000" b="1" dirty="0">
                <a:latin typeface="+mj-lt"/>
              </a:rPr>
              <a:t>separated</a:t>
            </a:r>
            <a:r>
              <a:rPr lang="en-CA" sz="2000" dirty="0">
                <a:latin typeface="+mj-lt"/>
              </a:rPr>
              <a:t> model or value (</a:t>
            </a:r>
            <a:r>
              <a:rPr lang="en-US" sz="2000" dirty="0">
                <a:latin typeface="+mj-lt"/>
              </a:rPr>
              <a:t>each cell has its own unique borders)</a:t>
            </a:r>
          </a:p>
          <a:p>
            <a:pPr lvl="1"/>
            <a:r>
              <a:rPr lang="en-CA" sz="2000" dirty="0">
                <a:latin typeface="+mj-lt"/>
              </a:rPr>
              <a:t>The </a:t>
            </a:r>
            <a:r>
              <a:rPr lang="en-CA" sz="2000" b="1" dirty="0">
                <a:latin typeface="+mj-lt"/>
              </a:rPr>
              <a:t>collapsed</a:t>
            </a:r>
            <a:r>
              <a:rPr lang="en-CA" sz="2000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border model makes adjacent cells share a single border.</a:t>
            </a:r>
          </a:p>
          <a:p>
            <a:pPr lvl="1"/>
            <a:endParaRPr lang="en-US" sz="2000" dirty="0">
              <a:latin typeface="+mj-lt"/>
            </a:endParaRPr>
          </a:p>
          <a:p>
            <a:pPr marL="152396" indent="0">
              <a:buNone/>
            </a:pPr>
            <a:r>
              <a:rPr lang="en-US" sz="2400" b="1" dirty="0">
                <a:latin typeface="+mj-lt"/>
              </a:rPr>
              <a:t>Padding</a:t>
            </a:r>
            <a:r>
              <a:rPr lang="en-US" sz="2400" dirty="0">
                <a:latin typeface="+mj-lt"/>
              </a:rPr>
              <a:t> is can be assigned to both the &lt;table&gt; and the &lt;td&gt; element to put whitespace around the contents of a cell</a:t>
            </a:r>
          </a:p>
          <a:p>
            <a:pPr marL="152396" indent="0">
              <a:buNone/>
            </a:pPr>
            <a:r>
              <a:rPr lang="en-US" sz="2400" b="1" dirty="0">
                <a:latin typeface="+mj-lt"/>
              </a:rPr>
              <a:t>Border-spacing</a:t>
            </a:r>
            <a:r>
              <a:rPr lang="en-US" sz="2400" dirty="0">
                <a:latin typeface="+mj-lt"/>
              </a:rPr>
              <a:t> puts whitespace around the cell itself.</a:t>
            </a:r>
          </a:p>
          <a:p>
            <a:endParaRPr lang="en-C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572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69CD-4D67-4398-BCCC-62034C45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Box format with internal CSS</a:t>
            </a:r>
            <a:endParaRPr lang="en-CA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9D9C3-B3A0-4764-814C-D7615FDFA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l">
              <a:buNone/>
            </a:pPr>
            <a:r>
              <a:rPr lang="en-US" b="0" i="0" u="none" strike="noStrike" baseline="0" dirty="0">
                <a:latin typeface="+mj-lt"/>
              </a:rPr>
              <a:t>While there is almost no end to the different ways one can style a table, there are a number of common approaches. </a:t>
            </a:r>
          </a:p>
          <a:p>
            <a:pPr marL="152396" indent="0" algn="l">
              <a:buNone/>
            </a:pPr>
            <a:r>
              <a:rPr lang="en-US" dirty="0">
                <a:latin typeface="+mj-lt"/>
              </a:rPr>
              <a:t>A very </a:t>
            </a:r>
            <a:r>
              <a:rPr lang="en-US" b="0" i="0" u="none" strike="noStrike" baseline="0" dirty="0">
                <a:latin typeface="+mj-lt"/>
              </a:rPr>
              <a:t>common one: </a:t>
            </a:r>
            <a:r>
              <a:rPr lang="en-US" b="1" i="0" u="none" strike="noStrike" baseline="0" dirty="0">
                <a:latin typeface="+mj-lt"/>
              </a:rPr>
              <a:t>the box format, </a:t>
            </a:r>
          </a:p>
          <a:p>
            <a:pPr lvl="1"/>
            <a:r>
              <a:rPr lang="en-US" b="0" i="0" u="none" strike="noStrike" baseline="0" dirty="0">
                <a:latin typeface="+mj-lt"/>
              </a:rPr>
              <a:t>apply background colors and borders </a:t>
            </a:r>
            <a:r>
              <a:rPr lang="en-CA" b="0" i="0" u="none" strike="noStrike" baseline="0" dirty="0">
                <a:latin typeface="+mj-lt"/>
              </a:rPr>
              <a:t>in various ways</a:t>
            </a:r>
            <a:endParaRPr lang="en-CA" sz="1867" dirty="0">
              <a:latin typeface="+mj-lt"/>
            </a:endParaRPr>
          </a:p>
        </p:txBody>
      </p:sp>
      <p:pic>
        <p:nvPicPr>
          <p:cNvPr id="5" name="Picture 4" descr="FIGURE 5.8 An example boxed table">
            <a:extLst>
              <a:ext uri="{FF2B5EF4-FFF2-40B4-BE49-F238E27FC236}">
                <a16:creationId xmlns:a16="http://schemas.microsoft.com/office/drawing/2014/main" id="{543A10C4-E426-4C96-AD26-596760270A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618"/>
          <a:stretch/>
        </p:blipFill>
        <p:spPr>
          <a:xfrm>
            <a:off x="2811026" y="4047481"/>
            <a:ext cx="5875335" cy="227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44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69CD-4D67-4398-BCCC-62034C45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5371"/>
            <a:ext cx="10972800" cy="1850496"/>
          </a:xfrm>
        </p:spPr>
        <p:txBody>
          <a:bodyPr/>
          <a:lstStyle/>
          <a:p>
            <a:r>
              <a:rPr lang="en-CA" dirty="0"/>
              <a:t>Table with </a:t>
            </a:r>
            <a:br>
              <a:rPr lang="en-CA" dirty="0"/>
            </a:br>
            <a:r>
              <a:rPr lang="en-CA" dirty="0"/>
              <a:t>Box Format</a:t>
            </a:r>
          </a:p>
        </p:txBody>
      </p:sp>
      <p:pic>
        <p:nvPicPr>
          <p:cNvPr id="5" name="Picture 4" descr="FIGURE 5.8 An example boxed table">
            <a:extLst>
              <a:ext uri="{FF2B5EF4-FFF2-40B4-BE49-F238E27FC236}">
                <a16:creationId xmlns:a16="http://schemas.microsoft.com/office/drawing/2014/main" id="{543A10C4-E426-4C96-AD26-596760270A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5"/>
          <a:stretch/>
        </p:blipFill>
        <p:spPr>
          <a:xfrm>
            <a:off x="6096000" y="482224"/>
            <a:ext cx="5384800" cy="56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79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8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686</Words>
  <Application>Microsoft Office PowerPoint</Application>
  <PresentationFormat>Widescreen</PresentationFormat>
  <Paragraphs>106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Office Theme</vt:lpstr>
      <vt:lpstr>HTML Tables</vt:lpstr>
      <vt:lpstr>Objectives</vt:lpstr>
      <vt:lpstr>HTML Tables</vt:lpstr>
      <vt:lpstr>Table Elements</vt:lpstr>
      <vt:lpstr>Basic table structure</vt:lpstr>
      <vt:lpstr>Border attribute Inline style</vt:lpstr>
      <vt:lpstr>PowerPoint Presentation</vt:lpstr>
      <vt:lpstr>Table attributes  summary</vt:lpstr>
      <vt:lpstr>Semantic Elements for tables</vt:lpstr>
      <vt:lpstr>PowerPoint Presentation</vt:lpstr>
      <vt:lpstr>Spanning Rows and Columns</vt:lpstr>
      <vt:lpstr>PowerPoint Presentation</vt:lpstr>
      <vt:lpstr>PowerPoint Presentation</vt:lpstr>
      <vt:lpstr>Simple use of  internal styles</vt:lpstr>
      <vt:lpstr>Cascading Style Sheets Styles</vt:lpstr>
      <vt:lpstr>Styling table borders</vt:lpstr>
      <vt:lpstr>Styling Tables (Borders)</vt:lpstr>
      <vt:lpstr>Box format with internal CSS</vt:lpstr>
      <vt:lpstr>Table with  Box Format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Yasaman Amannejad</dc:creator>
  <cp:lastModifiedBy>Patrick Perri</cp:lastModifiedBy>
  <cp:revision>72</cp:revision>
  <cp:lastPrinted>2018-09-16T03:49:13Z</cp:lastPrinted>
  <dcterms:created xsi:type="dcterms:W3CDTF">2018-06-11T03:49:54Z</dcterms:created>
  <dcterms:modified xsi:type="dcterms:W3CDTF">2023-01-17T21:12:16Z</dcterms:modified>
</cp:coreProperties>
</file>