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3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1" r:id="rId11"/>
    <p:sldId id="270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99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48"/>
    <p:restoredTop sz="91386"/>
  </p:normalViewPr>
  <p:slideViewPr>
    <p:cSldViewPr snapToGrid="0" snapToObjects="1">
      <p:cViewPr varScale="1">
        <p:scale>
          <a:sx n="128" d="100"/>
          <a:sy n="128" d="100"/>
        </p:scale>
        <p:origin x="520" y="176"/>
      </p:cViewPr>
      <p:guideLst/>
    </p:cSldViewPr>
  </p:slideViewPr>
  <p:outlineViewPr>
    <p:cViewPr>
      <p:scale>
        <a:sx n="33" d="100"/>
        <a:sy n="33" d="100"/>
      </p:scale>
      <p:origin x="0" y="-262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D178EB-926E-5840-BB72-582050BC0549}" type="datetimeFigureOut">
              <a:rPr lang="en-CA" smtClean="0"/>
              <a:t>2026-01-06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CC262-BF5D-0349-9CBE-48C326D84D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1612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6CC262-BF5D-0349-9CBE-48C326D84D5E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3834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B4DFB-DE71-FEFB-FAEF-1741393B7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47278-B161-272C-2667-F37AFC5265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FED3B-EC88-5C01-E629-959ED75C0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4635-7983-7146-9A88-9577215FEF2C}" type="datetimeFigureOut">
              <a:rPr lang="en-CA" smtClean="0"/>
              <a:t>2026-01-06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9D68A-AC7C-B41B-0EDD-E8933FA07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EAC22-D79C-4D5D-8C48-FC110C40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42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C7478-EB0D-B9D0-BBEB-1C93648F6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A7605-92B1-3904-E37A-41EDA342A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5F42D-EB31-BF54-BAE7-7C21BD0B6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4635-7983-7146-9A88-9577215FEF2C}" type="datetimeFigureOut">
              <a:rPr lang="en-CA" smtClean="0"/>
              <a:t>2026-01-06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BA527-CAD0-5F60-D98E-9D07E272D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PJ Perri  CC BY-SA 4.0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3EF84-2D57-F357-F8EB-EA6239527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112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4E74A-2AA6-3544-EA27-63E0C269E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6F707-9F00-1CDC-2A59-4C11A97B0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201A6-84F3-4408-C8C0-B4AEC6F98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4635-7983-7146-9A88-9577215FEF2C}" type="datetimeFigureOut">
              <a:rPr lang="en-CA" smtClean="0"/>
              <a:t>2026-01-06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6340B-549F-EF13-512C-67368B978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9FFDE-476B-810C-DB7B-E7EF9B922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308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159C5-E9FA-E2E0-C0FE-FCD37CF1B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9DF77-A083-4B7C-7810-CD6093F77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967E8-8BBC-7697-88F9-963CECD5F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418DB-93E1-D772-1503-6C194C796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4635-7983-7146-9A88-9577215FEF2C}" type="datetimeFigureOut">
              <a:rPr lang="en-CA" smtClean="0"/>
              <a:t>2026-01-06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2DE07-7FD5-D973-580A-D97813BE8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PJ Perri  CC BY-SA 4.0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4C8E1-5477-6EF2-0DE3-9EDD3587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13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F7E07-A71E-5794-F1C4-BC8A0307D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D773C-6CBD-3266-61DB-F11CAE3A6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5936E-8F99-A380-48B4-6594BAF0F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7964C0-8E80-ED0A-8618-A1CC537B1A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0B62EC-B127-3EB3-DC77-FD22CC113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D33B24-C712-E88B-728A-F7F0C129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4635-7983-7146-9A88-9577215FEF2C}" type="datetimeFigureOut">
              <a:rPr lang="en-CA" smtClean="0"/>
              <a:t>2026-01-06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5380A5-AD43-5F82-E4DB-34ECFF26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PJ Perri  CC BY-SA 4.0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2C0A43-2907-B07C-5D41-67C8894D3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607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D266B-87E9-1D98-2401-A1B3F087F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6C37C7-D058-1247-FD17-801326283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4635-7983-7146-9A88-9577215FEF2C}" type="datetimeFigureOut">
              <a:rPr lang="en-CA" smtClean="0"/>
              <a:t>2026-01-06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6C4AC-2E97-049A-9AE2-273B1DD77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PJ Perri  CC BY-SA 4.0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F4EA8-2265-E82D-A2C4-BED3A08C4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44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F90036-0D01-9E8E-E7B2-59AFB2167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4635-7983-7146-9A88-9577215FEF2C}" type="datetimeFigureOut">
              <a:rPr lang="en-CA" smtClean="0"/>
              <a:t>2026-01-06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F07688-3860-DA2B-9232-EFBD1609D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C4549-94D3-03E5-9505-ADD7C20F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8422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00AF-4B4F-A2B9-8BCA-54ECE9D6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845F6-1B33-ACF1-83E6-E9EEB7013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128679-41A0-8A48-6BBD-F75ABC404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9433E-9E02-86D7-2979-7912470B9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4635-7983-7146-9A88-9577215FEF2C}" type="datetimeFigureOut">
              <a:rPr lang="en-CA" smtClean="0"/>
              <a:t>2026-01-06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88654-BCD3-A253-40F6-1309FFABB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PJ Perri  CC BY-SA 4.0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E172B-7C61-7977-0130-ABB4CE04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984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2D755-29D4-4048-907E-3C353AC98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F0B3B0-9113-6F7E-111E-A09843320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F9F00-961F-993C-3420-20C5E709E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F2259-DB42-7CE4-922F-51229C67D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4635-7983-7146-9A88-9577215FEF2C}" type="datetimeFigureOut">
              <a:rPr lang="en-CA" smtClean="0"/>
              <a:t>2026-01-06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F14A1-B327-AD60-8A1D-E863948FD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PJ Perri  CC BY-SA 4.0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83D2B-8044-5D25-6101-C89F3F589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818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4FEF-EDA2-1279-05F1-0563069B2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8641B-20EC-44AD-0CD6-D472860B7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95286-5504-4693-50D1-7D1F8FB86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4635-7983-7146-9A88-9577215FEF2C}" type="datetimeFigureOut">
              <a:rPr lang="en-CA" smtClean="0"/>
              <a:t>2026-01-06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109B6-8863-EA5D-18C4-11D696E7A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PJ Perri  CC BY-SA 4.0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4D244-4618-5F18-9A69-8B6A0B4BD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08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E4D591-D725-D974-AE00-3EB077014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35663-27EE-9235-F914-987CDEE9E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E8FAE-AEAE-8F05-DE44-FACEFB433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4635-7983-7146-9A88-9577215FEF2C}" type="datetimeFigureOut">
              <a:rPr lang="en-CA" smtClean="0"/>
              <a:t>2026-01-06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0B6C6-7565-7B6E-DE4C-43C972E22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PJ Perri  CC BY-SA 4.0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60429-4045-7708-8E62-18E474AD6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72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-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866275"/>
            <a:ext cx="5422390" cy="4994776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324000" indent="0" algn="l">
              <a:buNone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630000" indent="0" algn="l">
              <a:buNone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008000" indent="0" algn="l">
              <a:buNone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 marL="1368000" indent="0" algn="l">
              <a:buNone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866275"/>
            <a:ext cx="5422392" cy="4994776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 marL="324000" indent="0" algn="l">
              <a:buNone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630000" indent="0" algn="l">
              <a:buNone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008000" indent="0" algn="l">
              <a:buNone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  <a:lvl5pPr marL="1368000" indent="0" algn="l">
              <a:buNone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152876"/>
            <a:ext cx="9977108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PJ Perri  CC BY-SA 4.0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836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://creativecommons.org/licenses/by-sa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92A077-5796-5E6F-CE17-62D3B1F5F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762BB-2044-3597-A459-A3A00044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76AF8-8E56-1353-3CAF-DA7D57AA0F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B4635-7983-7146-9A88-9577215FEF2C}" type="datetimeFigureOut">
              <a:rPr lang="en-CA" smtClean="0"/>
              <a:t>2026-01-06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56BBE-0E20-0264-3AC2-C5C489948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8F0E2-3F01-F2AF-0A1D-D9C42CBCC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90622EF-A5BB-3B67-DAAF-46142B2AECA0}"/>
              </a:ext>
            </a:extLst>
          </p:cNvPr>
          <p:cNvGrpSpPr/>
          <p:nvPr userDrawn="1"/>
        </p:nvGrpSpPr>
        <p:grpSpPr>
          <a:xfrm rot="16200000">
            <a:off x="-536407" y="5908401"/>
            <a:ext cx="1524001" cy="215444"/>
            <a:chOff x="581192" y="6518001"/>
            <a:chExt cx="1524001" cy="21544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6B2E7F-E7C6-7E70-0CDA-611A48292736}"/>
                </a:ext>
              </a:extLst>
            </p:cNvPr>
            <p:cNvSpPr txBox="1"/>
            <p:nvPr userDrawn="1"/>
          </p:nvSpPr>
          <p:spPr>
            <a:xfrm>
              <a:off x="581192" y="6518001"/>
              <a:ext cx="76200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CA" sz="800" b="0" dirty="0"/>
                <a:t>PJ Perri 2023</a:t>
              </a:r>
              <a:endParaRPr lang="en-US" sz="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9" name="Picture 2" descr="Creative Commons License">
              <a:hlinkClick r:id="rId14"/>
              <a:extLst>
                <a:ext uri="{FF2B5EF4-FFF2-40B4-BE49-F238E27FC236}">
                  <a16:creationId xmlns:a16="http://schemas.microsoft.com/office/drawing/2014/main" id="{6EE9734D-225E-F870-6F29-148FF066E02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3193" y="6554285"/>
              <a:ext cx="762000" cy="142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20568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mtroyal.ca/AcademicSupport/Registrar/Registration/schedule.ht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atalog.mtroyal.ca/content.php?catoid=29&amp;navoid=2315&amp;hl=%22gpa%22&amp;returnto=search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mailto:accessibility@mtroyal.ca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mtroyal.ca/CampusServices/CampusResources/StudentCommunityStandards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hyperlink" Target="mailto:studentaffairs@mtroyal.ca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ountRoyalCSIS/IA-info/wiki/Getting-Help" TargetMode="External"/><Relationship Id="rId3" Type="http://schemas.openxmlformats.org/officeDocument/2006/relationships/hyperlink" Target="mailto:sls@mtroyal.ca" TargetMode="External"/><Relationship Id="rId7" Type="http://schemas.openxmlformats.org/officeDocument/2006/relationships/hyperlink" Target="https://sites.google.com/mtroyal.ca/techtuts/home" TargetMode="External"/><Relationship Id="rId2" Type="http://schemas.openxmlformats.org/officeDocument/2006/relationships/hyperlink" Target="https://www.mtroyal.ca/CampusServices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:%20http:/mtroyal.ca/CampusServices/CampusResources/CampusEquityMeaningfulInclusion" TargetMode="External"/><Relationship Id="rId11" Type="http://schemas.openxmlformats.org/officeDocument/2006/relationships/image" Target="../media/image23.svg"/><Relationship Id="rId5" Type="http://schemas.openxmlformats.org/officeDocument/2006/relationships/hyperlink" Target="http://mtroyal.ca/CampusServices/WellnessServices" TargetMode="External"/><Relationship Id="rId10" Type="http://schemas.openxmlformats.org/officeDocument/2006/relationships/image" Target="../media/image22.png"/><Relationship Id="rId4" Type="http://schemas.openxmlformats.org/officeDocument/2006/relationships/hyperlink" Target="https://www.mtroyal.ca/AcademicSupport/ResourcesServices/OfficeofStudentSuccess/EarlySupport/SSDATA_EARLY_SUPPORT_STUDENTS.htm" TargetMode="External"/><Relationship Id="rId9" Type="http://schemas.openxmlformats.org/officeDocument/2006/relationships/hyperlink" Target="https://www.samru.ca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alendar.google.com/calendar/u/0?cid=cHBlcnJpQG10cm95YWwuY2E" TargetMode="External"/><Relationship Id="rId2" Type="http://schemas.openxmlformats.org/officeDocument/2006/relationships/hyperlink" Target="mailto:jdavis@mtroyal.ca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2B652-DB62-333D-079A-3FF19F6E6F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COMP 2511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54A9B-7A2A-C696-919F-465B388C61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/>
              <a:t>WEB I – CLIENT DEVELOPMENT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62537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1CC965-F3B4-46D4-9BE0-30627010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 fontScale="90000"/>
          </a:bodyPr>
          <a:lstStyle/>
          <a:p>
            <a:r>
              <a:rPr lang="en-CA" dirty="0"/>
              <a:t>Web I: Description &amp; Overview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7A2519-E102-46C2-BECA-2A0A31FB5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dirty="0"/>
              <a:t>This 3-credit course covers the concepts and practices necessary for client-side UI development. The course provides a technical overview of the Internet environment and the structure of the World Wide Web. The technical segment will focus on the design and implementation of a responsive and accessible Web user interface.</a:t>
            </a:r>
          </a:p>
          <a:p>
            <a:pPr marL="0" indent="0">
              <a:buNone/>
            </a:pPr>
            <a:r>
              <a:rPr lang="en-CA" sz="2000" dirty="0"/>
              <a:t> PREREQUISITES: A minimum grade of "C-" in all of COMP 1001 or 1501 or 1615 or 1631.</a:t>
            </a:r>
            <a:endParaRPr lang="en-US" sz="2000" dirty="0"/>
          </a:p>
        </p:txBody>
      </p:sp>
      <p:pic>
        <p:nvPicPr>
          <p:cNvPr id="7" name="Picture 6" descr="Sphere of mesh and nodes">
            <a:extLst>
              <a:ext uri="{FF2B5EF4-FFF2-40B4-BE49-F238E27FC236}">
                <a16:creationId xmlns:a16="http://schemas.microsoft.com/office/drawing/2014/main" id="{AB61343E-EFA4-2CCF-4936-A5FB1F6736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147" r="9158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3DDD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866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DCD01C-F840-4053-9A8F-421E2042C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68" y="365125"/>
            <a:ext cx="944033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Course Structure</a:t>
            </a:r>
          </a:p>
        </p:txBody>
      </p:sp>
      <p:pic>
        <p:nvPicPr>
          <p:cNvPr id="14" name="Content Placeholder 13" descr="Classroom outline">
            <a:extLst>
              <a:ext uri="{FF2B5EF4-FFF2-40B4-BE49-F238E27FC236}">
                <a16:creationId xmlns:a16="http://schemas.microsoft.com/office/drawing/2014/main" id="{792EE8FD-6023-7590-EAFA-231722434C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570706"/>
            <a:ext cx="914400" cy="914400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51A204-11E8-CBA2-479F-C06406F34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2" rtlCol="0">
            <a:normAutofit/>
          </a:bodyPr>
          <a:lstStyle/>
          <a:p>
            <a:r>
              <a:rPr lang="en-US" sz="2000" dirty="0"/>
              <a:t>In-person, live</a:t>
            </a:r>
          </a:p>
          <a:p>
            <a:pPr marL="446088" lvl="1" indent="-238125"/>
            <a:r>
              <a:rPr lang="en-US" sz="2000" dirty="0"/>
              <a:t>3 hours lecture, 1-hour lab </a:t>
            </a:r>
          </a:p>
          <a:p>
            <a:pPr marL="674688" lvl="2" indent="-238125"/>
            <a:r>
              <a:rPr lang="en-US" dirty="0"/>
              <a:t>New material will be formally presented in lectures. </a:t>
            </a:r>
          </a:p>
          <a:p>
            <a:pPr marL="674688" lvl="2" indent="-238125"/>
            <a:r>
              <a:rPr lang="en-US" dirty="0"/>
              <a:t>The labs will be used to reinforce the concepts covered in lectures by applying them in a concrete fashion. </a:t>
            </a:r>
          </a:p>
          <a:p>
            <a:r>
              <a:rPr lang="en-US" sz="2000" dirty="0"/>
              <a:t>Attendance of all classes, including labs, is expected and is essential to success in the course</a:t>
            </a:r>
          </a:p>
          <a:p>
            <a:r>
              <a:rPr lang="en-US" sz="2000" dirty="0"/>
              <a:t>See </a:t>
            </a:r>
            <a:r>
              <a:rPr lang="en-US" sz="2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your official MRU schedule</a:t>
            </a:r>
            <a:r>
              <a:rPr lang="en-US" sz="2000" dirty="0"/>
              <a:t> for exact times, dates and locations.</a:t>
            </a:r>
          </a:p>
          <a:p>
            <a:endParaRPr lang="en-US" sz="2000" dirty="0"/>
          </a:p>
          <a:p>
            <a:r>
              <a:rPr lang="en-US" sz="2000" dirty="0"/>
              <a:t>If required to move online, lectures and labs will remain synchronously delivered – including the tests, at the same times, made available via a Google Meet.</a:t>
            </a:r>
          </a:p>
          <a:p>
            <a:endParaRPr lang="en-US" sz="2000" dirty="0"/>
          </a:p>
          <a:p>
            <a:r>
              <a:rPr lang="en-US" sz="2000" dirty="0"/>
              <a:t>Direct communications will be sent ONLY to your MRU Gmail account. </a:t>
            </a:r>
          </a:p>
          <a:p>
            <a:r>
              <a:rPr lang="en-US" sz="2000" dirty="0"/>
              <a:t>General information, this course outline, the topic schedule, the assessment schedule, supporting resources, readings, lecture slides, assignments etc. will be made available from the Course Resource folder.</a:t>
            </a:r>
          </a:p>
        </p:txBody>
      </p:sp>
    </p:spTree>
    <p:extLst>
      <p:ext uri="{BB962C8B-B14F-4D97-AF65-F5344CB8AC3E}">
        <p14:creationId xmlns:p14="http://schemas.microsoft.com/office/powerpoint/2010/main" val="862111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9062138-AF3E-45F8-87BE-F900EE14E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68" y="365125"/>
            <a:ext cx="944033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Learning Objectives &amp; Outcomes</a:t>
            </a:r>
          </a:p>
        </p:txBody>
      </p:sp>
      <p:pic>
        <p:nvPicPr>
          <p:cNvPr id="5" name="Content Placeholder 4" descr="Brain in head outline">
            <a:extLst>
              <a:ext uri="{FF2B5EF4-FFF2-40B4-BE49-F238E27FC236}">
                <a16:creationId xmlns:a16="http://schemas.microsoft.com/office/drawing/2014/main" id="{4DED8045-FA1F-4A40-7AE8-2B513535AA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570706"/>
            <a:ext cx="914400" cy="9144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5F92426-A0C3-441E-A947-3E64C264D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numCol="2" rtlCol="0">
            <a:normAutofit/>
          </a:bodyPr>
          <a:lstStyle/>
          <a:p>
            <a:pPr marL="742950" indent="-457200">
              <a:buFont typeface="+mj-lt"/>
              <a:buAutoNum type="arabicPeriod"/>
            </a:pPr>
            <a:r>
              <a:rPr lang="en-CA" sz="2000" dirty="0"/>
              <a:t>This course will help students understand how the web works and is architected. </a:t>
            </a:r>
          </a:p>
          <a:p>
            <a:pPr marL="742950" indent="-457200">
              <a:buFont typeface="+mj-lt"/>
              <a:buAutoNum type="arabicPeriod"/>
            </a:pPr>
            <a:r>
              <a:rPr lang="en-CA" sz="2000" dirty="0"/>
              <a:t>Students will understand the structure of the World Wide Web as interconnected hypertext documents.</a:t>
            </a:r>
          </a:p>
          <a:p>
            <a:pPr marL="742950" indent="-457200">
              <a:buFont typeface="+mj-lt"/>
              <a:buAutoNum type="arabicPeriod"/>
            </a:pPr>
            <a:r>
              <a:rPr lang="en-CA" sz="2000" dirty="0"/>
              <a:t>Students will be able to design and implement static pages using HTML and CSS.</a:t>
            </a:r>
          </a:p>
          <a:p>
            <a:pPr marL="742950" indent="-457200">
              <a:buFont typeface="+mj-lt"/>
              <a:buAutoNum type="arabicPeriod"/>
            </a:pPr>
            <a:r>
              <a:rPr lang="en-CA" sz="2000" dirty="0"/>
              <a:t>Students will create and validate HTML documents. </a:t>
            </a:r>
          </a:p>
          <a:p>
            <a:pPr marL="742950" indent="-457200">
              <a:buFont typeface="+mj-lt"/>
              <a:buAutoNum type="arabicPeriod"/>
            </a:pPr>
            <a:r>
              <a:rPr lang="en-CA" sz="2000" dirty="0"/>
              <a:t>They will use CSS for advanced formatting and responsive layouts.</a:t>
            </a:r>
          </a:p>
          <a:p>
            <a:pPr marL="285750" indent="0">
              <a:buNone/>
            </a:pPr>
            <a:endParaRPr lang="en-CA" sz="2000" dirty="0"/>
          </a:p>
          <a:p>
            <a:pPr marL="742950" indent="-457200">
              <a:buFont typeface="+mj-lt"/>
              <a:buAutoNum type="arabicPeriod" startAt="6"/>
            </a:pPr>
            <a:r>
              <a:rPr lang="en-CA" sz="2000" dirty="0"/>
              <a:t>Students will be able to compare/contrast graphic media file format characteristics such as color depth and compression.</a:t>
            </a:r>
          </a:p>
          <a:p>
            <a:pPr marL="742950" indent="-457200">
              <a:buFont typeface="+mj-lt"/>
              <a:buAutoNum type="arabicPeriod" startAt="6"/>
            </a:pPr>
            <a:r>
              <a:rPr lang="en-CA" sz="2000" dirty="0"/>
              <a:t>They will understand why accessibility issues are an important consideration in web page development and will learn techniques to design accessible Web Pages.</a:t>
            </a:r>
          </a:p>
          <a:p>
            <a:pPr marL="742950" indent="-457200">
              <a:buFont typeface="+mj-lt"/>
              <a:buAutoNum type="arabicPeriod" startAt="6"/>
            </a:pPr>
            <a:r>
              <a:rPr lang="en-CA" sz="2000" dirty="0"/>
              <a:t>Students will be exposed to CSS libraries and frameworks.</a:t>
            </a:r>
          </a:p>
          <a:p>
            <a:pPr marL="742950" indent="-457200">
              <a:buFont typeface="+mj-lt"/>
              <a:buAutoNum type="arabicPeriod" startAt="6"/>
            </a:pPr>
            <a:r>
              <a:rPr lang="en-CA" sz="2000" dirty="0"/>
              <a:t>Students will use version control and cloud tools to manage and deploy their websites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214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FC113-25A1-4790-8E44-C65C3BBBC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68" y="365126"/>
            <a:ext cx="9440332" cy="103629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Assessments</a:t>
            </a:r>
          </a:p>
        </p:txBody>
      </p:sp>
      <p:pic>
        <p:nvPicPr>
          <p:cNvPr id="7" name="Content Placeholder 6" descr="Checklist RTL">
            <a:extLst>
              <a:ext uri="{FF2B5EF4-FFF2-40B4-BE49-F238E27FC236}">
                <a16:creationId xmlns:a16="http://schemas.microsoft.com/office/drawing/2014/main" id="{B1D0635A-D0EF-44D8-9520-5BE5453520E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570706"/>
            <a:ext cx="914400" cy="9144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815B2E-D986-4AE8-BE8C-1D99E3B8A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401418"/>
            <a:ext cx="10515600" cy="5218043"/>
          </a:xfrm>
        </p:spPr>
        <p:txBody>
          <a:bodyPr vert="horz" lIns="90000" tIns="45720" rIns="91440" bIns="45720" numCol="2" spcCol="180000" rtlCol="0">
            <a:normAutofit lnSpcReduction="10000"/>
          </a:bodyPr>
          <a:lstStyle/>
          <a:p>
            <a:pPr marL="0" indent="0">
              <a:buNone/>
            </a:pPr>
            <a:r>
              <a:rPr lang="en-US" sz="1800" dirty="0"/>
              <a:t>Assignments</a:t>
            </a:r>
          </a:p>
          <a:p>
            <a:pPr lvl="1"/>
            <a:r>
              <a:rPr lang="en-US" sz="1400" dirty="0"/>
              <a:t>2 worth 20% (10% each)</a:t>
            </a:r>
          </a:p>
          <a:p>
            <a:pPr lvl="1"/>
            <a:r>
              <a:rPr lang="en-US" sz="1400" dirty="0"/>
              <a:t>Relatively long projects which are to be completed outside of regularly scheduled class times. </a:t>
            </a:r>
          </a:p>
          <a:p>
            <a:pPr lvl="1"/>
            <a:r>
              <a:rPr lang="en-US" sz="1400" dirty="0"/>
              <a:t>Graded on a combination of correct and complete functionality, quality of design and readability of code. Detailed requirements, due dates, and submission instructions will be given for each assignment.</a:t>
            </a:r>
          </a:p>
          <a:p>
            <a:pPr marL="0" indent="0">
              <a:buNone/>
            </a:pPr>
            <a:r>
              <a:rPr lang="en-US" sz="1800" dirty="0"/>
              <a:t>Lab Exercises</a:t>
            </a:r>
          </a:p>
          <a:p>
            <a:pPr lvl="1"/>
            <a:r>
              <a:rPr lang="en-US" sz="1400" dirty="0"/>
              <a:t>There will be 10 lab exercises during the 12 week course</a:t>
            </a:r>
          </a:p>
          <a:p>
            <a:pPr lvl="1"/>
            <a:r>
              <a:rPr lang="en-US" sz="1400" dirty="0"/>
              <a:t>You will submit these exercises after you have completed them. I will grade them. Your lab mark will be the best 8 out of the 10 lab exercises.</a:t>
            </a:r>
          </a:p>
          <a:p>
            <a:pPr lvl="1"/>
            <a:r>
              <a:rPr lang="en-US" sz="1400" dirty="0"/>
              <a:t>Lab Exercises are worth 10% of the course mark.</a:t>
            </a:r>
          </a:p>
          <a:p>
            <a:pPr marL="0" lvl="1" indent="0">
              <a:buNone/>
            </a:pPr>
            <a:r>
              <a:rPr lang="en-US" sz="1800" dirty="0"/>
              <a:t>Lab Quiz</a:t>
            </a:r>
          </a:p>
          <a:p>
            <a:pPr lvl="1"/>
            <a:r>
              <a:rPr lang="en-US" sz="1400" dirty="0"/>
              <a:t>There will be one lab Quiz on April 7, 2026.</a:t>
            </a:r>
          </a:p>
          <a:p>
            <a:pPr lvl="1"/>
            <a:r>
              <a:rPr lang="en-US" sz="1400" dirty="0"/>
              <a:t>It will be worth 5% of your course mark.</a:t>
            </a:r>
          </a:p>
          <a:p>
            <a:pPr lvl="1"/>
            <a:r>
              <a:rPr lang="en-US" sz="1400" dirty="0"/>
              <a:t>It exists to help prepare you for the ‘live’ final examination.</a:t>
            </a:r>
          </a:p>
          <a:p>
            <a:pPr marL="0" indent="0">
              <a:buNone/>
            </a:pPr>
            <a:r>
              <a:rPr lang="en-US" sz="1800" dirty="0"/>
              <a:t>Engagement Exercise</a:t>
            </a:r>
          </a:p>
          <a:p>
            <a:pPr marL="674688" indent="-238125">
              <a:spcBef>
                <a:spcPts val="500"/>
              </a:spcBef>
            </a:pPr>
            <a:r>
              <a:rPr lang="en-US" sz="1400" dirty="0"/>
              <a:t>Each student is required to complete the Activity ‘Succeed in University)</a:t>
            </a:r>
          </a:p>
          <a:p>
            <a:pPr marL="674688" indent="-238125">
              <a:spcBef>
                <a:spcPts val="500"/>
              </a:spcBef>
            </a:pPr>
            <a:r>
              <a:rPr lang="en-US" sz="1400" dirty="0"/>
              <a:t>It will be worth 5% of your course mark.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Tests</a:t>
            </a:r>
          </a:p>
          <a:p>
            <a:pPr lvl="1"/>
            <a:r>
              <a:rPr lang="en-US" sz="1600" dirty="0"/>
              <a:t>Midterms</a:t>
            </a:r>
            <a:endParaRPr lang="en-US" sz="1700" dirty="0"/>
          </a:p>
          <a:p>
            <a:pPr lvl="2"/>
            <a:r>
              <a:rPr lang="en-US" sz="1400" dirty="0"/>
              <a:t>2 worth 15% each</a:t>
            </a:r>
          </a:p>
          <a:p>
            <a:pPr lvl="2"/>
            <a:r>
              <a:rPr lang="en-CA" sz="1400" dirty="0"/>
              <a:t>Written in class on the date specified on the course schedule. If any changes to these dates are necessary, students will be notified by electronic mail in advance. </a:t>
            </a:r>
          </a:p>
          <a:p>
            <a:pPr lvl="2"/>
            <a:r>
              <a:rPr lang="en-CA" sz="1400" dirty="0"/>
              <a:t>Students will not normally be permitted to write a missed test at a later date. A student seeking alternative arrangements must contact the instructor at least one week prior to the date of the test! </a:t>
            </a:r>
          </a:p>
          <a:p>
            <a:pPr lvl="1"/>
            <a:r>
              <a:rPr lang="en-CA" sz="1600" dirty="0"/>
              <a:t>Final</a:t>
            </a:r>
            <a:endParaRPr lang="en-CA" sz="1500" dirty="0"/>
          </a:p>
          <a:p>
            <a:pPr lvl="2"/>
            <a:r>
              <a:rPr lang="en-CA" sz="1400" dirty="0"/>
              <a:t>30%</a:t>
            </a:r>
          </a:p>
          <a:p>
            <a:pPr lvl="2"/>
            <a:r>
              <a:rPr lang="en-CA" sz="1400" dirty="0"/>
              <a:t>Scheduled by the MRU Registrar: the exact date and time determined later in the semester. Students must remain available to write a final exam between April 9 and 23, 2025. </a:t>
            </a:r>
          </a:p>
          <a:p>
            <a:pPr lvl="2"/>
            <a:r>
              <a:rPr lang="en-CA" sz="1400" dirty="0"/>
              <a:t>Will be in two parts: on paper, and live coding on a computer. Normally 3-hours long, it will cumulatively assess all course topics.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40988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6582E-B01F-48DB-8A9F-F4886AC1B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68" y="365125"/>
            <a:ext cx="944033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Grading Notes</a:t>
            </a:r>
          </a:p>
        </p:txBody>
      </p:sp>
      <p:pic>
        <p:nvPicPr>
          <p:cNvPr id="7" name="Content Placeholder 6" descr="Ruler">
            <a:extLst>
              <a:ext uri="{FF2B5EF4-FFF2-40B4-BE49-F238E27FC236}">
                <a16:creationId xmlns:a16="http://schemas.microsoft.com/office/drawing/2014/main" id="{D665E700-376F-4619-9056-0872B0DEC2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570706"/>
            <a:ext cx="914400" cy="9144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ADE1E-2758-479F-933D-1EDE5BDDF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0515600" cy="4351338"/>
          </a:xfrm>
        </p:spPr>
        <p:txBody>
          <a:bodyPr vert="horz" lIns="90000" tIns="45720" rIns="91440" bIns="45720" numCol="2" spcCol="180000" rtlCol="0">
            <a:normAutofit/>
          </a:bodyPr>
          <a:lstStyle/>
          <a:p>
            <a:r>
              <a:rPr lang="en-US" sz="1900" dirty="0"/>
              <a:t>Assessment marks are emailed to your MRU </a:t>
            </a:r>
            <a:r>
              <a:rPr lang="en-US" sz="1900" dirty="0" err="1"/>
              <a:t>gmail</a:t>
            </a:r>
            <a:r>
              <a:rPr lang="en-US" sz="1900" dirty="0"/>
              <a:t> account periodically.</a:t>
            </a:r>
          </a:p>
          <a:p>
            <a:r>
              <a:rPr lang="en-US" sz="1900" dirty="0"/>
              <a:t>The final overall weighted grade is rounded to zero decimal places.</a:t>
            </a:r>
          </a:p>
          <a:p>
            <a:pPr marL="401400" lvl="2" indent="0">
              <a:buNone/>
            </a:pPr>
            <a:endParaRPr lang="en-US" sz="1900" dirty="0"/>
          </a:p>
          <a:p>
            <a:endParaRPr lang="en-US" sz="1900" dirty="0"/>
          </a:p>
          <a:p>
            <a:endParaRPr lang="en-US" sz="1900" dirty="0"/>
          </a:p>
          <a:p>
            <a:endParaRPr lang="en-US" sz="1900" dirty="0"/>
          </a:p>
          <a:p>
            <a:endParaRPr lang="en-US" sz="1900" dirty="0"/>
          </a:p>
          <a:p>
            <a:endParaRPr lang="en-US" sz="1900" dirty="0"/>
          </a:p>
          <a:p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r>
              <a:rPr lang="en-US" sz="1900" dirty="0"/>
              <a:t>Percentages, letter grades and GPA the </a:t>
            </a:r>
            <a:r>
              <a:rPr lang="en-US" sz="1900" dirty="0">
                <a:hlinkClick r:id="rId4"/>
              </a:rPr>
              <a:t>MRU Academic calendar</a:t>
            </a:r>
            <a:r>
              <a:rPr lang="en-US" sz="1900" dirty="0"/>
              <a:t> policy.</a:t>
            </a:r>
          </a:p>
          <a:p>
            <a:pPr marL="0" indent="0">
              <a:buNone/>
            </a:pPr>
            <a:r>
              <a:rPr lang="en-US" sz="1900" dirty="0"/>
              <a:t>     Note the </a:t>
            </a:r>
            <a:r>
              <a:rPr lang="en-US" sz="1900" b="1" dirty="0"/>
              <a:t>qualitative descriptors </a:t>
            </a:r>
            <a:r>
              <a:rPr lang="en-US" sz="1900" dirty="0"/>
              <a:t>:</a:t>
            </a:r>
          </a:p>
          <a:p>
            <a:pPr marL="457200" lvl="1" indent="0">
              <a:buNone/>
            </a:pPr>
            <a:r>
              <a:rPr lang="en-US" sz="1900" b="1" dirty="0"/>
              <a:t>&lt; 50% </a:t>
            </a:r>
            <a:r>
              <a:rPr lang="en-US" sz="1900" dirty="0">
                <a:sym typeface="Wingdings" panose="05000000000000000000" pitchFamily="2" charset="2"/>
              </a:rPr>
              <a:t> </a:t>
            </a:r>
            <a:r>
              <a:rPr lang="en-US" sz="1900" b="1" dirty="0"/>
              <a:t>Fail</a:t>
            </a:r>
            <a:r>
              <a:rPr lang="en-US" sz="1900" dirty="0"/>
              <a:t> - Does not meet academic requirement and do not withdraw.</a:t>
            </a:r>
          </a:p>
          <a:p>
            <a:pPr marL="457200" lvl="1" indent="0">
              <a:buNone/>
            </a:pPr>
            <a:r>
              <a:rPr lang="en-US" sz="1900" b="1" dirty="0"/>
              <a:t>&lt; 60% </a:t>
            </a:r>
            <a:r>
              <a:rPr lang="en-US" sz="1900" dirty="0">
                <a:sym typeface="Wingdings" panose="05000000000000000000" pitchFamily="2" charset="2"/>
              </a:rPr>
              <a:t> </a:t>
            </a:r>
            <a:r>
              <a:rPr lang="en-US" sz="1900" b="1" dirty="0"/>
              <a:t>Marginal</a:t>
            </a:r>
            <a:r>
              <a:rPr lang="en-US" sz="1900" dirty="0"/>
              <a:t> performance </a:t>
            </a:r>
          </a:p>
          <a:p>
            <a:pPr marL="457200" lvl="1" indent="0">
              <a:buNone/>
            </a:pPr>
            <a:r>
              <a:rPr lang="en-US" sz="1900" b="1" dirty="0"/>
              <a:t>&lt; 70% </a:t>
            </a:r>
            <a:r>
              <a:rPr lang="en-US" sz="1900" dirty="0">
                <a:sym typeface="Wingdings" panose="05000000000000000000" pitchFamily="2" charset="2"/>
              </a:rPr>
              <a:t> </a:t>
            </a:r>
            <a:r>
              <a:rPr lang="en-US" sz="1900" b="1" dirty="0"/>
              <a:t>Satisfactory</a:t>
            </a:r>
            <a:r>
              <a:rPr lang="en-US" sz="1900" dirty="0"/>
              <a:t> - Basic understanding</a:t>
            </a:r>
          </a:p>
          <a:p>
            <a:pPr marL="457200" lvl="1" indent="0">
              <a:buNone/>
            </a:pPr>
            <a:r>
              <a:rPr lang="en-US" sz="1900" b="1" dirty="0"/>
              <a:t>&lt; 80% </a:t>
            </a:r>
            <a:r>
              <a:rPr lang="en-US" sz="1900" dirty="0">
                <a:sym typeface="Wingdings" panose="05000000000000000000" pitchFamily="2" charset="2"/>
              </a:rPr>
              <a:t></a:t>
            </a:r>
            <a:r>
              <a:rPr lang="en-US" sz="1900" dirty="0"/>
              <a:t> </a:t>
            </a:r>
            <a:r>
              <a:rPr lang="en-US" sz="1900" b="1" dirty="0"/>
              <a:t>Good</a:t>
            </a:r>
            <a:r>
              <a:rPr lang="en-US" sz="1900" dirty="0"/>
              <a:t> - Clearly above-average performance</a:t>
            </a:r>
            <a:r>
              <a:rPr lang="en-US" sz="1900" b="1" dirty="0"/>
              <a:t>, </a:t>
            </a:r>
            <a:r>
              <a:rPr lang="en-US" sz="1900" dirty="0"/>
              <a:t>generally complete understanding..</a:t>
            </a:r>
          </a:p>
          <a:p>
            <a:pPr marL="457200" lvl="1" indent="0">
              <a:buNone/>
            </a:pPr>
            <a:r>
              <a:rPr lang="en-US" sz="1900" dirty="0"/>
              <a:t> </a:t>
            </a:r>
            <a:r>
              <a:rPr lang="en-US" sz="1900" b="1" dirty="0"/>
              <a:t>&gt;=80% </a:t>
            </a:r>
            <a:r>
              <a:rPr lang="en-US" sz="1900" dirty="0">
                <a:sym typeface="Wingdings" panose="05000000000000000000" pitchFamily="2" charset="2"/>
              </a:rPr>
              <a:t> </a:t>
            </a:r>
            <a:r>
              <a:rPr lang="en-US" sz="1900" b="1" dirty="0"/>
              <a:t>Excellent</a:t>
            </a:r>
            <a:r>
              <a:rPr lang="en-US" sz="1900" dirty="0"/>
              <a:t> - Superior performance &amp; comprehensive understanding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465820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8602F3-F443-408A-AEB4-001B76771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962" y="365125"/>
            <a:ext cx="9473425" cy="1325563"/>
          </a:xfrm>
        </p:spPr>
        <p:txBody>
          <a:bodyPr/>
          <a:lstStyle/>
          <a:p>
            <a:r>
              <a:rPr lang="en-CA" sz="5400" dirty="0"/>
              <a:t>Resource</a:t>
            </a:r>
            <a:r>
              <a:rPr lang="en-CA" sz="5400" b="1" dirty="0"/>
              <a:t> </a:t>
            </a:r>
            <a:r>
              <a:rPr lang="en-CA" sz="5400" dirty="0"/>
              <a:t>requirements</a:t>
            </a:r>
            <a:endParaRPr lang="en-US" sz="54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0C55F7-C52B-492A-B4D8-2E3DC0173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Textbooks – None Required but…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8E1DECB-0139-4168-96EA-332B87FDD5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CA" i="1" dirty="0"/>
              <a:t>Fundamentals of Web Development</a:t>
            </a:r>
            <a:r>
              <a:rPr lang="en-CA" dirty="0"/>
              <a:t>, </a:t>
            </a:r>
          </a:p>
          <a:p>
            <a:pPr marL="273050" lvl="1" indent="0">
              <a:buNone/>
            </a:pPr>
            <a:r>
              <a:rPr lang="en-CA" dirty="0"/>
              <a:t>Connolly and Hoar, Pearson, 2017. </a:t>
            </a:r>
          </a:p>
          <a:p>
            <a:pPr marL="449263" lvl="1" indent="-176213"/>
            <a:r>
              <a:rPr lang="en-CA" dirty="0"/>
              <a:t>Any addition is welcome. </a:t>
            </a:r>
          </a:p>
          <a:p>
            <a:pPr marL="449263" lvl="1" indent="-176213"/>
            <a:r>
              <a:rPr lang="en-CA" dirty="0"/>
              <a:t>This same text (and 3</a:t>
            </a:r>
            <a:r>
              <a:rPr lang="en-CA" baseline="30000" dirty="0"/>
              <a:t>rd</a:t>
            </a:r>
            <a:r>
              <a:rPr lang="en-CA" dirty="0"/>
              <a:t> Edition exercises) are used in Web II</a:t>
            </a:r>
          </a:p>
          <a:p>
            <a:pPr lvl="1"/>
            <a:endParaRPr lang="en-CA" dirty="0"/>
          </a:p>
          <a:p>
            <a:r>
              <a:rPr lang="en-CA" dirty="0"/>
              <a:t>Online readings may be included and will be shared in the Course Resource folder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EB1F7D-5ACB-4497-8CB9-821DCE535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CA" dirty="0"/>
              <a:t>Technologies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4A3ADD-940C-49C5-83B7-07DB0876F37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Hardware &amp; Internet</a:t>
            </a:r>
          </a:p>
          <a:p>
            <a:pPr lvl="1"/>
            <a:r>
              <a:rPr lang="en-CA" dirty="0"/>
              <a:t>A recent computer with broadband internet, over which you have administrative control.</a:t>
            </a:r>
          </a:p>
          <a:p>
            <a:pPr lvl="1"/>
            <a:r>
              <a:rPr lang="en-CA" dirty="0"/>
              <a:t>Phone, tablet, netbooks are NOT sufficient!</a:t>
            </a:r>
          </a:p>
          <a:p>
            <a:r>
              <a:rPr lang="en-CA" dirty="0"/>
              <a:t>Software &amp; Services</a:t>
            </a:r>
          </a:p>
          <a:p>
            <a:pPr lvl="1"/>
            <a:r>
              <a:rPr lang="en-CA" dirty="0"/>
              <a:t>Visual Studio Code</a:t>
            </a:r>
          </a:p>
          <a:p>
            <a:pPr lvl="1"/>
            <a:r>
              <a:rPr lang="en-CA" dirty="0"/>
              <a:t>MRU Google account</a:t>
            </a:r>
          </a:p>
          <a:p>
            <a:pPr marL="936625" lvl="2" indent="-233363"/>
            <a:r>
              <a:rPr lang="en-CA" dirty="0"/>
              <a:t>Email, Drive</a:t>
            </a:r>
          </a:p>
        </p:txBody>
      </p:sp>
      <p:pic>
        <p:nvPicPr>
          <p:cNvPr id="13" name="Graphic 12" descr="Laptop outline">
            <a:extLst>
              <a:ext uri="{FF2B5EF4-FFF2-40B4-BE49-F238E27FC236}">
                <a16:creationId xmlns:a16="http://schemas.microsoft.com/office/drawing/2014/main" id="{D6AB5015-8099-805B-4B01-2E096E042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5120" y="56594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281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097AF0E-8966-D580-9B04-081D65F3B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68" y="365125"/>
            <a:ext cx="944033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Third-party App Notification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Content Placeholder 9" descr="Cmd Terminal outline">
            <a:extLst>
              <a:ext uri="{FF2B5EF4-FFF2-40B4-BE49-F238E27FC236}">
                <a16:creationId xmlns:a16="http://schemas.microsoft.com/office/drawing/2014/main" id="{6C6D4A2A-AAF8-DCCF-1027-ACCABC1EA6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570706"/>
            <a:ext cx="914400" cy="9144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896986-6A72-6EB9-4B51-D729D5A374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dirty="0"/>
              <a:t>Students may be asked to use third-party vendor software applications: either downloaded to a student’s computer or installed browser extensions. </a:t>
            </a:r>
          </a:p>
          <a:p>
            <a:pPr lvl="1"/>
            <a:r>
              <a:rPr lang="en-US" sz="1800" dirty="0"/>
              <a:t>You are advised that by using them </a:t>
            </a:r>
            <a:r>
              <a:rPr lang="en-US" sz="1800" b="1" dirty="0"/>
              <a:t>you are consenting to the potential disclosure of your personal information to external vendors </a:t>
            </a:r>
            <a:r>
              <a:rPr lang="en-US" sz="1800" dirty="0"/>
              <a:t>which fall outside the custody and control of Mount Royal University. You should limited identifiable personal information entered into these applications to protect your personal privacy.</a:t>
            </a:r>
          </a:p>
          <a:p>
            <a:r>
              <a:rPr lang="en-US" sz="2200" dirty="0"/>
              <a:t>Students have the right to opt out of using these third-party apps and may choose another form of academic participation subject to the agreement of the instructor. </a:t>
            </a:r>
          </a:p>
          <a:p>
            <a:pPr lvl="1"/>
            <a:r>
              <a:rPr lang="en-US" sz="1800" dirty="0"/>
              <a:t>Students must notify their instructor of their intention to opt-out before such usage is required!</a:t>
            </a:r>
          </a:p>
        </p:txBody>
      </p:sp>
    </p:spTree>
    <p:extLst>
      <p:ext uri="{BB962C8B-B14F-4D97-AF65-F5344CB8AC3E}">
        <p14:creationId xmlns:p14="http://schemas.microsoft.com/office/powerpoint/2010/main" val="2403711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545FA83-81EF-41DA-A77A-F19902DC8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1396" y="365125"/>
            <a:ext cx="9432403" cy="1325563"/>
          </a:xfrm>
        </p:spPr>
        <p:txBody>
          <a:bodyPr/>
          <a:lstStyle/>
          <a:p>
            <a:r>
              <a:rPr lang="en-CA" dirty="0"/>
              <a:t>Course policies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252377-4B4A-4756-AE12-FE552A0CEC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CA" b="1" dirty="0"/>
              <a:t>Attendance &amp; Etiquette</a:t>
            </a:r>
          </a:p>
          <a:p>
            <a:pPr marL="449263" indent="-215900"/>
            <a:r>
              <a:rPr lang="en-CA" sz="2600" dirty="0"/>
              <a:t>It is expected that you will attend all lectures and all labs!</a:t>
            </a:r>
          </a:p>
          <a:p>
            <a:r>
              <a:rPr lang="en-CA" b="1" dirty="0"/>
              <a:t>Academic accommodations</a:t>
            </a:r>
          </a:p>
          <a:p>
            <a:pPr marL="449263" lvl="1" indent="-176213"/>
            <a:r>
              <a:rPr lang="en-US" sz="2600" dirty="0"/>
              <a:t>Access and Inclusion Services office: Y201,  (403) 440-6868 and </a:t>
            </a:r>
            <a:r>
              <a:rPr lang="en-US" sz="2600" dirty="0">
                <a:hlinkClick r:id="rId2"/>
              </a:rPr>
              <a:t>accessibility@mtroyal.ca</a:t>
            </a:r>
            <a:r>
              <a:rPr lang="en-US" sz="2600" dirty="0"/>
              <a:t> </a:t>
            </a:r>
            <a:endParaRPr lang="en-CA" dirty="0"/>
          </a:p>
          <a:p>
            <a:r>
              <a:rPr lang="en-CA" b="1" dirty="0"/>
              <a:t>Late submissions.</a:t>
            </a:r>
          </a:p>
          <a:p>
            <a:pPr marL="449263" lvl="1" indent="-176213"/>
            <a:r>
              <a:rPr lang="en-CA" sz="2600" dirty="0"/>
              <a:t>Due dates will be included on each assignment.</a:t>
            </a:r>
          </a:p>
          <a:p>
            <a:pPr marL="449263" lvl="1" indent="-176213"/>
            <a:r>
              <a:rPr lang="en-CA" sz="2600" dirty="0"/>
              <a:t>Tests and exercises are </a:t>
            </a:r>
            <a:r>
              <a:rPr lang="en-CA" sz="2600" b="1" dirty="0"/>
              <a:t>not</a:t>
            </a:r>
            <a:r>
              <a:rPr lang="en-CA" sz="2600" dirty="0"/>
              <a:t> normally accepted late.</a:t>
            </a:r>
          </a:p>
          <a:p>
            <a:pPr marL="449263" lvl="2" indent="0">
              <a:buNone/>
            </a:pPr>
            <a:r>
              <a:rPr lang="en-CA" sz="2600" dirty="0"/>
              <a:t>With advance notice, and only at the instructor’s discretion,  a midterm </a:t>
            </a:r>
            <a:r>
              <a:rPr lang="en-CA" sz="2600" b="1" dirty="0"/>
              <a:t>might</a:t>
            </a:r>
            <a:r>
              <a:rPr lang="en-CA" sz="2600" dirty="0"/>
              <a:t> be accommodated but final exam deferrals must follow MRU institutional policy.</a:t>
            </a:r>
          </a:p>
          <a:p>
            <a:pPr marL="449263" lvl="1" indent="-225425"/>
            <a:r>
              <a:rPr lang="en-CA" sz="2600" dirty="0"/>
              <a:t>Students are responsible for submitting working code. No mark will be given to submissions with corrupted or unopenable files.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69C3054-4F65-428F-B28D-CBDF4125ED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CA" b="1" dirty="0"/>
              <a:t>Extensions (assignments only)</a:t>
            </a:r>
          </a:p>
          <a:p>
            <a:pPr marL="449263" lvl="1" indent="-185738"/>
            <a:r>
              <a:rPr lang="en-CA" sz="2600" dirty="0"/>
              <a:t>Since the assignments will be released substantially ahead of their due date, no late submissions will be accepted.</a:t>
            </a:r>
          </a:p>
        </p:txBody>
      </p:sp>
      <p:pic>
        <p:nvPicPr>
          <p:cNvPr id="3" name="Graphic 2" descr="Judge female outline">
            <a:extLst>
              <a:ext uri="{FF2B5EF4-FFF2-40B4-BE49-F238E27FC236}">
                <a16:creationId xmlns:a16="http://schemas.microsoft.com/office/drawing/2014/main" id="{9F996E25-F164-B504-04D2-E298AF99E7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996" y="5707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08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23654C-21DF-4DE6-8F15-2DB79964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Academic Integrity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D88FC-8C01-4938-83A8-40941A94A9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23686"/>
            <a:ext cx="5181600" cy="4753277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CA" b="1" i="1" dirty="0"/>
              <a:t>When in doubt, </a:t>
            </a:r>
            <a:br>
              <a:rPr lang="en-CA" b="1" i="1" dirty="0"/>
            </a:br>
            <a:r>
              <a:rPr lang="en-CA" b="1" i="1" dirty="0"/>
              <a:t>drive the mouse yourself.</a:t>
            </a:r>
            <a:endParaRPr lang="en-US" b="1" i="1" dirty="0"/>
          </a:p>
          <a:p>
            <a:endParaRPr lang="en-US" dirty="0"/>
          </a:p>
          <a:p>
            <a:r>
              <a:rPr lang="en-US" dirty="0"/>
              <a:t>Office of </a:t>
            </a:r>
            <a:r>
              <a:rPr lang="en-US" u="sng" dirty="0">
                <a:hlinkClick r:id="rId2"/>
              </a:rPr>
              <a:t>Student Community Standards</a:t>
            </a:r>
            <a:r>
              <a:rPr lang="en-US" dirty="0"/>
              <a:t>. </a:t>
            </a:r>
            <a:endParaRPr lang="en-CA" dirty="0"/>
          </a:p>
          <a:p>
            <a:r>
              <a:rPr lang="en-CA" dirty="0"/>
              <a:t>The use of AI is permitted but you Must recognize and cite such usage. The purpose of the class is to learn, not just do.</a:t>
            </a:r>
          </a:p>
          <a:p>
            <a:pPr marL="449263" indent="-225425"/>
            <a:r>
              <a:rPr lang="en-CA" dirty="0"/>
              <a:t>To use AI without citing its usage is </a:t>
            </a:r>
            <a:r>
              <a:rPr lang="en-CA" b="1" dirty="0"/>
              <a:t>plagiarism</a:t>
            </a:r>
            <a:r>
              <a:rPr lang="en-CA" dirty="0"/>
              <a:t>!</a:t>
            </a:r>
          </a:p>
          <a:p>
            <a:r>
              <a:rPr lang="en-CA" dirty="0"/>
              <a:t>Academic dishonesty undermines</a:t>
            </a:r>
          </a:p>
          <a:p>
            <a:pPr lvl="1"/>
            <a:r>
              <a:rPr lang="en-CA" dirty="0"/>
              <a:t>Your education.</a:t>
            </a:r>
          </a:p>
          <a:p>
            <a:pPr lvl="1"/>
            <a:r>
              <a:rPr lang="en-CA" dirty="0"/>
              <a:t>Your degree’s value.</a:t>
            </a:r>
          </a:p>
          <a:p>
            <a:pPr lvl="1"/>
            <a:r>
              <a:rPr lang="en-CA" dirty="0"/>
              <a:t>MRU’s reputation.</a:t>
            </a:r>
            <a:endParaRPr lang="en-US" dirty="0"/>
          </a:p>
          <a:p>
            <a:endParaRPr lang="en-CA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1A20B9C-7C91-42CC-BB13-1BD5C9916DB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6019800" y="429496"/>
            <a:ext cx="5181600" cy="5999007"/>
          </a:xfrm>
        </p:spPr>
      </p:pic>
      <p:pic>
        <p:nvPicPr>
          <p:cNvPr id="12" name="Picture 11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id="{1D0A9A5B-C75F-3E3D-ABD8-D00A8940A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0" y="1678853"/>
            <a:ext cx="5663878" cy="424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91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1AFED2-8466-4D1D-8568-4C15A8DD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68" y="365125"/>
            <a:ext cx="944033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COVID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F69501-BB00-49FF-ABE1-3094E7B402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00" y="630831"/>
            <a:ext cx="914400" cy="79415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3268236-A1DC-4D07-80FF-CFF70B83D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Stay home if ill/symptomatic.</a:t>
            </a:r>
          </a:p>
          <a:p>
            <a:pPr marL="914400" lvl="2" indent="-457200">
              <a:spcBef>
                <a:spcPts val="1000"/>
              </a:spcBef>
            </a:pPr>
            <a:r>
              <a:rPr lang="en-US" sz="1800" dirty="0"/>
              <a:t>Mount Royal strongly recommends that University students, staff and visitors do not come to campus if they are symptomatic or ill with COVID-19 or any other communicable illness. AHS recommends you stay home and isolate for at least five days from first having symptoms of COVID-19 or had a positive test (if no symptoms present) and keep isolating until symptoms have improved and fever-free for 24 hours.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Please let your instructors know your situation. You do not need provide a doctor’s note to ‘excuse’ an absence. </a:t>
            </a:r>
          </a:p>
          <a:p>
            <a:pPr marL="914400" lvl="2" indent="-457200">
              <a:spcBef>
                <a:spcPts val="1000"/>
              </a:spcBef>
            </a:pPr>
            <a:r>
              <a:rPr lang="en-US" sz="1800" dirty="0"/>
              <a:t>Short-term individual arrangements can be made as required.</a:t>
            </a:r>
          </a:p>
          <a:p>
            <a:pPr marL="914400" lvl="2" indent="-457200">
              <a:spcBef>
                <a:spcPts val="1000"/>
              </a:spcBef>
            </a:pPr>
            <a:r>
              <a:rPr lang="en-US" sz="1800" dirty="0"/>
              <a:t>Long-term absences may require the involvement of MRU Access &amp; Inclusion Services.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7ED169-4BB2-439D-92E4-322B6841A958}"/>
              </a:ext>
            </a:extLst>
          </p:cNvPr>
          <p:cNvSpPr/>
          <p:nvPr/>
        </p:nvSpPr>
        <p:spPr>
          <a:xfrm>
            <a:off x="838200" y="1345566"/>
            <a:ext cx="914400" cy="79415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wrap="square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800">
                <a:solidFill>
                  <a:srgbClr val="FFFFFF"/>
                </a:solidFill>
              </a:rPr>
              <a:t>https://thenounproject.com/icon/sick-1140486/</a:t>
            </a:r>
          </a:p>
        </p:txBody>
      </p:sp>
    </p:spTree>
    <p:extLst>
      <p:ext uri="{BB962C8B-B14F-4D97-AF65-F5344CB8AC3E}">
        <p14:creationId xmlns:p14="http://schemas.microsoft.com/office/powerpoint/2010/main" val="3209464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1AFED2-8466-4D1D-8568-4C15A8DD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68" y="365125"/>
            <a:ext cx="944033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COVID</a:t>
            </a:r>
          </a:p>
        </p:txBody>
      </p:sp>
      <p:pic>
        <p:nvPicPr>
          <p:cNvPr id="10" name="Content Placeholder 9" descr="Bio hazard">
            <a:extLst>
              <a:ext uri="{FF2B5EF4-FFF2-40B4-BE49-F238E27FC236}">
                <a16:creationId xmlns:a16="http://schemas.microsoft.com/office/drawing/2014/main" id="{C7CA9148-957A-4C47-BF52-6E157EB5ED7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570706"/>
            <a:ext cx="914400" cy="9144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3268236-A1DC-4D07-80FF-CFF70B83D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If, due to AB public health or MRU policy, we go to ‘online’ delivery:</a:t>
            </a:r>
          </a:p>
          <a:p>
            <a:r>
              <a:rPr lang="en-US" dirty="0"/>
              <a:t>Lectures and labs will occur at the same time but use Google Meet.</a:t>
            </a:r>
          </a:p>
          <a:p>
            <a:pPr marL="449263" lvl="1" indent="-225425"/>
            <a:r>
              <a:rPr lang="en-US" dirty="0"/>
              <a:t>They will be recorded, posted and available until 10 days after term ends.</a:t>
            </a:r>
          </a:p>
          <a:p>
            <a:r>
              <a:rPr lang="en-US" dirty="0"/>
              <a:t>Tests, exam and exercises are still ‘live’ and individual but will be reworked to be ‘open’ if necessary.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35A440-7C50-8B2A-DE52-F204AF019D50}"/>
              </a:ext>
            </a:extLst>
          </p:cNvPr>
          <p:cNvSpPr txBox="1"/>
          <p:nvPr/>
        </p:nvSpPr>
        <p:spPr>
          <a:xfrm>
            <a:off x="1042219" y="5506065"/>
            <a:ext cx="10461523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More questions? Contact </a:t>
            </a:r>
            <a:r>
              <a:rPr lang="en-US" b="1" dirty="0"/>
              <a:t>Student Affairs</a:t>
            </a:r>
            <a:r>
              <a:rPr lang="en-US" dirty="0"/>
              <a:t> (C201, </a:t>
            </a:r>
            <a:r>
              <a:rPr lang="en-US" u="sng" dirty="0">
                <a:hlinkClick r:id="rId4"/>
              </a:rPr>
              <a:t>studentaffairs@mtroyal.ca</a:t>
            </a:r>
            <a:r>
              <a:rPr lang="en-US" dirty="0"/>
              <a:t>) to discuss your  health and safety concerns. </a:t>
            </a:r>
          </a:p>
        </p:txBody>
      </p:sp>
    </p:spTree>
    <p:extLst>
      <p:ext uri="{BB962C8B-B14F-4D97-AF65-F5344CB8AC3E}">
        <p14:creationId xmlns:p14="http://schemas.microsoft.com/office/powerpoint/2010/main" val="1563962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D8135E8-D46D-49AC-991B-C08538BB0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3524" y="365125"/>
            <a:ext cx="9490276" cy="1325563"/>
          </a:xfrm>
        </p:spPr>
        <p:txBody>
          <a:bodyPr/>
          <a:lstStyle/>
          <a:p>
            <a:r>
              <a:rPr lang="en-CA" dirty="0"/>
              <a:t>Supports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DE36FD0-531D-4B3C-93FE-2680571346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>
                <a:hlinkClick r:id="rId2"/>
              </a:rPr>
              <a:t>Student Learning Services</a:t>
            </a:r>
            <a:endParaRPr lang="en-CA" dirty="0"/>
          </a:p>
          <a:p>
            <a:pPr lvl="1"/>
            <a:r>
              <a:rPr lang="en-US" dirty="0"/>
              <a:t>403.440.6452, </a:t>
            </a:r>
            <a:r>
              <a:rPr lang="en-US" dirty="0">
                <a:hlinkClick r:id="rId3"/>
              </a:rPr>
              <a:t>sls@mtroyal.ca</a:t>
            </a:r>
            <a:r>
              <a:rPr lang="en-US" dirty="0"/>
              <a:t> </a:t>
            </a:r>
          </a:p>
          <a:p>
            <a:pPr lvl="1"/>
            <a:r>
              <a:rPr lang="en-CA" dirty="0">
                <a:hlinkClick r:id="rId4"/>
              </a:rPr>
              <a:t>E</a:t>
            </a:r>
            <a:r>
              <a:rPr lang="en-US" dirty="0">
                <a:hlinkClick r:id="rId4"/>
              </a:rPr>
              <a:t>arly Support program</a:t>
            </a:r>
            <a:endParaRPr lang="en-US" dirty="0"/>
          </a:p>
          <a:p>
            <a:r>
              <a:rPr lang="en-US" dirty="0">
                <a:hlinkClick r:id="rId5"/>
              </a:rPr>
              <a:t>Wellness Services</a:t>
            </a:r>
            <a:endParaRPr lang="en-US" dirty="0"/>
          </a:p>
          <a:p>
            <a:pPr lvl="1"/>
            <a:r>
              <a:rPr lang="en-US" dirty="0"/>
              <a:t>Physical &amp; mental health</a:t>
            </a:r>
          </a:p>
          <a:p>
            <a:r>
              <a:rPr lang="en-US" dirty="0">
                <a:hlinkClick r:id="rId6"/>
              </a:rPr>
              <a:t>Campus Equity &amp; Meaningful Inclusion</a:t>
            </a:r>
            <a:endParaRPr lang="en-US" dirty="0"/>
          </a:p>
          <a:p>
            <a:pPr lvl="1"/>
            <a:r>
              <a:rPr lang="en-US" dirty="0"/>
              <a:t>For information and assistance related to human rights, equity, inclusion, discrimination, harassment, sexual violence, and related services, see </a:t>
            </a:r>
          </a:p>
          <a:p>
            <a:r>
              <a:rPr lang="en-CA" dirty="0"/>
              <a:t>MRU </a:t>
            </a:r>
            <a:r>
              <a:rPr lang="en-CA" dirty="0">
                <a:hlinkClick r:id="rId7"/>
              </a:rPr>
              <a:t>IT Service desk</a:t>
            </a:r>
            <a:endParaRPr lang="en-CA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AB7D9D8-0FB2-4F09-8CCA-19223643F6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dirty="0"/>
              <a:t>Department Lab Assistants</a:t>
            </a:r>
          </a:p>
          <a:p>
            <a:pPr lvl="1"/>
            <a:r>
              <a:rPr lang="en-CA" dirty="0">
                <a:hlinkClick r:id="rId8"/>
              </a:rPr>
              <a:t>Steve Kalmar &amp; Jordan Pratt</a:t>
            </a:r>
            <a:endParaRPr lang="en-US" dirty="0"/>
          </a:p>
          <a:p>
            <a:pPr lvl="1"/>
            <a:r>
              <a:rPr lang="en-CA" dirty="0"/>
              <a:t>Offices behind B107 lab.</a:t>
            </a:r>
          </a:p>
          <a:p>
            <a:r>
              <a:rPr lang="en-US" dirty="0">
                <a:hlinkClick r:id="rId9"/>
              </a:rPr>
              <a:t>Student Association (SAMRU) </a:t>
            </a:r>
            <a:endParaRPr lang="en-US" dirty="0"/>
          </a:p>
          <a:p>
            <a:pPr lvl="1"/>
            <a:r>
              <a:rPr lang="en-US" dirty="0"/>
              <a:t>All credit students at Mount Royal are members of the Students’ Association of Mount Royal University (SAMRU). As a member you have access to all of SAMRU’s services, the </a:t>
            </a:r>
            <a:r>
              <a:rPr lang="en-US" dirty="0" err="1"/>
              <a:t>Wyckham</a:t>
            </a:r>
            <a:r>
              <a:rPr lang="en-US" dirty="0"/>
              <a:t> House Student Centre, and a wide variety of student clubs where you can meet other students and build a sense of community during your time at Mount Royal. </a:t>
            </a:r>
            <a:endParaRPr lang="en-CA" dirty="0"/>
          </a:p>
        </p:txBody>
      </p:sp>
      <p:pic>
        <p:nvPicPr>
          <p:cNvPr id="3" name="Graphic 2" descr="Open hand outline">
            <a:extLst>
              <a:ext uri="{FF2B5EF4-FFF2-40B4-BE49-F238E27FC236}">
                <a16:creationId xmlns:a16="http://schemas.microsoft.com/office/drawing/2014/main" id="{98573989-D356-5B2E-3DBF-69FD0321A7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8200" y="48324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36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44C3E4-D614-4D43-ACF3-4F286BAFF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4175" y="365125"/>
            <a:ext cx="10515600" cy="1325563"/>
          </a:xfrm>
        </p:spPr>
        <p:txBody>
          <a:bodyPr/>
          <a:lstStyle/>
          <a:p>
            <a:r>
              <a:rPr lang="en-CA" dirty="0"/>
              <a:t>Jim Davis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AEF310-048B-4B8C-830D-FA06BF2482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Room: B102–16</a:t>
            </a:r>
          </a:p>
          <a:p>
            <a:r>
              <a:rPr lang="en-CA" dirty="0">
                <a:hlinkClick r:id="rId2"/>
              </a:rPr>
              <a:t>jdavis@mtroyal.ca</a:t>
            </a:r>
            <a:endParaRPr lang="en-CA" dirty="0"/>
          </a:p>
          <a:p>
            <a:r>
              <a:rPr lang="en-CA" dirty="0">
                <a:hlinkClick r:id="rId3"/>
              </a:rPr>
              <a:t>MRU Google calendar </a:t>
            </a:r>
            <a:r>
              <a:rPr lang="en-CA" dirty="0"/>
              <a:t>for drop-in and bookable office hours</a:t>
            </a:r>
          </a:p>
        </p:txBody>
      </p:sp>
      <p:pic>
        <p:nvPicPr>
          <p:cNvPr id="11" name="Content Placeholder 9">
            <a:extLst>
              <a:ext uri="{FF2B5EF4-FFF2-40B4-BE49-F238E27FC236}">
                <a16:creationId xmlns:a16="http://schemas.microsoft.com/office/drawing/2014/main" id="{A1BE93B1-8748-4210-A4F6-13780AC9F2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/>
          <a:stretch/>
        </p:blipFill>
        <p:spPr>
          <a:xfrm>
            <a:off x="6667018" y="2386362"/>
            <a:ext cx="4686782" cy="292142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A78009-4D53-D546-3FE2-2D4A1069BBE5}"/>
              </a:ext>
            </a:extLst>
          </p:cNvPr>
          <p:cNvSpPr txBox="1"/>
          <p:nvPr/>
        </p:nvSpPr>
        <p:spPr>
          <a:xfrm>
            <a:off x="3071191" y="3244334"/>
            <a:ext cx="6142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800" dirty="0"/>
              <a:t>It will be worth 5% of your course mark.</a:t>
            </a:r>
          </a:p>
        </p:txBody>
      </p:sp>
    </p:spTree>
    <p:extLst>
      <p:ext uri="{BB962C8B-B14F-4D97-AF65-F5344CB8AC3E}">
        <p14:creationId xmlns:p14="http://schemas.microsoft.com/office/powerpoint/2010/main" val="3389920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9392606-5A1D-4F53-A9BB-75AFF2B82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10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804</TotalTime>
  <Words>1602</Words>
  <Application>Microsoft Macintosh PowerPoint</Application>
  <PresentationFormat>Widescreen</PresentationFormat>
  <Paragraphs>149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Office Theme 2013 - 2022</vt:lpstr>
      <vt:lpstr>COMP 2511</vt:lpstr>
      <vt:lpstr>Web I: Description &amp; Overview</vt:lpstr>
      <vt:lpstr>Course Structure</vt:lpstr>
      <vt:lpstr>Learning Objectives &amp; Outcomes</vt:lpstr>
      <vt:lpstr>Assessments</vt:lpstr>
      <vt:lpstr>Grading Notes</vt:lpstr>
      <vt:lpstr>Resource requirements</vt:lpstr>
      <vt:lpstr>Third-party App Notification</vt:lpstr>
      <vt:lpstr>Course policies</vt:lpstr>
      <vt:lpstr>Academic Integrity</vt:lpstr>
      <vt:lpstr>COVID</vt:lpstr>
      <vt:lpstr>COVID</vt:lpstr>
      <vt:lpstr>Supports</vt:lpstr>
      <vt:lpstr>Jim Davis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numbers in simulations</dc:title>
  <dc:creator>Patrick Perri</dc:creator>
  <cp:lastModifiedBy>Jim Davis</cp:lastModifiedBy>
  <cp:revision>65</cp:revision>
  <dcterms:created xsi:type="dcterms:W3CDTF">2022-05-03T16:15:45Z</dcterms:created>
  <dcterms:modified xsi:type="dcterms:W3CDTF">2026-01-06T18:30:19Z</dcterms:modified>
</cp:coreProperties>
</file>