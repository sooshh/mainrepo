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466" r:id="rId3"/>
    <p:sldId id="257" r:id="rId4"/>
    <p:sldId id="272" r:id="rId5"/>
    <p:sldId id="275" r:id="rId6"/>
    <p:sldId id="280" r:id="rId7"/>
    <p:sldId id="282" r:id="rId8"/>
    <p:sldId id="283" r:id="rId9"/>
    <p:sldId id="281" r:id="rId10"/>
    <p:sldId id="376" r:id="rId11"/>
    <p:sldId id="285" r:id="rId12"/>
    <p:sldId id="286" r:id="rId13"/>
    <p:sldId id="288" r:id="rId14"/>
    <p:sldId id="467" r:id="rId15"/>
    <p:sldId id="468" r:id="rId16"/>
    <p:sldId id="461" r:id="rId17"/>
    <p:sldId id="292" r:id="rId18"/>
    <p:sldId id="373" r:id="rId19"/>
    <p:sldId id="279" r:id="rId20"/>
    <p:sldId id="369" r:id="rId21"/>
    <p:sldId id="294" r:id="rId22"/>
    <p:sldId id="295" r:id="rId23"/>
    <p:sldId id="299" r:id="rId24"/>
    <p:sldId id="297" r:id="rId25"/>
    <p:sldId id="301" r:id="rId26"/>
    <p:sldId id="302" r:id="rId27"/>
    <p:sldId id="470" r:id="rId28"/>
    <p:sldId id="304" r:id="rId29"/>
    <p:sldId id="388" r:id="rId30"/>
    <p:sldId id="469" r:id="rId31"/>
    <p:sldId id="306" r:id="rId32"/>
    <p:sldId id="308" r:id="rId33"/>
    <p:sldId id="307" r:id="rId34"/>
    <p:sldId id="462" r:id="rId35"/>
    <p:sldId id="311" r:id="rId36"/>
    <p:sldId id="313" r:id="rId37"/>
    <p:sldId id="314" r:id="rId38"/>
    <p:sldId id="315" r:id="rId39"/>
    <p:sldId id="471" r:id="rId40"/>
    <p:sldId id="318" r:id="rId41"/>
    <p:sldId id="392" r:id="rId42"/>
    <p:sldId id="393" r:id="rId43"/>
    <p:sldId id="323" r:id="rId44"/>
    <p:sldId id="324" r:id="rId45"/>
    <p:sldId id="394" r:id="rId46"/>
    <p:sldId id="26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aman Amannejad" initials="YA" lastIdx="3" clrIdx="0">
    <p:extLst>
      <p:ext uri="{19B8F6BF-5375-455C-9EA6-DF929625EA0E}">
        <p15:presenceInfo xmlns:p15="http://schemas.microsoft.com/office/powerpoint/2012/main" userId="84858ff3-2816-48bf-a4b3-189216645aa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4148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760"/>
  </p:normalViewPr>
  <p:slideViewPr>
    <p:cSldViewPr snapToGrid="0" snapToObjects="1">
      <p:cViewPr varScale="1">
        <p:scale>
          <a:sx n="81" d="100"/>
          <a:sy n="81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8-07T22:29:56.887" idx="1">
    <p:pos x="2958" y="-469"/>
    <p:text>Why download is faster</p:text>
    <p:extLst>
      <p:ext uri="{C676402C-5697-4E1C-873F-D02D1690AC5C}">
        <p15:threadingInfo xmlns:p15="http://schemas.microsoft.com/office/powerpoint/2012/main" timeZoneBias="360"/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A0D91-2BA6-9C4D-BAC9-7C78D503C15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DA79A-80CC-5B49-A335-CC79BE11C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13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Code file </a:t>
            </a:r>
            <a:r>
              <a:rPr lang="mr-IN" sz="1200" dirty="0"/>
              <a:t>–</a:t>
            </a:r>
            <a:r>
              <a:rPr lang="en-US" sz="1200" dirty="0"/>
              <a:t> “4 </a:t>
            </a:r>
            <a:r>
              <a:rPr lang="mr-IN" sz="1200" dirty="0"/>
              <a:t>–</a:t>
            </a:r>
            <a:r>
              <a:rPr lang="en-US" sz="1200" dirty="0"/>
              <a:t> element </a:t>
            </a:r>
            <a:r>
              <a:rPr lang="en-US" sz="1200" dirty="0" err="1"/>
              <a:t>selector.html</a:t>
            </a:r>
            <a:r>
              <a:rPr lang="en-US" sz="1200" dirty="0"/>
              <a:t>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DA79A-80CC-5B49-A335-CC79BE11CF0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50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Code file </a:t>
            </a:r>
            <a:r>
              <a:rPr lang="mr-IN" dirty="0"/>
              <a:t>–</a:t>
            </a:r>
            <a:r>
              <a:rPr lang="en-US" dirty="0"/>
              <a:t> “5 </a:t>
            </a:r>
            <a:r>
              <a:rPr lang="mr-IN" dirty="0"/>
              <a:t>–</a:t>
            </a:r>
            <a:r>
              <a:rPr lang="en-US" dirty="0"/>
              <a:t> group </a:t>
            </a:r>
            <a:r>
              <a:rPr lang="en-US" dirty="0" err="1"/>
              <a:t>selector.css</a:t>
            </a:r>
            <a:r>
              <a:rPr lang="en-US" dirty="0"/>
              <a:t>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DA79A-80CC-5B49-A335-CC79BE11CF0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66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Code file </a:t>
            </a:r>
            <a:r>
              <a:rPr lang="mr-IN" dirty="0"/>
              <a:t>–</a:t>
            </a:r>
            <a:r>
              <a:rPr lang="en-US" dirty="0"/>
              <a:t> “</a:t>
            </a:r>
            <a:r>
              <a:rPr lang="en-CA" dirty="0"/>
              <a:t>8 </a:t>
            </a:r>
            <a:r>
              <a:rPr lang="mr-IN" dirty="0"/>
              <a:t>–</a:t>
            </a:r>
            <a:r>
              <a:rPr lang="en-CA" dirty="0"/>
              <a:t> id </a:t>
            </a:r>
            <a:r>
              <a:rPr lang="en-CA" dirty="0" err="1"/>
              <a:t>selectors.html</a:t>
            </a:r>
            <a:r>
              <a:rPr lang="en-CA" dirty="0"/>
              <a:t>”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DA79A-80CC-5B49-A335-CC79BE11CF0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54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Code file </a:t>
            </a:r>
            <a:r>
              <a:rPr lang="mr-IN" dirty="0"/>
              <a:t>–</a:t>
            </a:r>
            <a:r>
              <a:rPr lang="en-US" dirty="0"/>
              <a:t> “</a:t>
            </a:r>
            <a:r>
              <a:rPr lang="en-CA" dirty="0"/>
              <a:t>7 </a:t>
            </a:r>
            <a:r>
              <a:rPr lang="mr-IN" dirty="0"/>
              <a:t>–</a:t>
            </a:r>
            <a:r>
              <a:rPr lang="en-CA" dirty="0"/>
              <a:t> class selectors</a:t>
            </a:r>
            <a:r>
              <a:rPr lang="en-US" dirty="0"/>
              <a:t>.html”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DA79A-80CC-5B49-A335-CC79BE11CF0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5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Code file </a:t>
            </a:r>
            <a:r>
              <a:rPr lang="mr-IN" dirty="0"/>
              <a:t>–</a:t>
            </a:r>
            <a:r>
              <a:rPr lang="en-US" dirty="0"/>
              <a:t> “</a:t>
            </a:r>
            <a:r>
              <a:rPr lang="en-CA" dirty="0"/>
              <a:t>9 </a:t>
            </a:r>
            <a:r>
              <a:rPr lang="mr-IN" dirty="0"/>
              <a:t>–</a:t>
            </a:r>
            <a:r>
              <a:rPr lang="en-CA" dirty="0"/>
              <a:t> attribute </a:t>
            </a:r>
            <a:r>
              <a:rPr lang="en-CA" dirty="0" err="1"/>
              <a:t>selectors.html</a:t>
            </a:r>
            <a:r>
              <a:rPr lang="en-CA" dirty="0"/>
              <a:t>”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DA79A-80CC-5B49-A335-CC79BE11CF0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98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Code file </a:t>
            </a:r>
            <a:r>
              <a:rPr lang="mr-IN" dirty="0"/>
              <a:t>–</a:t>
            </a:r>
            <a:r>
              <a:rPr lang="en-US" dirty="0"/>
              <a:t> “</a:t>
            </a:r>
            <a:r>
              <a:rPr lang="en-CA" dirty="0"/>
              <a:t>10 </a:t>
            </a:r>
            <a:r>
              <a:rPr lang="mr-IN" dirty="0"/>
              <a:t>–</a:t>
            </a:r>
            <a:r>
              <a:rPr lang="en-CA" dirty="0"/>
              <a:t> pseudo </a:t>
            </a:r>
            <a:r>
              <a:rPr lang="en-CA" dirty="0" err="1"/>
              <a:t>selectors.html</a:t>
            </a:r>
            <a:r>
              <a:rPr lang="en-CA" dirty="0"/>
              <a:t>”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DA79A-80CC-5B49-A335-CC79BE11CF0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39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DA79A-80CC-5B49-A335-CC79BE11CF0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36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Code file </a:t>
            </a:r>
            <a:r>
              <a:rPr lang="mr-IN" dirty="0"/>
              <a:t>–</a:t>
            </a:r>
            <a:r>
              <a:rPr lang="en-US" dirty="0"/>
              <a:t> “</a:t>
            </a:r>
            <a:r>
              <a:rPr lang="en-CA" dirty="0"/>
              <a:t>11 - </a:t>
            </a:r>
            <a:r>
              <a:rPr lang="en-CA" dirty="0" err="1"/>
              <a:t>contextual.html</a:t>
            </a:r>
            <a:r>
              <a:rPr lang="en-CA" dirty="0"/>
              <a:t>”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DA79A-80CC-5B49-A335-CC79BE11CF0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50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Code example: ”12-inherit.html”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ADA79A-80CC-5B49-A335-CC79BE11CF0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41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2429-09F3-A441-9EBC-5CA503E3D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DDE5F-1D85-8440-B6B3-290E96490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EEF87-5079-7846-A2F1-6CF817A9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761C7-87DB-2E4E-9FFA-248F6B061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38A10-6BF5-E947-9C65-D851F69B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0181-B227-314B-BB3E-6E53FDE2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BE3DD-DFD5-A544-9551-CB0E3D1F7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A0D9E-DF2D-6F43-953F-F9C1CF111223}"/>
              </a:ext>
            </a:extLst>
          </p:cNvPr>
          <p:cNvSpPr/>
          <p:nvPr userDrawn="1"/>
        </p:nvSpPr>
        <p:spPr>
          <a:xfrm>
            <a:off x="12049124" y="0"/>
            <a:ext cx="142876" cy="1371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D795A3-30AD-0A49-84BD-48DF54493C5C}"/>
              </a:ext>
            </a:extLst>
          </p:cNvPr>
          <p:cNvSpPr/>
          <p:nvPr userDrawn="1"/>
        </p:nvSpPr>
        <p:spPr>
          <a:xfrm>
            <a:off x="12049124" y="1371600"/>
            <a:ext cx="142876" cy="54864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3F2FD8-60D8-C44D-9062-807C0CBBF9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2876" y="6030422"/>
            <a:ext cx="1228085" cy="8079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4A6A66B-BD08-CF46-A2C5-575BDF847F07}"/>
              </a:ext>
            </a:extLst>
          </p:cNvPr>
          <p:cNvSpPr/>
          <p:nvPr userDrawn="1"/>
        </p:nvSpPr>
        <p:spPr>
          <a:xfrm>
            <a:off x="1496291" y="6311900"/>
            <a:ext cx="9447755" cy="5513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6B337A-91D9-AE43-8464-AA0394F46ECE}"/>
              </a:ext>
            </a:extLst>
          </p:cNvPr>
          <p:cNvSpPr/>
          <p:nvPr userDrawn="1"/>
        </p:nvSpPr>
        <p:spPr>
          <a:xfrm>
            <a:off x="10944046" y="6311900"/>
            <a:ext cx="1105078" cy="546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EAFAF-D36F-AD44-8A9A-DB452B33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0397" y="6399738"/>
            <a:ext cx="712376" cy="365125"/>
          </a:xfrm>
        </p:spPr>
        <p:txBody>
          <a:bodyPr/>
          <a:lstStyle>
            <a:lvl1pPr>
              <a:defRPr b="1">
                <a:solidFill>
                  <a:srgbClr val="FFFF00"/>
                </a:solidFill>
              </a:defRPr>
            </a:lvl1pPr>
          </a:lstStyle>
          <a:p>
            <a:fld id="{4EF9C409-AEBC-AC4B-B24C-458B6F1C7C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60F90-0F27-9E40-B540-C63E9DC9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6291" y="6399737"/>
            <a:ext cx="9447755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123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5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D2B44-01A2-5646-9D3F-B78DE52E3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44A60-C556-094C-ABE3-64B476245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04825-DF6C-5C4E-BF74-D8A9CC53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5F8FB-E3D3-9C43-8B36-043523C4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D2DF1-52A6-FC40-8842-44D216D6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34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6F550-C2BE-644F-8E01-75A99C5F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35FC8-2274-814A-9C10-47C5BF31D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7273C-C4FC-624B-8CC0-90D7E6B79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8AEBF-33AC-FB44-87E9-72402C6C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E3A28-12C5-104D-B2A1-3D16DBD65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67906C-ED44-5749-9249-9007AF4B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81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776C-99B7-E941-A901-265731337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798D8-FB17-9946-92CC-E84F1FE3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47362-BEF6-EF40-A938-50A9ABB3A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496D2-CA92-0F44-9466-57C43E8B8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B3402A-6C8B-9C4F-AB79-571E5C1C0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BF9FE-5894-424A-ABF1-586A8133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37B9E2-34BF-F549-BBAC-2C2AAFF6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A44EC2-EBA4-BF42-9BA7-55E1EE0A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8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3483D-F2CA-ED40-B7DE-7DEAD466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1FE5D-509F-F941-B934-486F090F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480D30-3A9A-0C4D-8581-2DF3DF34A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F2B8F-3FF1-9147-9229-BFA0B389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2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5E32D3-F654-B249-9654-04379FC92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39355-DD48-0147-AF27-09611901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2C27D-69CE-AA41-8CAD-063DCB0DC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07B30-3D63-D84B-A09E-3D35BDDA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62F72-6CDF-8B48-B05A-8E84F78C2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5C44B-E508-0241-9162-1ABD6D0D8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80908-B75C-8A4E-BADC-EFEAF131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FA9FE-3AAC-8640-A573-BB297927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242AB-DBD9-1646-9A19-C5979A6B2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14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516B1-BE89-D74E-A6A0-58972D4C0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6898E-9CF4-9144-A370-7FB36882B4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AA095-7884-9341-AAEA-6BA6326FD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066E9-9384-E042-8391-4F705DB4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CDBF1-9378-DE4A-AC48-BC344FC9B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4DE08-0C6C-AC45-858B-A0305A43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30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3FAF0-7A7B-6A45-B194-84CB9D44A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D7E86-0464-9747-B158-6099B2451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A8B83-6BC6-994E-9E5A-F7DD36EA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4D2AA-F233-7E44-9EF7-9A882170E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3C038-1A69-2C44-AF4E-7CC0A962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4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6E581-B640-3A40-BBF8-CCCED1312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F8F220-9019-9348-B3E6-5C61336AB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136CE-95E6-B942-BC02-329E48C5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26B84-3EE7-5E44-9A33-1F18A3391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5970C-EE3C-C54D-8DE4-6D0E16C4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1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6126D-B0D4-C940-BAFD-CBDB9995F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C7E51-3E1D-E447-B3D2-F3B5C059E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EA3AD-B660-1341-953C-A289DB47F7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4D1F-CB85-E04F-B9B3-5CEC60977D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61FE9-DA62-AF49-9404-F96234F98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9C409-AEBC-AC4B-B24C-458B6F1C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83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ref/sel_nth-child.asp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w3schools.com/cssref/sel_firstline.asp" TargetMode="External"/><Relationship Id="rId4" Type="http://schemas.openxmlformats.org/officeDocument/2006/relationships/hyperlink" Target="http://www.w3schools.com/cssref/sel_last-child.asp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9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4837-0CE3-D14B-927D-3DFE2839C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21847"/>
            <a:ext cx="9144000" cy="1952625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Introduction to CSS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74DE2-F5E2-7A4E-8706-E96DA8F60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7" y="219306"/>
            <a:ext cx="1561956" cy="10276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47697A-25B7-534B-A5E0-550E3331B9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4529138" y="5086801"/>
            <a:ext cx="3532000" cy="18167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F1D74C-F6C7-5746-9CDE-CAD63E885D4E}"/>
              </a:ext>
            </a:extLst>
          </p:cNvPr>
          <p:cNvSpPr txBox="1"/>
          <p:nvPr/>
        </p:nvSpPr>
        <p:spPr>
          <a:xfrm>
            <a:off x="1524000" y="4006904"/>
            <a:ext cx="44857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/>
              <a:t>Yasaman Amannejad,</a:t>
            </a:r>
          </a:p>
          <a:p>
            <a:r>
              <a:rPr lang="en-US" b="1" i="0" dirty="0"/>
              <a:t>Department of Mathematics and Computing,</a:t>
            </a:r>
          </a:p>
          <a:p>
            <a:r>
              <a:rPr lang="en-US" b="1" i="0" dirty="0"/>
              <a:t>Mount Royal University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E2279-C238-EE45-B9FE-62668B578A25}"/>
              </a:ext>
            </a:extLst>
          </p:cNvPr>
          <p:cNvSpPr/>
          <p:nvPr/>
        </p:nvSpPr>
        <p:spPr>
          <a:xfrm>
            <a:off x="1444944" y="1426528"/>
            <a:ext cx="40128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0" dirty="0"/>
              <a:t>COMP </a:t>
            </a:r>
            <a:r>
              <a:rPr lang="en-US" sz="1600" b="1" dirty="0"/>
              <a:t>2511 - </a:t>
            </a:r>
            <a:r>
              <a:rPr lang="en-CA" sz="1600" b="1" dirty="0"/>
              <a:t>Web I: Client Development </a:t>
            </a:r>
            <a:endParaRPr lang="en-US" sz="1600" b="1" dirty="0"/>
          </a:p>
          <a:p>
            <a:endParaRPr lang="en-US" sz="1600" b="1" i="0" dirty="0"/>
          </a:p>
        </p:txBody>
      </p:sp>
      <p:sp>
        <p:nvSpPr>
          <p:cNvPr id="9" name="L-Shape 8">
            <a:extLst>
              <a:ext uri="{FF2B5EF4-FFF2-40B4-BE49-F238E27FC236}">
                <a16:creationId xmlns:a16="http://schemas.microsoft.com/office/drawing/2014/main" id="{1CAC17AB-7A92-7642-AA24-C91101DBAD16}"/>
              </a:ext>
            </a:extLst>
          </p:cNvPr>
          <p:cNvSpPr/>
          <p:nvPr/>
        </p:nvSpPr>
        <p:spPr bwMode="auto">
          <a:xfrm>
            <a:off x="1524000" y="4006904"/>
            <a:ext cx="9144000" cy="1085115"/>
          </a:xfrm>
          <a:prstGeom prst="corner">
            <a:avLst>
              <a:gd name="adj1" fmla="val 3211"/>
              <a:gd name="adj2" fmla="val 2774"/>
            </a:avLst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10" name="L-Shape 9">
            <a:extLst>
              <a:ext uri="{FF2B5EF4-FFF2-40B4-BE49-F238E27FC236}">
                <a16:creationId xmlns:a16="http://schemas.microsoft.com/office/drawing/2014/main" id="{05AB60A7-2D5B-7E43-8D57-EC7156D69284}"/>
              </a:ext>
            </a:extLst>
          </p:cNvPr>
          <p:cNvSpPr/>
          <p:nvPr/>
        </p:nvSpPr>
        <p:spPr bwMode="auto">
          <a:xfrm rot="10800000">
            <a:off x="1447800" y="1415515"/>
            <a:ext cx="9220200" cy="1074948"/>
          </a:xfrm>
          <a:prstGeom prst="corner">
            <a:avLst>
              <a:gd name="adj1" fmla="val 3211"/>
              <a:gd name="adj2" fmla="val 2774"/>
            </a:avLst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251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5CC7B-865F-D744-A292-BA5CF1C5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7B765-3676-7A4E-A938-1D39806BD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these slides, you will</a:t>
            </a:r>
          </a:p>
          <a:p>
            <a:pPr lvl="1"/>
            <a:r>
              <a:rPr lang="en-US" dirty="0"/>
              <a:t>learn basics of CSS</a:t>
            </a:r>
          </a:p>
          <a:p>
            <a:pPr lvl="1"/>
            <a:r>
              <a:rPr lang="en-US" dirty="0"/>
              <a:t>their different style locations</a:t>
            </a:r>
          </a:p>
          <a:p>
            <a:pPr lvl="1"/>
            <a:r>
              <a:rPr lang="en-US" dirty="0"/>
              <a:t>l</a:t>
            </a:r>
            <a:r>
              <a:rPr lang="en-US"/>
              <a:t>earn </a:t>
            </a:r>
            <a:r>
              <a:rPr lang="en-US" dirty="0"/>
              <a:t>about different CSS selectors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sz="2400" b="1" dirty="0"/>
              <a:t>Textbook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C00000"/>
                </a:solidFill>
              </a:rPr>
              <a:t>Fun</a:t>
            </a:r>
            <a:r>
              <a:rPr lang="en-US" sz="2400" dirty="0"/>
              <a:t>damentals of </a:t>
            </a:r>
            <a:r>
              <a:rPr lang="en-US" sz="2400" dirty="0">
                <a:solidFill>
                  <a:srgbClr val="C00000"/>
                </a:solidFill>
              </a:rPr>
              <a:t>Web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Dev</a:t>
            </a:r>
            <a:r>
              <a:rPr lang="en-US" sz="2400" dirty="0"/>
              <a:t>elopment</a:t>
            </a:r>
          </a:p>
          <a:p>
            <a:pPr lvl="1"/>
            <a:r>
              <a:rPr lang="en-US" sz="2000" dirty="0"/>
              <a:t>Chapter 4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7D8E21-6D22-B54F-ADFE-BD0CFF204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731" y="4125951"/>
            <a:ext cx="1654042" cy="205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35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CSS?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CSS is a W3C standard for describing the </a:t>
            </a:r>
            <a:r>
              <a:rPr lang="en-US" sz="2400" b="1" dirty="0">
                <a:solidFill>
                  <a:schemeClr val="accent1"/>
                </a:solidFill>
              </a:rPr>
              <a:t>presentation (or appearance) </a:t>
            </a:r>
            <a:r>
              <a:rPr lang="en-US" sz="2400" dirty="0"/>
              <a:t>of HTML elements. With CSS, we can assign:</a:t>
            </a:r>
          </a:p>
          <a:p>
            <a:pPr marL="800100" lvl="1" indent="-342900"/>
            <a:r>
              <a:rPr lang="en-US" sz="2000" dirty="0"/>
              <a:t>font properties, </a:t>
            </a:r>
          </a:p>
          <a:p>
            <a:pPr marL="800100" lvl="1" indent="-342900"/>
            <a:r>
              <a:rPr lang="en-US" sz="2000" dirty="0"/>
              <a:t>colors, </a:t>
            </a:r>
          </a:p>
          <a:p>
            <a:pPr marL="800100" lvl="1" indent="-342900"/>
            <a:r>
              <a:rPr lang="en-US" sz="2000" dirty="0"/>
              <a:t>sizes, </a:t>
            </a:r>
          </a:p>
          <a:p>
            <a:pPr marL="800100" lvl="1" indent="-342900"/>
            <a:r>
              <a:rPr lang="en-US" sz="2000" dirty="0"/>
              <a:t>borders, </a:t>
            </a:r>
          </a:p>
          <a:p>
            <a:pPr marL="800100" lvl="1" indent="-342900"/>
            <a:r>
              <a:rPr lang="en-US" sz="2000" dirty="0"/>
              <a:t>background images, </a:t>
            </a:r>
          </a:p>
          <a:p>
            <a:pPr marL="800100" lvl="1" indent="-342900"/>
            <a:r>
              <a:rPr lang="en-US" sz="2000" dirty="0"/>
              <a:t>even the position of elements.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6021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Formatting control is better in CSS.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Maintenance is easy.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CSS-driven sites are more accessible.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CSS can be used to adopt a page for different output mediums.</a:t>
            </a:r>
          </a:p>
        </p:txBody>
      </p:sp>
    </p:spTree>
    <p:extLst>
      <p:ext uri="{BB962C8B-B14F-4D97-AF65-F5344CB8AC3E}">
        <p14:creationId xmlns:p14="http://schemas.microsoft.com/office/powerpoint/2010/main" val="3398325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" y="5135245"/>
            <a:ext cx="10637520" cy="4351338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A rule consists of a selector that identifies the HTML element or elements that will be affected, followed by a series of </a:t>
            </a:r>
            <a:r>
              <a:rPr lang="en-US" sz="2400" b="1" dirty="0">
                <a:solidFill>
                  <a:schemeClr val="accent1"/>
                </a:solidFill>
              </a:rPr>
              <a:t>property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chemeClr val="accent1"/>
                </a:solidFill>
              </a:rPr>
              <a:t>value</a:t>
            </a:r>
            <a:r>
              <a:rPr lang="en-US" sz="2400" dirty="0"/>
              <a:t> pairs (each pair is also called a </a:t>
            </a:r>
            <a:r>
              <a:rPr lang="en-US" sz="2400" b="1" dirty="0">
                <a:solidFill>
                  <a:schemeClr val="accent1"/>
                </a:solidFill>
              </a:rPr>
              <a:t>declaration</a:t>
            </a:r>
            <a:r>
              <a:rPr lang="en-US" sz="2400" dirty="0"/>
              <a:t>).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E907370-725D-B542-8A17-E7216FFB2E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554020"/>
              </p:ext>
            </p:extLst>
          </p:nvPr>
        </p:nvGraphicFramePr>
        <p:xfrm>
          <a:off x="4779963" y="0"/>
          <a:ext cx="7000875" cy="513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Visio" r:id="rId3" imgW="4664115" imgH="3239851" progId="Visio.Drawing.11">
                  <p:embed/>
                </p:oleObj>
              </mc:Choice>
              <mc:Fallback>
                <p:oleObj name="Visio" r:id="rId3" imgW="4664115" imgH="3239851" progId="Visio.Drawing.11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AE907370-725D-B542-8A17-E7216FFB2E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963" y="0"/>
                        <a:ext cx="7000875" cy="5135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B9ADFBB-EC57-8343-85BA-62C70E19896E}"/>
              </a:ext>
            </a:extLst>
          </p:cNvPr>
          <p:cNvSpPr/>
          <p:nvPr/>
        </p:nvSpPr>
        <p:spPr>
          <a:xfrm>
            <a:off x="1036320" y="4657387"/>
            <a:ext cx="76809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/>
              <a:t>A CSS document consists of one or more </a:t>
            </a:r>
            <a:r>
              <a:rPr lang="en-US" sz="2400" b="1" dirty="0">
                <a:solidFill>
                  <a:schemeClr val="accent1"/>
                </a:solidFill>
              </a:rPr>
              <a:t>style rules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0077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Each CSS declaration also contains a </a:t>
            </a:r>
            <a:r>
              <a:rPr lang="en-US" b="1" dirty="0">
                <a:solidFill>
                  <a:schemeClr val="accent1"/>
                </a:solidFill>
              </a:rPr>
              <a:t>value</a:t>
            </a:r>
            <a:r>
              <a:rPr lang="en-US" dirty="0"/>
              <a:t> for a property.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The unit of any given value is dependent upon the property.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Some property values are from a predefined list of keywords. 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/>
              <a:t>Others are values such as length measurements, percentages, numbers without units, color values, and URLs.</a:t>
            </a:r>
          </a:p>
        </p:txBody>
      </p:sp>
    </p:spTree>
    <p:extLst>
      <p:ext uri="{BB962C8B-B14F-4D97-AF65-F5344CB8AC3E}">
        <p14:creationId xmlns:p14="http://schemas.microsoft.com/office/powerpoint/2010/main" val="2467150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 of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Some of these are </a:t>
            </a:r>
            <a:r>
              <a:rPr lang="en-US" b="1" dirty="0"/>
              <a:t>relative units</a:t>
            </a:r>
            <a:r>
              <a:rPr lang="en-US" dirty="0"/>
              <a:t>, in that they are based on the value of something else, such as the size of a parent element. </a:t>
            </a:r>
          </a:p>
          <a:p>
            <a:pPr algn="just"/>
            <a:r>
              <a:rPr lang="en-US" dirty="0"/>
              <a:t>Others are </a:t>
            </a:r>
            <a:r>
              <a:rPr lang="en-US" b="1" dirty="0"/>
              <a:t>absolute units</a:t>
            </a:r>
            <a:r>
              <a:rPr lang="en-US" dirty="0"/>
              <a:t>, in that they have a real-world size. </a:t>
            </a:r>
          </a:p>
          <a:p>
            <a:pPr lvl="1" algn="just"/>
            <a:r>
              <a:rPr lang="en-US" dirty="0"/>
              <a:t>Unless you are defining a style sheet for printing, it is recommended to avoid using absolute units.</a:t>
            </a:r>
          </a:p>
        </p:txBody>
      </p:sp>
    </p:spTree>
    <p:extLst>
      <p:ext uri="{BB962C8B-B14F-4D97-AF65-F5344CB8AC3E}">
        <p14:creationId xmlns:p14="http://schemas.microsoft.com/office/powerpoint/2010/main" val="399468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628572" y="558806"/>
            <a:ext cx="275844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Relative Units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541001"/>
              </p:ext>
            </p:extLst>
          </p:nvPr>
        </p:nvGraphicFramePr>
        <p:xfrm>
          <a:off x="1213433" y="463784"/>
          <a:ext cx="10469880" cy="2137023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936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0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233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br>
                        <a:rPr lang="en-US" sz="2000" dirty="0"/>
                      </a:br>
                      <a:r>
                        <a:rPr lang="en-US" sz="2000" dirty="0"/>
                        <a:t>Unit</a:t>
                      </a:r>
                      <a:endParaRPr lang="en-US" sz="20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704" marR="6670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br>
                        <a:rPr lang="en-US" sz="2000" dirty="0"/>
                      </a:br>
                      <a:r>
                        <a:rPr lang="en-US" sz="2000" dirty="0"/>
                        <a:t>Description</a:t>
                      </a:r>
                      <a:endParaRPr lang="en-US" sz="20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704" marR="6670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br>
                        <a:rPr lang="en-US" sz="2000" dirty="0"/>
                      </a:br>
                      <a:r>
                        <a:rPr lang="en-US" sz="2000" dirty="0"/>
                        <a:t>Type</a:t>
                      </a:r>
                      <a:endParaRPr lang="en-US" sz="20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6704" marR="6670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607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2000" dirty="0"/>
                      </a:br>
                      <a:r>
                        <a:rPr lang="en-US" sz="2000" dirty="0" err="1"/>
                        <a:t>em</a:t>
                      </a:r>
                      <a:endParaRPr lang="en-US" sz="20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6704" marR="6670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2000" dirty="0"/>
                      </a:br>
                      <a:r>
                        <a:rPr lang="en-US" sz="2000" dirty="0"/>
                        <a:t>When used for font sizes, the </a:t>
                      </a:r>
                      <a:r>
                        <a:rPr lang="en-US" sz="2000" dirty="0" err="1"/>
                        <a:t>em</a:t>
                      </a:r>
                      <a:r>
                        <a:rPr lang="en-US" sz="2000" dirty="0"/>
                        <a:t> unit is in relation to the font size of the parent.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6704" marR="6670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2000" dirty="0"/>
                      </a:br>
                      <a:r>
                        <a:rPr lang="en-US" sz="2000" dirty="0"/>
                        <a:t>Relative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6704" marR="6670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3183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endParaRPr lang="en-US" sz="2000" dirty="0"/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%</a:t>
                      </a:r>
                      <a:endParaRPr lang="en-US" sz="20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6704" marR="66704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                                                                                                   A measure that is always relative to another value. The precise meaning of % varies depending upon which property it is being used.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6704" marR="6670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Relative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6704" marR="6670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504D69-4CC2-014F-AD8C-E90CC6926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07284"/>
              </p:ext>
            </p:extLst>
          </p:nvPr>
        </p:nvGraphicFramePr>
        <p:xfrm>
          <a:off x="1213433" y="2758442"/>
          <a:ext cx="8936408" cy="34954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79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5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472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br>
                        <a:rPr lang="en-US" sz="2000" dirty="0"/>
                      </a:br>
                      <a:r>
                        <a:rPr lang="en-US" sz="2000" dirty="0"/>
                        <a:t>Unit</a:t>
                      </a:r>
                      <a:endParaRPr lang="en-US" sz="20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br>
                        <a:rPr lang="en-US" sz="2000" dirty="0"/>
                      </a:br>
                      <a:r>
                        <a:rPr lang="en-US" sz="2000" dirty="0"/>
                        <a:t>Description</a:t>
                      </a:r>
                      <a:endParaRPr lang="en-US" sz="20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br>
                        <a:rPr lang="en-US" sz="2000" dirty="0"/>
                      </a:br>
                      <a:r>
                        <a:rPr lang="en-US" sz="2000" dirty="0"/>
                        <a:t>Type</a:t>
                      </a:r>
                      <a:endParaRPr lang="en-US" sz="20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266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in</a:t>
                      </a:r>
                      <a:endParaRPr lang="en-US" sz="20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                                       Inches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 Absolute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266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cm</a:t>
                      </a:r>
                      <a:endParaRPr lang="en-US" sz="20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                                                   Centimeters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   Absolute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689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mm</a:t>
                      </a:r>
                      <a:endParaRPr lang="en-US" sz="20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                            Millimeters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     Absolute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266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</a:t>
                      </a:r>
                      <a:r>
                        <a:rPr lang="en-US" sz="2000" dirty="0" err="1"/>
                        <a:t>pt</a:t>
                      </a:r>
                      <a:endParaRPr lang="en-US" sz="20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                                       Points (equal to 1/72 of an inch)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 Absolute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266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pc</a:t>
                      </a:r>
                      <a:endParaRPr lang="en-US" sz="20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                                          Pica (equal to 1/6 of an inch)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 Absolute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266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</a:t>
                      </a:r>
                      <a:r>
                        <a:rPr lang="en-US" sz="2000" dirty="0" err="1"/>
                        <a:t>px</a:t>
                      </a:r>
                      <a:endParaRPr lang="en-US" sz="20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                         </a:t>
                      </a:r>
                      <a:br>
                        <a:rPr lang="en-US" sz="2000" dirty="0"/>
                      </a:br>
                      <a:r>
                        <a:rPr lang="en-US" sz="2000" dirty="0"/>
                        <a:t>Pixel: In CSS3 it is absolute (1/96 of an inch).                 </a:t>
                      </a:r>
                      <a:endParaRPr lang="en-US" sz="20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2000" dirty="0"/>
                        <a:t>                                              Absolute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964EC165-9ACD-FD49-8F52-DD4ADFE675D4}"/>
              </a:ext>
            </a:extLst>
          </p:cNvPr>
          <p:cNvSpPr txBox="1">
            <a:spLocks/>
          </p:cNvSpPr>
          <p:nvPr/>
        </p:nvSpPr>
        <p:spPr>
          <a:xfrm rot="16200000">
            <a:off x="-599121" y="3505327"/>
            <a:ext cx="26995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Absolute Units</a:t>
            </a:r>
          </a:p>
        </p:txBody>
      </p:sp>
    </p:spTree>
    <p:extLst>
      <p:ext uri="{BB962C8B-B14F-4D97-AF65-F5344CB8AC3E}">
        <p14:creationId xmlns:p14="http://schemas.microsoft.com/office/powerpoint/2010/main" val="33983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Values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736103"/>
              </p:ext>
            </p:extLst>
          </p:nvPr>
        </p:nvGraphicFramePr>
        <p:xfrm>
          <a:off x="1471691" y="1505748"/>
          <a:ext cx="9083039" cy="458819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84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809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br>
                        <a:rPr lang="en-US" sz="2000" dirty="0"/>
                      </a:br>
                      <a:r>
                        <a:rPr lang="en-US" sz="2000" dirty="0"/>
                        <a:t>Method</a:t>
                      </a:r>
                      <a:endParaRPr lang="en-US" sz="20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br>
                        <a:rPr lang="en-US" sz="2000" dirty="0"/>
                      </a:br>
                      <a:r>
                        <a:rPr lang="en-US" sz="2000" dirty="0"/>
                        <a:t>Description</a:t>
                      </a:r>
                      <a:endParaRPr lang="en-US" sz="20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br>
                        <a:rPr lang="en-US" sz="2000" dirty="0"/>
                      </a:br>
                      <a:r>
                        <a:rPr lang="en-US" sz="2000" dirty="0"/>
                        <a:t>Example</a:t>
                      </a:r>
                      <a:endParaRPr lang="en-US" sz="20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129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endParaRPr lang="en-US" sz="1800" dirty="0"/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Name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endParaRPr lang="en-US" sz="1600" dirty="0"/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600" dirty="0"/>
                        <a:t>CSS3 has 140 standard names.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endParaRPr lang="en-US" sz="1600" dirty="0"/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color: red;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7278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800" dirty="0"/>
                      </a:br>
                      <a:r>
                        <a:rPr lang="en-US" sz="1800" dirty="0"/>
                        <a:t>RGB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0 and 255 to describe the Red, Green, and Blue values for the color.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color: </a:t>
                      </a:r>
                      <a:r>
                        <a:rPr lang="en-US" sz="1600" dirty="0" err="1"/>
                        <a:t>rgb</a:t>
                      </a:r>
                      <a:r>
                        <a:rPr lang="en-US" sz="1600" dirty="0"/>
                        <a:t>(255,0,0);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975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800" dirty="0"/>
                      </a:br>
                      <a:r>
                        <a:rPr lang="en-US" sz="1800" dirty="0"/>
                        <a:t>Hexadecimal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endParaRPr lang="en-US" sz="1600" dirty="0"/>
                    </a:p>
                    <a:p>
                      <a:pPr marL="0" marR="0" algn="just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600" dirty="0"/>
                        <a:t>Uses a six-digit hexadecimal number to describe the red, green, and blue value of the color; </a:t>
                      </a:r>
                    </a:p>
                    <a:p>
                      <a:pPr marL="0" marR="0" algn="just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600" dirty="0"/>
                        <a:t>Notice that the hexadecimal number is preceded by a hash or pound symbol (#).</a:t>
                      </a: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endParaRPr lang="en-US" sz="1600" dirty="0"/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color: #FF0000;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460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Values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2441"/>
              </p:ext>
            </p:extLst>
          </p:nvPr>
        </p:nvGraphicFramePr>
        <p:xfrm>
          <a:off x="1417320" y="1852732"/>
          <a:ext cx="9357360" cy="3445329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529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7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r>
                        <a:rPr lang="en-US" sz="2000" baseline="0" dirty="0"/>
                        <a:t>              </a:t>
                      </a:r>
                      <a:r>
                        <a:rPr lang="en-US" sz="2000" dirty="0"/>
                        <a:t>Method</a:t>
                      </a:r>
                      <a:endParaRPr lang="en-US" sz="20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r>
                        <a:rPr lang="en-US" sz="2000" baseline="0" dirty="0"/>
                        <a:t>                                                                   </a:t>
                      </a:r>
                      <a:r>
                        <a:rPr lang="en-US" sz="2000" dirty="0"/>
                        <a:t>Description</a:t>
                      </a:r>
                      <a:endParaRPr lang="en-US" sz="20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r>
                        <a:rPr lang="en-US" sz="2000" baseline="0" dirty="0"/>
                        <a:t>                                                  </a:t>
                      </a:r>
                      <a:r>
                        <a:rPr lang="en-US" sz="2000" dirty="0"/>
                        <a:t>Example</a:t>
                      </a:r>
                      <a:endParaRPr lang="en-US" sz="20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625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800" dirty="0"/>
                      </a:br>
                      <a:r>
                        <a:rPr lang="en-US" sz="1800" dirty="0" err="1"/>
                        <a:t>RGBa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endParaRPr lang="en-US" sz="1800" dirty="0"/>
                    </a:p>
                    <a:p>
                      <a:pPr marL="0" marR="0" algn="just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Allows you to add an alpha, or transparency, value. This allows a background color or image to “show through” the color. Transparency is a value between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0.0 (fully transparent) and 1.0 (fully opaque)</a:t>
                      </a:r>
                      <a:r>
                        <a:rPr lang="en-US" sz="1800" dirty="0"/>
                        <a:t>.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endParaRPr lang="en-US" sz="1800" dirty="0"/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800" dirty="0"/>
                        <a:t>color: </a:t>
                      </a:r>
                      <a:r>
                        <a:rPr lang="en-US" sz="1800"/>
                        <a:t>rgba(</a:t>
                      </a:r>
                      <a:r>
                        <a:rPr lang="en-US" sz="1800" dirty="0"/>
                        <a:t>255,0,0, 0.5);</a:t>
                      </a:r>
                      <a:endParaRPr lang="en-US" sz="1800" dirty="0">
                        <a:latin typeface="Consolas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3304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endParaRPr lang="en-US" sz="1800" dirty="0"/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HSL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endParaRPr lang="en-US" sz="1800" dirty="0"/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Allows you to specify a color using Hue Saturation and Light values. This is available only in CSS3. HSLA is also available as well.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endParaRPr lang="en-US" sz="1800" dirty="0"/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800" dirty="0"/>
                        <a:t>color: </a:t>
                      </a:r>
                      <a:r>
                        <a:rPr lang="en-US" sz="1800" dirty="0" err="1"/>
                        <a:t>hsl</a:t>
                      </a:r>
                      <a:r>
                        <a:rPr lang="en-US" sz="1800" dirty="0"/>
                        <a:t>(0,100%,100%);</a:t>
                      </a:r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800" dirty="0"/>
                        <a:t>color: </a:t>
                      </a:r>
                      <a:r>
                        <a:rPr lang="en-US" sz="1800" dirty="0" err="1"/>
                        <a:t>hsl</a:t>
                      </a:r>
                      <a:r>
                        <a:rPr lang="en-US" sz="1800" dirty="0"/>
                        <a:t>(330,59%,100%);</a:t>
                      </a:r>
                      <a:endParaRPr lang="en-US" sz="1800" dirty="0">
                        <a:latin typeface="Consolas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350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in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often helpful to add comments to your style sheets. Comments take the form of</a:t>
            </a:r>
            <a:r>
              <a:rPr lang="en-US"/>
              <a:t>:  </a:t>
            </a:r>
          </a:p>
          <a:p>
            <a:endParaRPr lang="en-US" dirty="0"/>
          </a:p>
          <a:p>
            <a:pPr lvl="1"/>
            <a:r>
              <a:rPr lang="en-US" sz="1800" b="1" dirty="0">
                <a:solidFill>
                  <a:srgbClr val="0070C0"/>
                </a:solidFill>
                <a:latin typeface="+mj-lt"/>
              </a:rPr>
              <a:t>/* Comment goes here */</a:t>
            </a:r>
            <a:endParaRPr lang="en-US" sz="2800" b="1" dirty="0">
              <a:solidFill>
                <a:srgbClr val="0070C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31088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 Locations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1825625"/>
            <a:ext cx="11170920" cy="4351338"/>
          </a:xfrm>
        </p:spPr>
        <p:txBody>
          <a:bodyPr/>
          <a:lstStyle/>
          <a:p>
            <a:r>
              <a:rPr lang="en-US" dirty="0"/>
              <a:t>Author Created CSS style rules can be located in three different locations:</a:t>
            </a:r>
          </a:p>
          <a:p>
            <a:pPr indent="457200">
              <a:buFont typeface="Arial" pitchFamily="34" charset="0"/>
              <a:buChar char="•"/>
            </a:pPr>
            <a:r>
              <a:rPr lang="en-US" dirty="0"/>
              <a:t>Inline</a:t>
            </a:r>
          </a:p>
          <a:p>
            <a:pPr indent="457200">
              <a:buFont typeface="Arial" pitchFamily="34" charset="0"/>
              <a:buChar char="•"/>
            </a:pPr>
            <a:r>
              <a:rPr lang="en-US" dirty="0"/>
              <a:t>Embedded</a:t>
            </a:r>
          </a:p>
          <a:p>
            <a:pPr indent="457200">
              <a:buFont typeface="Arial" pitchFamily="34" charset="0"/>
              <a:buChar char="•"/>
            </a:pPr>
            <a:r>
              <a:rPr lang="en-US" dirty="0"/>
              <a:t>External</a:t>
            </a:r>
          </a:p>
          <a:p>
            <a:pPr indent="0">
              <a:buNone/>
            </a:pPr>
            <a:r>
              <a:rPr lang="en-US" dirty="0"/>
              <a:t>You </a:t>
            </a:r>
            <a:r>
              <a:rPr lang="en-US"/>
              <a:t>can even use all three.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242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Inline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inline style only affects the element it is defined within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Using inline styles is generally </a:t>
            </a:r>
            <a:r>
              <a:rPr lang="en-US" dirty="0">
                <a:solidFill>
                  <a:srgbClr val="FF0000"/>
                </a:solidFill>
              </a:rPr>
              <a:t>discouraged</a:t>
            </a:r>
            <a:r>
              <a:rPr lang="en-US" dirty="0"/>
              <a:t> since they decrease maintainability. (This was how formatting was done in Web Gen 1)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Inline styles can however be handy for quickly testing out a style change.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75FC9-C4CD-9E45-AA5F-926B03842E4C}"/>
              </a:ext>
            </a:extLst>
          </p:cNvPr>
          <p:cNvSpPr txBox="1"/>
          <p:nvPr/>
        </p:nvSpPr>
        <p:spPr>
          <a:xfrm>
            <a:off x="3469701" y="2542180"/>
            <a:ext cx="7078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&lt;h2 </a:t>
            </a:r>
            <a:r>
              <a:rPr lang="en-US" sz="2000" b="1" dirty="0">
                <a:solidFill>
                  <a:srgbClr val="0070C0"/>
                </a:solidFill>
              </a:rPr>
              <a:t>style=“font-size: 24pt; font-weight: bold”</a:t>
            </a:r>
            <a:r>
              <a:rPr lang="en-US" sz="2000" b="1" dirty="0"/>
              <a:t>&gt; Description &lt;/h2&gt;</a:t>
            </a:r>
          </a:p>
        </p:txBody>
      </p:sp>
    </p:spTree>
    <p:extLst>
      <p:ext uri="{BB962C8B-B14F-4D97-AF65-F5344CB8AC3E}">
        <p14:creationId xmlns:p14="http://schemas.microsoft.com/office/powerpoint/2010/main" val="2747301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0D04-2B2F-8E4F-845D-2318E7500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</a:t>
            </a:r>
            <a:r>
              <a:rPr lang="en-US" b="1" dirty="0"/>
              <a:t> </a:t>
            </a:r>
            <a:r>
              <a:rPr lang="en-US" dirty="0"/>
              <a:t>Style</a:t>
            </a:r>
            <a:r>
              <a:rPr lang="en-US" b="1" dirty="0"/>
              <a:t> </a:t>
            </a:r>
            <a:r>
              <a:rPr lang="en-US" dirty="0"/>
              <a:t>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47829-4737-8245-93A9-0DD2EBF5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Using </a:t>
            </a:r>
            <a:r>
              <a:rPr lang="en-US" sz="2400"/>
              <a:t>these is </a:t>
            </a:r>
            <a:r>
              <a:rPr lang="en-US" sz="2400" dirty="0"/>
              <a:t>better than inline styles.</a:t>
            </a:r>
          </a:p>
          <a:p>
            <a:pPr algn="just"/>
            <a:r>
              <a:rPr lang="en-US" sz="2400" dirty="0"/>
              <a:t>We define the styles inside the head section.</a:t>
            </a:r>
          </a:p>
          <a:p>
            <a:pPr algn="just"/>
            <a:r>
              <a:rPr lang="en-US" sz="2400" dirty="0"/>
              <a:t>However, using embedded styles is also </a:t>
            </a:r>
            <a:r>
              <a:rPr lang="en-US" sz="2400" dirty="0">
                <a:solidFill>
                  <a:srgbClr val="FF0000"/>
                </a:solidFill>
              </a:rPr>
              <a:t>discouraged</a:t>
            </a:r>
            <a:r>
              <a:rPr lang="en-US" sz="2400" dirty="0"/>
              <a:t>. 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B90010-C1D4-324F-8223-84578D91C233}"/>
              </a:ext>
            </a:extLst>
          </p:cNvPr>
          <p:cNvSpPr txBox="1"/>
          <p:nvPr/>
        </p:nvSpPr>
        <p:spPr>
          <a:xfrm>
            <a:off x="5567551" y="3314641"/>
            <a:ext cx="440607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&lt;head&gt;</a:t>
            </a:r>
          </a:p>
          <a:p>
            <a:r>
              <a:rPr lang="en-US" sz="2000" b="1" dirty="0"/>
              <a:t>	&lt;title&gt; Practice CSS&lt;/title&gt;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&lt;style&gt;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	h2{ 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	       font-size: 24pt; 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	       font-weight: bold; 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	}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	&lt;/style&gt;</a:t>
            </a:r>
          </a:p>
          <a:p>
            <a:r>
              <a:rPr lang="en-US" sz="2000" b="1" dirty="0"/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2175988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46E56-2E48-2B4A-94B9-8EC7C5085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Style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1603F-373B-9C42-B157-C8A25E3BA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Most common place to locate style rules because it provides the best maintainability. </a:t>
            </a:r>
          </a:p>
          <a:p>
            <a:pPr algn="just"/>
            <a:r>
              <a:rPr lang="en-US" dirty="0"/>
              <a:t>When you make a change to an external style sheet, all HTML documents that reference that style sheet will automatically use the updated version. </a:t>
            </a:r>
          </a:p>
          <a:p>
            <a:pPr algn="just"/>
            <a:r>
              <a:rPr lang="en-US" dirty="0"/>
              <a:t>The browser can cache the external style sheet which can improves the performance of the site!</a:t>
            </a:r>
          </a:p>
          <a:p>
            <a:pPr algn="just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C8B49-D8F1-C042-A63F-811B0AE49864}"/>
              </a:ext>
            </a:extLst>
          </p:cNvPr>
          <p:cNvSpPr txBox="1"/>
          <p:nvPr/>
        </p:nvSpPr>
        <p:spPr>
          <a:xfrm>
            <a:off x="3426351" y="4856374"/>
            <a:ext cx="78312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&lt;head&gt;</a:t>
            </a:r>
          </a:p>
          <a:p>
            <a:r>
              <a:rPr lang="en-US" sz="2000" b="1" dirty="0"/>
              <a:t>	&lt;title&gt; Practice CSS &lt;/title&gt;</a:t>
            </a:r>
          </a:p>
          <a:p>
            <a:r>
              <a:rPr lang="en-US" sz="2000" b="1" dirty="0"/>
              <a:t>	</a:t>
            </a:r>
            <a:r>
              <a:rPr lang="en-US" sz="2000" b="1" dirty="0">
                <a:solidFill>
                  <a:schemeClr val="accent1"/>
                </a:solidFill>
              </a:rPr>
              <a:t>&lt;link    </a:t>
            </a:r>
            <a:r>
              <a:rPr lang="en-US" sz="2000" b="1" dirty="0" err="1">
                <a:solidFill>
                  <a:schemeClr val="accent1"/>
                </a:solidFill>
              </a:rPr>
              <a:t>rel</a:t>
            </a:r>
            <a:r>
              <a:rPr lang="en-US" sz="2000" b="1" dirty="0">
                <a:solidFill>
                  <a:schemeClr val="accent1"/>
                </a:solidFill>
              </a:rPr>
              <a:t>="stylesheet"    type="text/</a:t>
            </a:r>
            <a:r>
              <a:rPr lang="en-US" sz="2000" b="1" dirty="0" err="1">
                <a:solidFill>
                  <a:schemeClr val="accent1"/>
                </a:solidFill>
              </a:rPr>
              <a:t>css</a:t>
            </a:r>
            <a:r>
              <a:rPr lang="en-US" sz="2000" b="1" dirty="0">
                <a:solidFill>
                  <a:schemeClr val="accent1"/>
                </a:solidFill>
              </a:rPr>
              <a:t>"    </a:t>
            </a:r>
            <a:r>
              <a:rPr lang="en-US" sz="2000" b="1" dirty="0" err="1">
                <a:solidFill>
                  <a:schemeClr val="accent1"/>
                </a:solidFill>
              </a:rPr>
              <a:t>href</a:t>
            </a:r>
            <a:r>
              <a:rPr lang="en-US" sz="2000" b="1" dirty="0">
                <a:solidFill>
                  <a:schemeClr val="accent1"/>
                </a:solidFill>
              </a:rPr>
              <a:t>="styles.css"  /&gt;</a:t>
            </a:r>
          </a:p>
          <a:p>
            <a:r>
              <a:rPr lang="en-US" sz="2000" b="1" dirty="0"/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1232149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346960" y="758952"/>
            <a:ext cx="7543800" cy="3203448"/>
          </a:xfrm>
        </p:spPr>
        <p:txBody>
          <a:bodyPr>
            <a:normAutofit/>
          </a:bodyPr>
          <a:lstStyle/>
          <a:p>
            <a:r>
              <a:rPr lang="en-US" b="1" dirty="0"/>
              <a:t>CSS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Selectors</a:t>
            </a:r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51F968-45F6-6A44-A468-2D19D6B2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84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120" y="1825625"/>
            <a:ext cx="1146048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CSS selectors allow you to select </a:t>
            </a:r>
          </a:p>
          <a:p>
            <a:pPr indent="457200">
              <a:buFont typeface="Arial" pitchFamily="34" charset="0"/>
              <a:buChar char="•"/>
            </a:pPr>
            <a:r>
              <a:rPr lang="en-US" sz="2800" dirty="0"/>
              <a:t>individual  elements</a:t>
            </a:r>
          </a:p>
          <a:p>
            <a:pPr indent="457200">
              <a:buFont typeface="Arial" pitchFamily="34" charset="0"/>
              <a:buChar char="•"/>
            </a:pPr>
            <a:r>
              <a:rPr lang="en-US" sz="2800" dirty="0"/>
              <a:t>multiple HTML elements </a:t>
            </a:r>
          </a:p>
          <a:p>
            <a:pPr indent="457200">
              <a:buFont typeface="Arial" pitchFamily="34" charset="0"/>
              <a:buChar char="•"/>
            </a:pPr>
            <a:r>
              <a:rPr lang="en-US" sz="2800" dirty="0"/>
              <a:t>elements that belong together in some way, or </a:t>
            </a:r>
          </a:p>
          <a:p>
            <a:pPr indent="457200">
              <a:buFont typeface="Arial" pitchFamily="34" charset="0"/>
              <a:buChar char="•"/>
            </a:pPr>
            <a:r>
              <a:rPr lang="en-US" sz="2800" dirty="0"/>
              <a:t>elements that are positioned in specific ways in the document hierarchy.</a:t>
            </a:r>
          </a:p>
          <a:p>
            <a:pPr marL="0" indent="0">
              <a:buNone/>
            </a:pPr>
            <a:r>
              <a:rPr lang="en-US" sz="2800" dirty="0"/>
              <a:t>There are a number of different selector types.</a:t>
            </a:r>
          </a:p>
        </p:txBody>
      </p:sp>
    </p:spTree>
    <p:extLst>
      <p:ext uri="{BB962C8B-B14F-4D97-AF65-F5344CB8AC3E}">
        <p14:creationId xmlns:p14="http://schemas.microsoft.com/office/powerpoint/2010/main" val="754727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Every CSS rule begins with a </a:t>
            </a:r>
            <a:r>
              <a:rPr lang="en-US" b="1" dirty="0">
                <a:solidFill>
                  <a:schemeClr val="accent1"/>
                </a:solidFill>
              </a:rPr>
              <a:t>selector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selector identifies which element or elements in the HTML document will be affected by the declarations in the rule. </a:t>
            </a:r>
          </a:p>
        </p:txBody>
      </p:sp>
    </p:spTree>
    <p:extLst>
      <p:ext uri="{BB962C8B-B14F-4D97-AF65-F5344CB8AC3E}">
        <p14:creationId xmlns:p14="http://schemas.microsoft.com/office/powerpoint/2010/main" val="1786787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individual CSS declaration must contain a </a:t>
            </a:r>
            <a:r>
              <a:rPr lang="en-US" b="1" dirty="0">
                <a:solidFill>
                  <a:schemeClr val="accent1"/>
                </a:solidFill>
              </a:rPr>
              <a:t>property</a:t>
            </a:r>
            <a:r>
              <a:rPr lang="en-US" dirty="0"/>
              <a:t>. </a:t>
            </a:r>
          </a:p>
          <a:p>
            <a:r>
              <a:rPr lang="en-US" dirty="0"/>
              <a:t>These property names are predefined by the CSS standard. </a:t>
            </a:r>
          </a:p>
        </p:txBody>
      </p:sp>
    </p:spTree>
    <p:extLst>
      <p:ext uri="{BB962C8B-B14F-4D97-AF65-F5344CB8AC3E}">
        <p14:creationId xmlns:p14="http://schemas.microsoft.com/office/powerpoint/2010/main" val="3505093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507" y="159958"/>
            <a:ext cx="2316480" cy="1325563"/>
          </a:xfrm>
        </p:spPr>
        <p:txBody>
          <a:bodyPr>
            <a:normAutofit/>
          </a:bodyPr>
          <a:lstStyle/>
          <a:p>
            <a:r>
              <a:rPr lang="en-CA" sz="4000" dirty="0"/>
              <a:t>Properties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7373536"/>
              </p:ext>
            </p:extLst>
          </p:nvPr>
        </p:nvGraphicFramePr>
        <p:xfrm>
          <a:off x="3266505" y="159958"/>
          <a:ext cx="8703823" cy="6099279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2212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47">
                  <a:extLst>
                    <a:ext uri="{9D8B030D-6E8A-4147-A177-3AD203B41FA5}">
                      <a16:colId xmlns:a16="http://schemas.microsoft.com/office/drawing/2014/main" val="3947521346"/>
                    </a:ext>
                  </a:extLst>
                </a:gridCol>
                <a:gridCol w="2588821">
                  <a:extLst>
                    <a:ext uri="{9D8B030D-6E8A-4147-A177-3AD203B41FA5}">
                      <a16:colId xmlns:a16="http://schemas.microsoft.com/office/drawing/2014/main" val="324893071"/>
                    </a:ext>
                  </a:extLst>
                </a:gridCol>
              </a:tblGrid>
              <a:tr h="390307"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1400"/>
                        </a:spcAft>
                      </a:pPr>
                      <a:br>
                        <a:rPr lang="en-US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Property Type</a:t>
                      </a:r>
                      <a:endParaRPr lang="en-CA" sz="1600" b="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1400"/>
                        </a:spcAft>
                      </a:pPr>
                      <a:br>
                        <a:rPr lang="en-US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Property</a:t>
                      </a:r>
                      <a:endParaRPr lang="en-CA" sz="1600" b="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1400"/>
                        </a:spcAft>
                      </a:pPr>
                      <a:endParaRPr lang="en-CA" sz="1600" b="0" dirty="0">
                        <a:solidFill>
                          <a:srgbClr val="1F497D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1400"/>
                        </a:spcAft>
                      </a:pPr>
                      <a:endParaRPr lang="en-CA" sz="1600" b="0" dirty="0">
                        <a:solidFill>
                          <a:srgbClr val="1F497D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8879"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endParaRPr lang="en-US" sz="1600" dirty="0"/>
                    </a:p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Fonts</a:t>
                      </a:r>
                      <a:endParaRPr lang="en-C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endParaRPr lang="en-US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font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font-family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font-size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font-style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font-weight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font-face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endParaRPr lang="en-CA" sz="1600" dirty="0">
                        <a:latin typeface="Consolas"/>
                        <a:ea typeface="Times New Roman"/>
                        <a:cs typeface="Times New Roman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600" dirty="0"/>
                      </a:b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Layout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231" marR="5023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bottom, left, right, top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clear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display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float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overflow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position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visibility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z-index</a:t>
                      </a:r>
                      <a:endParaRPr lang="en-CA" sz="1600" dirty="0">
                        <a:latin typeface="Consolas"/>
                        <a:ea typeface="Times New Roman"/>
                        <a:cs typeface="Times New Roman"/>
                      </a:endParaRPr>
                    </a:p>
                  </a:txBody>
                  <a:tcPr marL="50231" marR="5023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522"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endParaRPr lang="en-US" sz="1600" dirty="0"/>
                    </a:p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endParaRPr lang="en-US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letter-spacing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line-height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text-align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text-decoration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text-indent</a:t>
                      </a:r>
                      <a:endParaRPr lang="en-CA" sz="1600" dirty="0">
                        <a:latin typeface="Consolas"/>
                        <a:ea typeface="Times New Roman"/>
                        <a:cs typeface="Times New Roman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600" dirty="0"/>
                      </a:b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Lists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231" marR="5023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list-style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list-style-image</a:t>
                      </a:r>
                      <a:endParaRPr lang="en-C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list-style-type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list-style-position</a:t>
                      </a:r>
                      <a:endParaRPr lang="en-C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231" marR="5023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1812"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600" dirty="0"/>
                        <a:t>                                                     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Borders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958" marR="5495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border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border-color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border-width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border-style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border-top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border-top-color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border-top-width</a:t>
                      </a:r>
                      <a:endParaRPr lang="en-CA" sz="1600" dirty="0"/>
                    </a:p>
                  </a:txBody>
                  <a:tcPr marL="54958" marR="5495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600" dirty="0"/>
                      </a:b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Spacing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186" marR="471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padding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padding-bottom, padding-left, padding-right, padding-top 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margin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margin-bottom, margin-left, margin-right, margin-top</a:t>
                      </a:r>
                      <a:endParaRPr lang="en-CA" sz="1600" dirty="0">
                        <a:latin typeface="Consolas"/>
                        <a:ea typeface="Times New Roman"/>
                        <a:cs typeface="Times New Roman"/>
                      </a:endParaRPr>
                    </a:p>
                  </a:txBody>
                  <a:tcPr marL="47186" marR="471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8803519"/>
                  </a:ext>
                </a:extLst>
              </a:tr>
              <a:tr h="1481812"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600" dirty="0"/>
                      </a:b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r>
                        <a:rPr lang="en-US" sz="1600" dirty="0"/>
                        <a:t>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US" sz="1600" dirty="0"/>
                        <a:t>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background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958" marR="5495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background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background-color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background-image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background-position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background-repeat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color</a:t>
                      </a:r>
                      <a:endParaRPr lang="en-CA" sz="1600" dirty="0">
                        <a:latin typeface="Consolas"/>
                        <a:ea typeface="Times New Roman"/>
                        <a:cs typeface="Times New Roman"/>
                      </a:endParaRPr>
                    </a:p>
                  </a:txBody>
                  <a:tcPr marL="54958" marR="5495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600" dirty="0"/>
                      </a:b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Sizing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186" marR="471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height,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max-height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max-width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min-height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min-width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width</a:t>
                      </a:r>
                      <a:endParaRPr lang="en-CA" sz="1600" dirty="0">
                        <a:latin typeface="Consolas"/>
                        <a:ea typeface="Times New Roman"/>
                        <a:cs typeface="Times New Roman"/>
                      </a:endParaRPr>
                    </a:p>
                  </a:txBody>
                  <a:tcPr marL="47186" marR="471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695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279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Uses the HTML element name.</a:t>
            </a:r>
          </a:p>
          <a:p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B90010-C1D4-324F-8223-84578D91C233}"/>
              </a:ext>
            </a:extLst>
          </p:cNvPr>
          <p:cNvSpPr txBox="1"/>
          <p:nvPr/>
        </p:nvSpPr>
        <p:spPr>
          <a:xfrm>
            <a:off x="6906162" y="3040516"/>
            <a:ext cx="30850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h2{ </a:t>
            </a:r>
          </a:p>
          <a:p>
            <a:r>
              <a:rPr lang="en-US" sz="2000" b="1" dirty="0"/>
              <a:t>	font-size: 24pt; </a:t>
            </a:r>
          </a:p>
          <a:p>
            <a:r>
              <a:rPr lang="en-US" sz="2000" b="1" dirty="0"/>
              <a:t>	font-weight: bold; 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3973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61617" cy="4351338"/>
          </a:xfrm>
        </p:spPr>
        <p:txBody>
          <a:bodyPr>
            <a:noAutofit/>
          </a:bodyPr>
          <a:lstStyle/>
          <a:p>
            <a:pPr algn="just"/>
            <a:r>
              <a:rPr lang="en-US" sz="2800" dirty="0"/>
              <a:t>You can select several elements by separating the different element names with commas. </a:t>
            </a:r>
          </a:p>
          <a:p>
            <a:pPr algn="just"/>
            <a:r>
              <a:rPr lang="en-US" sz="2800" dirty="0"/>
              <a:t>This reduces the size and complexity of your CSS files, by combining multiple identical rules into a single rule. </a:t>
            </a:r>
          </a:p>
          <a:p>
            <a:pPr algn="just"/>
            <a:endParaRPr lang="en-US" dirty="0"/>
          </a:p>
          <a:p>
            <a:pPr algn="just"/>
            <a:endParaRPr lang="en-US" sz="2800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The * (asterisk) character a </a:t>
            </a:r>
            <a:r>
              <a:rPr lang="en-US" b="1" dirty="0"/>
              <a:t>universal element selector.</a:t>
            </a:r>
            <a:r>
              <a:rPr lang="en-US" dirty="0"/>
              <a:t> Using it allows you to select all elements.</a:t>
            </a:r>
          </a:p>
          <a:p>
            <a:pPr algn="just"/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B90010-C1D4-324F-8223-84578D91C233}"/>
              </a:ext>
            </a:extLst>
          </p:cNvPr>
          <p:cNvSpPr txBox="1"/>
          <p:nvPr/>
        </p:nvSpPr>
        <p:spPr>
          <a:xfrm>
            <a:off x="8995954" y="3645453"/>
            <a:ext cx="30850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h1, h2{ </a:t>
            </a:r>
          </a:p>
          <a:p>
            <a:r>
              <a:rPr lang="en-US" sz="2000" b="1" dirty="0"/>
              <a:t>	font-size: 24pt; </a:t>
            </a:r>
          </a:p>
          <a:p>
            <a:r>
              <a:rPr lang="en-US" sz="2000" b="1" dirty="0"/>
              <a:t>	font-weight: bold; </a:t>
            </a:r>
          </a:p>
          <a:p>
            <a:r>
              <a:rPr lang="en-US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6912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Selectors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</a:t>
            </a:r>
            <a:r>
              <a:rPr lang="en-US" b="1" dirty="0"/>
              <a:t>id selector</a:t>
            </a:r>
            <a:r>
              <a:rPr lang="en-US" dirty="0"/>
              <a:t> allows you to target a specific element by its id attribute regardless of its type or position. </a:t>
            </a:r>
          </a:p>
          <a:p>
            <a:pPr algn="just"/>
            <a:r>
              <a:rPr lang="en-US" dirty="0"/>
              <a:t>If an HTML element has been labeled with an id attribute, then you can target it for styling by using an id selector, which takes the form: pound/hash (#) followed by the id name. e.g.: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#div { font-size: 16px; color: red }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C00000"/>
                </a:solidFill>
              </a:rPr>
              <a:t>Note</a:t>
            </a:r>
            <a:r>
              <a:rPr lang="en-US" dirty="0"/>
              <a:t>: You should only be using an </a:t>
            </a:r>
            <a:r>
              <a:rPr lang="en-US" b="1" dirty="0"/>
              <a:t>id</a:t>
            </a:r>
            <a:r>
              <a:rPr lang="en-US" dirty="0"/>
              <a:t> once per page.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42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class selector</a:t>
            </a:r>
            <a:r>
              <a:rPr lang="en-US" dirty="0"/>
              <a:t> allows you to simultaneously target different HTML elements regardless of their position in the document tree. </a:t>
            </a:r>
          </a:p>
          <a:p>
            <a:endParaRPr lang="en-US" dirty="0"/>
          </a:p>
          <a:p>
            <a:r>
              <a:rPr lang="en-US" dirty="0"/>
              <a:t>If a series of HTML element have been labeled with </a:t>
            </a:r>
            <a:r>
              <a:rPr lang="en-US" b="1" i="1" dirty="0"/>
              <a:t>the same class attribute value</a:t>
            </a:r>
            <a:r>
              <a:rPr lang="en-US" dirty="0"/>
              <a:t>, then you can target them for styling by using a class selector, which takes the form: period (.) followed by the class name.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accent1"/>
                </a:solidFill>
              </a:rPr>
              <a:t>. div { font-size: 16px; color: red 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3209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 versus Class Selectors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Id selectors should only be used when referencing a single HTML element since an id attribute can only be assigned to a single HTML element. </a:t>
            </a:r>
          </a:p>
          <a:p>
            <a:pPr algn="just"/>
            <a:r>
              <a:rPr lang="en-US" dirty="0"/>
              <a:t>Class selectors should be used when (potentially) referencing several related elements.</a:t>
            </a:r>
          </a:p>
        </p:txBody>
      </p:sp>
    </p:spTree>
    <p:extLst>
      <p:ext uri="{BB962C8B-B14F-4D97-AF65-F5344CB8AC3E}">
        <p14:creationId xmlns:p14="http://schemas.microsoft.com/office/powerpoint/2010/main" val="2374285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</a:t>
            </a:r>
            <a:r>
              <a:rPr lang="en-US" b="1" dirty="0">
                <a:solidFill>
                  <a:schemeClr val="accent1"/>
                </a:solidFill>
              </a:rPr>
              <a:t>attribute selector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provides a way to select HTML elements by either the presence of an element attribute or by the value of an attribute.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Attribute selectors can be a very helpful technique in the styling of hyperlinks and images.</a:t>
            </a:r>
          </a:p>
          <a:p>
            <a:pPr algn="just"/>
            <a:r>
              <a:rPr lang="en-US" dirty="0"/>
              <a:t>This can be a very powerful technique, but because of uneven support by some of the browsers, not all web authors have used them.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679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Selectors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756582"/>
              </p:ext>
            </p:extLst>
          </p:nvPr>
        </p:nvGraphicFramePr>
        <p:xfrm>
          <a:off x="931817" y="2710785"/>
          <a:ext cx="10720252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8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4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Selector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specific 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[title]</a:t>
                      </a:r>
                    </a:p>
                    <a:p>
                      <a:r>
                        <a:rPr lang="en-US" sz="1400" dirty="0"/>
                        <a:t>Matches any element with a title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[=]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 specific attribute</a:t>
                      </a:r>
                      <a:r>
                        <a:rPr lang="en-US" sz="1400" baseline="0" dirty="0"/>
                        <a:t> with specific value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A[title=“posts from this country”]</a:t>
                      </a:r>
                    </a:p>
                    <a:p>
                      <a:r>
                        <a:rPr lang="en-US" sz="1400" dirty="0"/>
                        <a:t>Matches any &lt;a&gt;</a:t>
                      </a:r>
                      <a:r>
                        <a:rPr lang="en-US" sz="1400" baseline="0" dirty="0"/>
                        <a:t> element whose title attribute is exactly “posts from this country”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[*=]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specific attribute whose value begins with specified value.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img</a:t>
                      </a:r>
                      <a:r>
                        <a:rPr lang="en-US" sz="1400" dirty="0"/>
                        <a:t>[</a:t>
                      </a:r>
                      <a:r>
                        <a:rPr lang="en-US" sz="1400" dirty="0" err="1"/>
                        <a:t>src</a:t>
                      </a:r>
                      <a:r>
                        <a:rPr lang="en-US" sz="1400" baseline="0" dirty="0"/>
                        <a:t>*= “flag”]</a:t>
                      </a:r>
                    </a:p>
                    <a:p>
                      <a:r>
                        <a:rPr lang="en-US" sz="1400" baseline="0" dirty="0"/>
                        <a:t>Matches any &lt;</a:t>
                      </a:r>
                      <a:r>
                        <a:rPr lang="en-US" sz="1400" baseline="0" dirty="0" err="1"/>
                        <a:t>img</a:t>
                      </a:r>
                      <a:r>
                        <a:rPr lang="en-US" sz="1400" baseline="0" dirty="0"/>
                        <a:t>&gt; element whose </a:t>
                      </a:r>
                      <a:r>
                        <a:rPr lang="en-US" sz="1400" baseline="0" dirty="0" err="1"/>
                        <a:t>src</a:t>
                      </a:r>
                      <a:r>
                        <a:rPr lang="en-US" sz="1400" baseline="0" dirty="0"/>
                        <a:t> attribute contains somewhere within it the text “flag”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[^=]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specific attribute whose value begins with a specified</a:t>
                      </a:r>
                      <a:r>
                        <a:rPr lang="en-US" sz="1400" baseline="0" dirty="0"/>
                        <a:t> value.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a[</a:t>
                      </a:r>
                      <a:r>
                        <a:rPr lang="en-US" sz="1400" dirty="0" err="1"/>
                        <a:t>href</a:t>
                      </a:r>
                      <a:r>
                        <a:rPr lang="en-US" sz="1400" dirty="0"/>
                        <a:t>^=“mailto”]</a:t>
                      </a:r>
                    </a:p>
                    <a:p>
                      <a:r>
                        <a:rPr lang="en-US" sz="1400" dirty="0"/>
                        <a:t>Matches any &lt;a&gt; element whose </a:t>
                      </a:r>
                      <a:r>
                        <a:rPr lang="en-US" sz="1400" dirty="0" err="1"/>
                        <a:t>href</a:t>
                      </a:r>
                      <a:r>
                        <a:rPr lang="en-US" sz="1400" dirty="0"/>
                        <a:t> attribute begins with “mailto”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[$=]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 specific attribute whose value ends with a specified</a:t>
                      </a:r>
                      <a:r>
                        <a:rPr lang="en-US" sz="1400" baseline="0" dirty="0"/>
                        <a:t> value.</a:t>
                      </a:r>
                      <a:endParaRPr lang="en-US" sz="14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A[</a:t>
                      </a:r>
                      <a:r>
                        <a:rPr lang="en-US" sz="1400" dirty="0" err="1"/>
                        <a:t>href</a:t>
                      </a:r>
                      <a:r>
                        <a:rPr lang="en-US" sz="1400" dirty="0"/>
                        <a:t>$=“.pdf”]</a:t>
                      </a:r>
                    </a:p>
                    <a:p>
                      <a:r>
                        <a:rPr lang="en-US" sz="1400" dirty="0"/>
                        <a:t>Matches any &lt;a&gt; element whose </a:t>
                      </a:r>
                      <a:r>
                        <a:rPr lang="en-US" sz="1400" dirty="0" err="1"/>
                        <a:t>href</a:t>
                      </a:r>
                      <a:r>
                        <a:rPr lang="en-US" sz="1400" dirty="0"/>
                        <a:t> attribute ends with the text “.pdf”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541623" y="1027906"/>
            <a:ext cx="41104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a[target="_blank"]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   background-color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yellow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726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Pseudo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>
                <a:solidFill>
                  <a:schemeClr val="accent1"/>
                </a:solidFill>
              </a:rPr>
              <a:t>pseudo-element selector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is a way to select something that does not exist explicitly as an element in the HTML document tree but which is still a recognizable selectable object. </a:t>
            </a:r>
          </a:p>
          <a:p>
            <a:pPr algn="just"/>
            <a:r>
              <a:rPr lang="en-US" dirty="0"/>
              <a:t>A </a:t>
            </a:r>
            <a:r>
              <a:rPr lang="en-US" b="1" dirty="0">
                <a:solidFill>
                  <a:schemeClr val="accent1"/>
                </a:solidFill>
              </a:rPr>
              <a:t>pseudo-class selector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does apply to an HTML element, but targets either a particular state or, in CSS3, a variety of family relationships.</a:t>
            </a:r>
          </a:p>
          <a:p>
            <a:pPr algn="just"/>
            <a:r>
              <a:rPr lang="en-US" dirty="0"/>
              <a:t>The most common use of this type of selectors is for targeting link states.</a:t>
            </a:r>
          </a:p>
        </p:txBody>
      </p:sp>
    </p:spTree>
    <p:extLst>
      <p:ext uri="{BB962C8B-B14F-4D97-AF65-F5344CB8AC3E}">
        <p14:creationId xmlns:p14="http://schemas.microsoft.com/office/powerpoint/2010/main" val="866709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BB62-7879-8748-9284-4E2A62E91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Pseudo-element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6657" y="3068194"/>
            <a:ext cx="5376746" cy="18237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p::first-letter { </a:t>
            </a:r>
          </a:p>
          <a:p>
            <a:pPr marL="0" indent="0">
              <a:buNone/>
            </a:pPr>
            <a:r>
              <a:rPr lang="en-US" sz="2000" dirty="0"/>
              <a:t>    font-size: 200%;</a:t>
            </a:r>
          </a:p>
          <a:p>
            <a:pPr marL="0" indent="0">
              <a:buNone/>
            </a:pPr>
            <a:r>
              <a:rPr lang="en-US" sz="2000" dirty="0"/>
              <a:t>    color: #8A2BE2;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099358"/>
              </p:ext>
            </p:extLst>
          </p:nvPr>
        </p:nvGraphicFramePr>
        <p:xfrm>
          <a:off x="5642515" y="1871866"/>
          <a:ext cx="6023518" cy="528320"/>
        </p:xfrm>
        <a:graphic>
          <a:graphicData uri="http://schemas.openxmlformats.org/drawingml/2006/table">
            <a:tbl>
              <a:tblPr/>
              <a:tblGrid>
                <a:gridCol w="1318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7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u="sng" dirty="0">
                          <a:effectLst/>
                          <a:latin typeface="Verdana" charset="0"/>
                          <a:hlinkClick r:id="rId3"/>
                        </a:rPr>
                        <a:t>:nth-child(</a:t>
                      </a:r>
                      <a:r>
                        <a:rPr lang="en-US" sz="1400" i="1" u="sng" dirty="0">
                          <a:effectLst/>
                          <a:latin typeface="Verdana" charset="0"/>
                          <a:hlinkClick r:id="rId3"/>
                        </a:rPr>
                        <a:t>n</a:t>
                      </a:r>
                      <a:r>
                        <a:rPr lang="en-US" sz="1400" u="sng" dirty="0">
                          <a:effectLst/>
                          <a:latin typeface="Verdana" charset="0"/>
                          <a:hlinkClick r:id="rId3"/>
                        </a:rPr>
                        <a:t>)</a:t>
                      </a:r>
                      <a:endParaRPr lang="en-US" sz="1400" dirty="0">
                        <a:effectLst/>
                        <a:latin typeface="Verdana" charset="0"/>
                      </a:endParaRPr>
                    </a:p>
                  </a:txBody>
                  <a:tcPr marL="1016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>
                          <a:effectLst/>
                          <a:latin typeface="Verdana" charset="0"/>
                        </a:rPr>
                        <a:t>p:nth-child</a:t>
                      </a:r>
                      <a:r>
                        <a:rPr lang="en-US" sz="1400" dirty="0">
                          <a:effectLst/>
                          <a:latin typeface="Verdana" charset="0"/>
                        </a:rPr>
                        <a:t>(2)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effectLst/>
                          <a:latin typeface="Verdana" charset="0"/>
                        </a:rPr>
                        <a:t>Selects every &lt;p&gt; element that is the second child of its parent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141896"/>
              </p:ext>
            </p:extLst>
          </p:nvPr>
        </p:nvGraphicFramePr>
        <p:xfrm>
          <a:off x="5642515" y="2536731"/>
          <a:ext cx="6023517" cy="528320"/>
        </p:xfrm>
        <a:graphic>
          <a:graphicData uri="http://schemas.openxmlformats.org/drawingml/2006/table">
            <a:tbl>
              <a:tblPr/>
              <a:tblGrid>
                <a:gridCol w="131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7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u="sng" dirty="0">
                          <a:effectLst/>
                          <a:latin typeface="Verdana" charset="0"/>
                          <a:hlinkClick r:id="rId4"/>
                        </a:rPr>
                        <a:t>:last-child</a:t>
                      </a:r>
                      <a:endParaRPr lang="en-US" sz="1400" dirty="0">
                        <a:effectLst/>
                        <a:latin typeface="Verdana" charset="0"/>
                      </a:endParaRPr>
                    </a:p>
                  </a:txBody>
                  <a:tcPr marL="1016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>
                          <a:effectLst/>
                          <a:latin typeface="Verdana" charset="0"/>
                        </a:rPr>
                        <a:t>p:last-child</a:t>
                      </a:r>
                      <a:endParaRPr lang="en-US" sz="1400" dirty="0">
                        <a:effectLst/>
                        <a:latin typeface="Verdana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effectLst/>
                          <a:latin typeface="Verdana" charset="0"/>
                        </a:rPr>
                        <a:t>Selects every &lt;p&gt; element that is the last child of its parent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308427"/>
              </p:ext>
            </p:extLst>
          </p:nvPr>
        </p:nvGraphicFramePr>
        <p:xfrm>
          <a:off x="5642515" y="3201596"/>
          <a:ext cx="6023517" cy="528320"/>
        </p:xfrm>
        <a:graphic>
          <a:graphicData uri="http://schemas.openxmlformats.org/drawingml/2006/table">
            <a:tbl>
              <a:tblPr/>
              <a:tblGrid>
                <a:gridCol w="1318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7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1400" u="sng" dirty="0">
                          <a:effectLst/>
                          <a:latin typeface="Verdana" charset="0"/>
                          <a:hlinkClick r:id="rId5"/>
                        </a:rPr>
                        <a:t>:first-line</a:t>
                      </a:r>
                      <a:endParaRPr lang="en-US" sz="1400" dirty="0">
                        <a:effectLst/>
                        <a:latin typeface="Verdana" charset="0"/>
                      </a:endParaRPr>
                    </a:p>
                  </a:txBody>
                  <a:tcPr marL="1016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 err="1">
                          <a:effectLst/>
                          <a:latin typeface="Verdana" charset="0"/>
                        </a:rPr>
                        <a:t>p:first-line</a:t>
                      </a:r>
                      <a:endParaRPr lang="en-US" sz="1400" dirty="0">
                        <a:effectLst/>
                        <a:latin typeface="Verdana" charset="0"/>
                      </a:endParaRP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>
                          <a:effectLst/>
                          <a:latin typeface="Verdana" charset="0"/>
                        </a:rPr>
                        <a:t>Selects the first line of every &lt;p&gt; element</a:t>
                      </a:r>
                    </a:p>
                  </a:txBody>
                  <a:tcPr marL="50800" marR="50800" marT="50800" marB="508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B9243B68-6795-7B40-AEEB-ADAAD004AEDF}"/>
              </a:ext>
            </a:extLst>
          </p:cNvPr>
          <p:cNvSpPr txBox="1">
            <a:spLocks/>
          </p:cNvSpPr>
          <p:nvPr/>
        </p:nvSpPr>
        <p:spPr>
          <a:xfrm>
            <a:off x="838200" y="-724986"/>
            <a:ext cx="8199120" cy="597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36377E-9ACB-A344-AC9B-41C229355A35}"/>
              </a:ext>
            </a:extLst>
          </p:cNvPr>
          <p:cNvSpPr/>
          <p:nvPr/>
        </p:nvSpPr>
        <p:spPr>
          <a:xfrm>
            <a:off x="1006657" y="193852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>
                <a:solidFill>
                  <a:srgbClr val="A52A2A"/>
                </a:solidFill>
                <a:latin typeface="Consolas" panose="020B0609020204030204" pitchFamily="49" charset="0"/>
              </a:rPr>
              <a:t>selector</a:t>
            </a:r>
            <a:r>
              <a:rPr lang="en-CA" dirty="0">
                <a:solidFill>
                  <a:srgbClr val="A52A2A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::</a:t>
            </a:r>
            <a:r>
              <a:rPr lang="en-CA" dirty="0">
                <a:solidFill>
                  <a:srgbClr val="A52A2A"/>
                </a:solidFill>
                <a:latin typeface="Consolas" panose="020B0609020204030204" pitchFamily="49" charset="0"/>
              </a:rPr>
              <a:t>pseudo-element </a:t>
            </a:r>
            <a:r>
              <a:rPr lang="en-CA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CA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</a:rPr>
              <a:t>   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</a:rPr>
              <a:t>property</a:t>
            </a:r>
            <a:r>
              <a:rPr lang="en-CA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CA" dirty="0" err="1">
                <a:solidFill>
                  <a:srgbClr val="0000CD"/>
                </a:solidFill>
                <a:latin typeface="Consolas" panose="020B0609020204030204" pitchFamily="49" charset="0"/>
              </a:rPr>
              <a:t>value</a:t>
            </a:r>
            <a:r>
              <a:rPr lang="en-CA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CA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CA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A7F751-2890-8246-9194-041C91182044}"/>
              </a:ext>
            </a:extLst>
          </p:cNvPr>
          <p:cNvSpPr/>
          <p:nvPr/>
        </p:nvSpPr>
        <p:spPr>
          <a:xfrm>
            <a:off x="1419921" y="5229105"/>
            <a:ext cx="1053418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  <a:latin typeface="Verdana" panose="020B0604030504040204" pitchFamily="34" charset="0"/>
              </a:rPr>
              <a:t>The double colon replaced the single-colon notation for pseudo-elements in CSS3. This was an attempt from W3C to distinguish </a:t>
            </a:r>
            <a:r>
              <a:rPr lang="en-CA" sz="1600">
                <a:solidFill>
                  <a:srgbClr val="000000"/>
                </a:solidFill>
                <a:latin typeface="Verdana" panose="020B0604030504040204" pitchFamily="34" charset="0"/>
              </a:rPr>
              <a:t>between </a:t>
            </a:r>
            <a:r>
              <a:rPr lang="en-CA" sz="1600" b="1">
                <a:solidFill>
                  <a:srgbClr val="000000"/>
                </a:solidFill>
                <a:latin typeface="Verdana" panose="020B0604030504040204" pitchFamily="34" charset="0"/>
              </a:rPr>
              <a:t> pseudo-element</a:t>
            </a:r>
            <a:r>
              <a:rPr lang="en-CA" sz="1600">
                <a:solidFill>
                  <a:srgbClr val="000000"/>
                </a:solidFill>
                <a:latin typeface="Verdana" panose="020B0604030504040204" pitchFamily="34" charset="0"/>
              </a:rPr>
              <a:t> and </a:t>
            </a:r>
            <a:r>
              <a:rPr lang="en-CA" sz="1600" b="1">
                <a:solidFill>
                  <a:srgbClr val="000000"/>
                </a:solidFill>
                <a:latin typeface="Verdana" panose="020B0604030504040204" pitchFamily="34" charset="0"/>
              </a:rPr>
              <a:t>pseudo-class</a:t>
            </a:r>
            <a:r>
              <a:rPr lang="en-CA" sz="160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CA" sz="16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rgbClr val="000000"/>
                </a:solidFill>
                <a:latin typeface="Verdana" panose="020B0604030504040204" pitchFamily="34" charset="0"/>
              </a:rPr>
              <a:t>The single-colon syntax was used for both pseudo-classes and pseudo-elements in CSS2 and CSS1.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014267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Pseudo-class Selectors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43907" y="1690688"/>
            <a:ext cx="730065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/* unvisited link */</a:t>
            </a:r>
            <a:br>
              <a:rPr lang="en-US" sz="1400" dirty="0"/>
            </a:br>
            <a:r>
              <a:rPr lang="en-US" sz="1400" dirty="0">
                <a:latin typeface="Consolas" panose="020B0609020204030204" pitchFamily="49" charset="0"/>
              </a:rPr>
              <a:t>a:link {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    color: #FF0000;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}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latin typeface="Consolas" panose="020B0609020204030204" pitchFamily="49" charset="0"/>
              </a:rPr>
              <a:t>/* visited link */</a:t>
            </a:r>
            <a:br>
              <a:rPr lang="en-US" sz="1400" dirty="0"/>
            </a:br>
            <a:r>
              <a:rPr lang="en-US" sz="1400" dirty="0">
                <a:latin typeface="Consolas" panose="020B0609020204030204" pitchFamily="49" charset="0"/>
              </a:rPr>
              <a:t>a:visited {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    color: #00FF00;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}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latin typeface="Consolas" panose="020B0609020204030204" pitchFamily="49" charset="0"/>
              </a:rPr>
              <a:t>/* mouse over link */</a:t>
            </a:r>
            <a:br>
              <a:rPr lang="en-US" sz="1400" dirty="0"/>
            </a:br>
            <a:r>
              <a:rPr lang="en-US" sz="1400" dirty="0">
                <a:latin typeface="Consolas" panose="020B0609020204030204" pitchFamily="49" charset="0"/>
              </a:rPr>
              <a:t>a:hover {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    color: #FF00FF;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}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>
                <a:latin typeface="Consolas" panose="020B0609020204030204" pitchFamily="49" charset="0"/>
              </a:rPr>
              <a:t>/* selected link */</a:t>
            </a:r>
            <a:br>
              <a:rPr lang="en-US" sz="1400" dirty="0"/>
            </a:br>
            <a:r>
              <a:rPr lang="en-US" sz="1400" dirty="0">
                <a:latin typeface="Consolas" panose="020B0609020204030204" pitchFamily="49" charset="0"/>
              </a:rPr>
              <a:t>a:active {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    color: #0000FF;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}</a:t>
            </a:r>
            <a:endParaRPr lang="en-US" sz="1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1DD8B4-56DE-0E44-AF05-2AEF45C00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4D4182-8D44-C643-B100-D2DB7FD63257}"/>
              </a:ext>
            </a:extLst>
          </p:cNvPr>
          <p:cNvSpPr/>
          <p:nvPr/>
        </p:nvSpPr>
        <p:spPr>
          <a:xfrm>
            <a:off x="838200" y="182562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dirty="0" err="1">
                <a:solidFill>
                  <a:srgbClr val="A52A2A"/>
                </a:solidFill>
                <a:latin typeface="Consolas" panose="020B0609020204030204" pitchFamily="49" charset="0"/>
              </a:rPr>
              <a:t>selector</a:t>
            </a:r>
            <a:r>
              <a:rPr lang="en-CA" dirty="0" err="1">
                <a:solidFill>
                  <a:srgbClr val="A52A2A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en-CA" dirty="0" err="1">
                <a:solidFill>
                  <a:srgbClr val="A52A2A"/>
                </a:solidFill>
                <a:latin typeface="Consolas" panose="020B0609020204030204" pitchFamily="49" charset="0"/>
              </a:rPr>
              <a:t>pseudo-class</a:t>
            </a:r>
            <a:r>
              <a:rPr lang="en-CA" dirty="0">
                <a:solidFill>
                  <a:srgbClr val="A52A2A"/>
                </a:solidFill>
                <a:latin typeface="Consolas" panose="020B0609020204030204" pitchFamily="49" charset="0"/>
              </a:rPr>
              <a:t> </a:t>
            </a:r>
            <a:r>
              <a:rPr lang="en-CA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CA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</a:rPr>
              <a:t>   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</a:rPr>
              <a:t>property</a:t>
            </a:r>
            <a:r>
              <a:rPr lang="en-CA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CA" dirty="0" err="1">
                <a:solidFill>
                  <a:srgbClr val="0000CD"/>
                </a:solidFill>
                <a:latin typeface="Consolas" panose="020B0609020204030204" pitchFamily="49" charset="0"/>
              </a:rPr>
              <a:t>value</a:t>
            </a:r>
            <a:r>
              <a:rPr lang="en-CA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CA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CA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2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Contextual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>
                <a:solidFill>
                  <a:schemeClr val="accent1"/>
                </a:solidFill>
              </a:rPr>
              <a:t>contextual selector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(in CSS3 also called </a:t>
            </a:r>
            <a:r>
              <a:rPr lang="en-US" b="1" dirty="0" err="1">
                <a:solidFill>
                  <a:schemeClr val="accent1"/>
                </a:solidFill>
              </a:rPr>
              <a:t>combinators</a:t>
            </a:r>
            <a:r>
              <a:rPr lang="en-US" dirty="0"/>
              <a:t>) allows you to select elements based on their ancestors, descendants, or siblings. </a:t>
            </a:r>
          </a:p>
          <a:p>
            <a:pPr algn="just"/>
            <a:r>
              <a:rPr lang="en-US" dirty="0"/>
              <a:t>That is, it selects elements based on their context or their relation to other elements in the document tree. </a:t>
            </a:r>
          </a:p>
        </p:txBody>
      </p:sp>
    </p:spTree>
    <p:extLst>
      <p:ext uri="{BB962C8B-B14F-4D97-AF65-F5344CB8AC3E}">
        <p14:creationId xmlns:p14="http://schemas.microsoft.com/office/powerpoint/2010/main" val="1879175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Descendant Selector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>
                <a:solidFill>
                  <a:schemeClr val="accent1"/>
                </a:solidFill>
              </a:rPr>
              <a:t>descendant selector </a:t>
            </a:r>
            <a:r>
              <a:rPr lang="en-US" dirty="0"/>
              <a:t>matches all elements that are contained within another element. The character used to indicate descendant selection is the space character.</a:t>
            </a:r>
          </a:p>
        </p:txBody>
      </p:sp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1878279" y="3194154"/>
          <a:ext cx="8892642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Visio" r:id="rId3" imgW="4341847" imgH="1451043" progId="Visio.Drawing.11">
                  <p:embed/>
                </p:oleObj>
              </mc:Choice>
              <mc:Fallback>
                <p:oleObj name="Visio" r:id="rId3" imgW="4341847" imgH="1451043" progId="Visio.Drawing.11">
                  <p:embed/>
                  <p:pic>
                    <p:nvPicPr>
                      <p:cNvPr id="552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279" y="3194154"/>
                        <a:ext cx="8892642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12397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550087"/>
              </p:ext>
            </p:extLst>
          </p:nvPr>
        </p:nvGraphicFramePr>
        <p:xfrm>
          <a:off x="1554480" y="289560"/>
          <a:ext cx="10424161" cy="584375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703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3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r>
                        <a:rPr lang="en-US" sz="1800" dirty="0"/>
                        <a:t>                     Selector</a:t>
                      </a:r>
                      <a:endParaRPr lang="en-US" sz="18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r>
                        <a:rPr lang="en-US" sz="1800" dirty="0"/>
                        <a:t>                                                                                    Matches</a:t>
                      </a:r>
                      <a:endParaRPr lang="en-US" sz="18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1400"/>
                        </a:spcAft>
                      </a:pPr>
                      <a:r>
                        <a:rPr lang="en-US" sz="1800" dirty="0"/>
                        <a:t>                                                                         Example</a:t>
                      </a:r>
                      <a:endParaRPr lang="en-US" sz="1800" dirty="0">
                        <a:solidFill>
                          <a:srgbClr val="1F497D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5517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         Descendant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                                                                                             A specified element that is contained somewhere within another specified element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800" dirty="0"/>
                        <a:t>                                                                              div p</a:t>
                      </a:r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Selects a &lt;p&gt; element that is contained somewhere within a &lt;div&gt; element. That is, the &lt;p&gt; can be any descendant, not just a child.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8621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                      Child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                                                                                                A specified element that is a direct child of the specified element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800" dirty="0"/>
                        <a:t>                                                                        div&gt;h2</a:t>
                      </a:r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Selects an &lt;h2&gt; element that is a child of a &lt;div&gt; element.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3793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              Adjacent Sibling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                                                                                             A specified element that is the next sibling (i.e., comes directly after) of the specified element.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800" dirty="0"/>
                        <a:t>                                                                               h3+p</a:t>
                      </a:r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Selects the first &lt;p&gt; after any &lt;h3&gt;.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8621"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800" dirty="0"/>
                      </a:br>
                      <a:r>
                        <a:rPr lang="en-US" sz="1800" dirty="0"/>
                        <a:t>General Sibling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800" dirty="0"/>
                      </a:br>
                      <a:r>
                        <a:rPr lang="en-US" sz="1800" dirty="0"/>
                        <a:t>A specified element that shares the same parent as the specified element.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br>
                        <a:rPr lang="en-US" sz="1800" dirty="0"/>
                      </a:br>
                      <a:r>
                        <a:rPr lang="en-US" sz="1800" dirty="0"/>
                        <a:t>h3~p</a:t>
                      </a:r>
                    </a:p>
                    <a:p>
                      <a:pPr marL="0" marR="0">
                        <a:lnSpc>
                          <a:spcPts val="15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800" dirty="0"/>
                        <a:t>Selects all the &lt;p&gt; elements that share the same parent as the &lt;h3&gt;.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696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346960" y="758952"/>
            <a:ext cx="7543800" cy="3203448"/>
          </a:xfrm>
        </p:spPr>
        <p:txBody>
          <a:bodyPr>
            <a:normAutofit/>
          </a:bodyPr>
          <a:lstStyle/>
          <a:p>
            <a:r>
              <a:rPr lang="en-US" b="1" dirty="0"/>
              <a:t>The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Cascade</a:t>
            </a:r>
            <a:r>
              <a:rPr lang="en-US" b="1" dirty="0"/>
              <a:t>: </a:t>
            </a:r>
            <a:br>
              <a:rPr lang="en-US" b="1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b="1" dirty="0"/>
              <a:t>how styles interact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51F968-45F6-6A44-A468-2D19D6B2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6D3AE-9A6B-4724-B938-46259D069CC8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56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Conflict 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Because there are three different types of style sheets (author-created, user-defined, and the default browser style sheet), </a:t>
            </a:r>
          </a:p>
          <a:p>
            <a:pPr marL="225425" indent="-225425" algn="just">
              <a:buFont typeface="Arial" pitchFamily="34" charset="0"/>
              <a:buChar char="•"/>
            </a:pPr>
            <a:r>
              <a:rPr lang="en-US" dirty="0"/>
              <a:t>Author-created stylesheets can define multiple rules for the same HTML element, </a:t>
            </a:r>
          </a:p>
          <a:p>
            <a:pPr algn="just"/>
            <a:r>
              <a:rPr lang="en-US" dirty="0"/>
              <a:t>CSS has a system to help the browser determine how to display elements when different style rules conflict. </a:t>
            </a:r>
          </a:p>
        </p:txBody>
      </p:sp>
    </p:spTree>
    <p:extLst>
      <p:ext uri="{BB962C8B-B14F-4D97-AF65-F5344CB8AC3E}">
        <p14:creationId xmlns:p14="http://schemas.microsoft.com/office/powerpoint/2010/main" val="604445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uses the following cascade principles to help it deal with conflicts: </a:t>
            </a:r>
          </a:p>
          <a:p>
            <a:pPr marL="682625" lvl="1" indent="-225425"/>
            <a:r>
              <a:rPr lang="en-US" b="1" dirty="0">
                <a:solidFill>
                  <a:schemeClr val="accent1"/>
                </a:solidFill>
              </a:rPr>
              <a:t>inheritance, </a:t>
            </a:r>
          </a:p>
          <a:p>
            <a:pPr marL="682625" lvl="1" indent="-225425"/>
            <a:r>
              <a:rPr lang="en-US" b="1" dirty="0">
                <a:solidFill>
                  <a:schemeClr val="accent1"/>
                </a:solidFill>
              </a:rPr>
              <a:t>specificity, </a:t>
            </a:r>
          </a:p>
          <a:p>
            <a:pPr marL="682625" lvl="1" indent="-225425"/>
            <a:r>
              <a:rPr lang="en-US" b="1" dirty="0">
                <a:solidFill>
                  <a:schemeClr val="accent1"/>
                </a:solidFill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35331691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(but not all) CSS properties affect not only themselves but their descendants as well. </a:t>
            </a:r>
          </a:p>
          <a:p>
            <a:r>
              <a:rPr lang="en-US" dirty="0"/>
              <a:t>Font, color, list, and text properties are inheritable.</a:t>
            </a:r>
          </a:p>
          <a:p>
            <a:r>
              <a:rPr lang="en-US" dirty="0"/>
              <a:t>Layout, sizing, border, background and spacing properties are not.</a:t>
            </a:r>
          </a:p>
        </p:txBody>
      </p:sp>
    </p:spTree>
    <p:extLst>
      <p:ext uri="{BB962C8B-B14F-4D97-AF65-F5344CB8AC3E}">
        <p14:creationId xmlns:p14="http://schemas.microsoft.com/office/powerpoint/2010/main" val="12042174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</a:t>
            </a:r>
          </a:p>
        </p:txBody>
      </p:sp>
      <p:graphicFrame>
        <p:nvGraphicFramePr>
          <p:cNvPr id="614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918947"/>
              </p:ext>
            </p:extLst>
          </p:nvPr>
        </p:nvGraphicFramePr>
        <p:xfrm>
          <a:off x="3596640" y="243840"/>
          <a:ext cx="8396310" cy="5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Visio" r:id="rId4" imgW="6791412" imgH="3706238" progId="Visio.Drawing.11">
                  <p:embed/>
                </p:oleObj>
              </mc:Choice>
              <mc:Fallback>
                <p:oleObj name="Visio" r:id="rId4" imgW="6791412" imgH="3706238" progId="Visio.Drawing.11">
                  <p:embed/>
                  <p:pic>
                    <p:nvPicPr>
                      <p:cNvPr id="614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640" y="243840"/>
                        <a:ext cx="8396310" cy="5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F1399CD-E22D-7E40-B625-BBBA87C6A24B}"/>
              </a:ext>
            </a:extLst>
          </p:cNvPr>
          <p:cNvSpPr/>
          <p:nvPr/>
        </p:nvSpPr>
        <p:spPr>
          <a:xfrm>
            <a:off x="1524000" y="5935037"/>
            <a:ext cx="102717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is possible to tell elements to inherit properties that are normally not inheritable.</a:t>
            </a:r>
          </a:p>
        </p:txBody>
      </p:sp>
    </p:spTree>
    <p:extLst>
      <p:ext uri="{BB962C8B-B14F-4D97-AF65-F5344CB8AC3E}">
        <p14:creationId xmlns:p14="http://schemas.microsoft.com/office/powerpoint/2010/main" val="7943972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507" y="159958"/>
            <a:ext cx="2316480" cy="1325563"/>
          </a:xfrm>
        </p:spPr>
        <p:txBody>
          <a:bodyPr>
            <a:normAutofit/>
          </a:bodyPr>
          <a:lstStyle/>
          <a:p>
            <a:r>
              <a:rPr lang="en-CA" sz="4000" dirty="0"/>
              <a:t>Properties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526984"/>
              </p:ext>
            </p:extLst>
          </p:nvPr>
        </p:nvGraphicFramePr>
        <p:xfrm>
          <a:off x="3266505" y="159958"/>
          <a:ext cx="8703823" cy="6099279"/>
        </p:xfrm>
        <a:graphic>
          <a:graphicData uri="http://schemas.openxmlformats.org/drawingml/2006/table">
            <a:tbl>
              <a:tblPr firstRow="1" firstCol="1">
                <a:solidFill>
                  <a:srgbClr val="FF7C80"/>
                </a:solidFill>
                <a:tableStyleId>{00A15C55-8517-42AA-B614-E9B94910E393}</a:tableStyleId>
              </a:tblPr>
              <a:tblGrid>
                <a:gridCol w="2212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047">
                  <a:extLst>
                    <a:ext uri="{9D8B030D-6E8A-4147-A177-3AD203B41FA5}">
                      <a16:colId xmlns:a16="http://schemas.microsoft.com/office/drawing/2014/main" val="3947521346"/>
                    </a:ext>
                  </a:extLst>
                </a:gridCol>
                <a:gridCol w="2588821">
                  <a:extLst>
                    <a:ext uri="{9D8B030D-6E8A-4147-A177-3AD203B41FA5}">
                      <a16:colId xmlns:a16="http://schemas.microsoft.com/office/drawing/2014/main" val="324893071"/>
                    </a:ext>
                  </a:extLst>
                </a:gridCol>
              </a:tblGrid>
              <a:tr h="390307"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1400"/>
                        </a:spcAft>
                      </a:pPr>
                      <a:br>
                        <a:rPr lang="en-US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Property Type</a:t>
                      </a:r>
                      <a:endParaRPr lang="en-CA" sz="1600" b="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1400"/>
                        </a:spcAft>
                      </a:pPr>
                      <a:br>
                        <a:rPr lang="en-US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Property</a:t>
                      </a:r>
                      <a:endParaRPr lang="en-CA" sz="1600" b="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1400"/>
                        </a:spcAft>
                      </a:pPr>
                      <a:br>
                        <a:rPr lang="en-US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Property Type</a:t>
                      </a:r>
                      <a:endParaRPr lang="en-CA" sz="1600" b="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1400"/>
                        </a:spcAft>
                      </a:pPr>
                      <a:br>
                        <a:rPr lang="en-US" sz="16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Property</a:t>
                      </a:r>
                      <a:endParaRPr lang="en-CA" sz="1600" b="0" dirty="0">
                        <a:solidFill>
                          <a:schemeClr val="tx1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8879"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endParaRPr lang="en-US" sz="1600" dirty="0"/>
                    </a:p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Fonts</a:t>
                      </a:r>
                      <a:endParaRPr lang="en-C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endParaRPr lang="en-US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font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font-family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font-size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font-style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font-weight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font-face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endParaRPr lang="en-CA" sz="1600" dirty="0">
                        <a:latin typeface="Consolas"/>
                        <a:ea typeface="Times New Roman"/>
                        <a:cs typeface="Times New Roman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600" dirty="0"/>
                      </a:b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Layout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231" marR="5023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bottom, left, right, top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clear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display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float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overflow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position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visibility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z-index</a:t>
                      </a:r>
                      <a:endParaRPr lang="en-CA" sz="1600" dirty="0">
                        <a:latin typeface="Consolas"/>
                        <a:ea typeface="Times New Roman"/>
                        <a:cs typeface="Times New Roman"/>
                      </a:endParaRPr>
                    </a:p>
                  </a:txBody>
                  <a:tcPr marL="50231" marR="5023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5522"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endParaRPr lang="en-US" sz="1600" dirty="0"/>
                    </a:p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endParaRPr lang="en-US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letter-spacing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line-height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text-align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text-decoration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text-indent</a:t>
                      </a:r>
                      <a:endParaRPr lang="en-CA" sz="1600" dirty="0">
                        <a:latin typeface="Consolas"/>
                        <a:ea typeface="Times New Roman"/>
                        <a:cs typeface="Times New Roman"/>
                      </a:endParaRPr>
                    </a:p>
                  </a:txBody>
                  <a:tcPr marL="50777" marR="5077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600" dirty="0"/>
                      </a:b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Lists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231" marR="5023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list-style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list-style-image</a:t>
                      </a:r>
                      <a:endParaRPr lang="en-C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list-style-type</a:t>
                      </a:r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list-style-position</a:t>
                      </a:r>
                      <a:endParaRPr lang="en-CA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231" marR="5023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1812"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r>
                        <a:rPr lang="en-US" sz="1600" dirty="0"/>
                        <a:t>                                                     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Borders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958" marR="5495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border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border-color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border-width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border-style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border-top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border-top-color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border-top-width</a:t>
                      </a:r>
                      <a:endParaRPr lang="en-CA" sz="1600" dirty="0"/>
                    </a:p>
                  </a:txBody>
                  <a:tcPr marL="54958" marR="5495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600" dirty="0"/>
                      </a:b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Spacing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186" marR="471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padding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padding-bottom, padding-left, padding-right, padding-top 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margin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margin-bottom, margin-left, margin-right, margin-top</a:t>
                      </a:r>
                      <a:endParaRPr lang="en-CA" sz="1600" dirty="0">
                        <a:latin typeface="Consolas"/>
                        <a:ea typeface="Times New Roman"/>
                        <a:cs typeface="Times New Roman"/>
                      </a:endParaRPr>
                    </a:p>
                  </a:txBody>
                  <a:tcPr marL="47186" marR="471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803519"/>
                  </a:ext>
                </a:extLst>
              </a:tr>
              <a:tr h="1481812"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600" dirty="0"/>
                      </a:b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r>
                        <a:rPr lang="en-US" sz="1600" dirty="0"/>
                        <a:t>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en-US" sz="1600" dirty="0"/>
                        <a:t> 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background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4958" marR="5495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background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background-color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background-image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background-position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background-repeat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color</a:t>
                      </a:r>
                      <a:endParaRPr lang="en-CA" sz="1600" dirty="0">
                        <a:latin typeface="Consolas"/>
                        <a:ea typeface="Times New Roman"/>
                        <a:cs typeface="Times New Roman"/>
                      </a:endParaRPr>
                    </a:p>
                  </a:txBody>
                  <a:tcPr marL="54958" marR="5495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00"/>
                        </a:lnSpc>
                        <a:spcBef>
                          <a:spcPts val="700"/>
                        </a:spcBef>
                        <a:spcAft>
                          <a:spcPts val="700"/>
                        </a:spcAft>
                      </a:pPr>
                      <a:br>
                        <a:rPr lang="en-US" sz="1600" dirty="0"/>
                      </a:b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Sizing</a:t>
                      </a:r>
                      <a:endParaRPr lang="en-CA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186" marR="471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br>
                        <a:rPr lang="en-US" sz="1600" dirty="0"/>
                      </a:br>
                      <a:r>
                        <a:rPr lang="en-US" sz="1600" dirty="0"/>
                        <a:t>height,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max-height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max-width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min-height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min-width</a:t>
                      </a:r>
                      <a:endParaRPr lang="en-CA" sz="1600" dirty="0"/>
                    </a:p>
                    <a:p>
                      <a:pPr>
                        <a:lnSpc>
                          <a:spcPts val="1500"/>
                        </a:lnSpc>
                        <a:spcAft>
                          <a:spcPts val="0"/>
                        </a:spcAft>
                        <a:tabLst>
                          <a:tab pos="342900" algn="l"/>
                          <a:tab pos="685800" algn="l"/>
                          <a:tab pos="1028700" algn="l"/>
                          <a:tab pos="1371600" algn="l"/>
                          <a:tab pos="1714500" algn="l"/>
                        </a:tabLst>
                      </a:pPr>
                      <a:r>
                        <a:rPr lang="en-US" sz="1600" dirty="0"/>
                        <a:t>width</a:t>
                      </a:r>
                      <a:endParaRPr lang="en-CA" sz="1600" dirty="0">
                        <a:latin typeface="Consolas"/>
                        <a:ea typeface="Times New Roman"/>
                        <a:cs typeface="Times New Roman"/>
                      </a:endParaRPr>
                    </a:p>
                  </a:txBody>
                  <a:tcPr marL="47186" marR="4718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695530"/>
                  </a:ext>
                </a:extLst>
              </a:tr>
            </a:tbl>
          </a:graphicData>
        </a:graphic>
      </p:graphicFrame>
      <p:sp>
        <p:nvSpPr>
          <p:cNvPr id="4" name="Content Placeholder 2"/>
          <p:cNvSpPr txBox="1">
            <a:spLocks/>
          </p:cNvSpPr>
          <p:nvPr/>
        </p:nvSpPr>
        <p:spPr>
          <a:xfrm>
            <a:off x="483972" y="1702057"/>
            <a:ext cx="2782533" cy="1329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B050"/>
                </a:solidFill>
              </a:rPr>
              <a:t>Inheritable</a:t>
            </a:r>
          </a:p>
          <a:p>
            <a:r>
              <a:rPr lang="en-US" b="1" dirty="0">
                <a:solidFill>
                  <a:srgbClr val="FF9999"/>
                </a:solidFill>
              </a:rPr>
              <a:t>Not inheritable</a:t>
            </a:r>
          </a:p>
        </p:txBody>
      </p:sp>
    </p:spTree>
    <p:extLst>
      <p:ext uri="{BB962C8B-B14F-4D97-AF65-F5344CB8AC3E}">
        <p14:creationId xmlns:p14="http://schemas.microsoft.com/office/powerpoint/2010/main" val="12131768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1"/>
                </a:solidFill>
              </a:rPr>
              <a:t>Specificity</a:t>
            </a:r>
            <a:r>
              <a:rPr lang="en-US" dirty="0"/>
              <a:t> is how the browser determines which style rule takes precedence when more than one style rule could be applied to the same element. </a:t>
            </a:r>
          </a:p>
          <a:p>
            <a:pPr algn="just"/>
            <a:r>
              <a:rPr lang="en-US" dirty="0"/>
              <a:t>The more </a:t>
            </a:r>
            <a:r>
              <a:rPr lang="en-US" i="1" dirty="0"/>
              <a:t>specific</a:t>
            </a:r>
            <a:r>
              <a:rPr lang="en-US" dirty="0"/>
              <a:t> the selector, the more it takes precedence (i.e., overrides the previous definition).</a:t>
            </a:r>
          </a:p>
          <a:p>
            <a:pPr algn="just"/>
            <a:r>
              <a:rPr lang="en-US" dirty="0"/>
              <a:t>The way that specificity works in the browser is that the browser assigns a weight to each style rule.</a:t>
            </a:r>
          </a:p>
          <a:p>
            <a:pPr algn="just"/>
            <a:r>
              <a:rPr lang="en-US" dirty="0"/>
              <a:t>When several rules apply, the one with the greatest weight takes precedence.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310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Specificity</a:t>
            </a:r>
          </a:p>
        </p:txBody>
      </p:sp>
      <p:graphicFrame>
        <p:nvGraphicFramePr>
          <p:cNvPr id="64514" name="Object 2"/>
          <p:cNvGraphicFramePr>
            <a:graphicFrameLocks noChangeAspect="1"/>
          </p:cNvGraphicFramePr>
          <p:nvPr/>
        </p:nvGraphicFramePr>
        <p:xfrm>
          <a:off x="4572000" y="1313765"/>
          <a:ext cx="7462728" cy="5008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Visio" r:id="rId3" imgW="6216569" imgH="4172355" progId="Visio.Drawing.11">
                  <p:embed/>
                </p:oleObj>
              </mc:Choice>
              <mc:Fallback>
                <p:oleObj name="Visio" r:id="rId3" imgW="6216569" imgH="4172355" progId="Visio.Drawing.11">
                  <p:embed/>
                  <p:pic>
                    <p:nvPicPr>
                      <p:cNvPr id="645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313765"/>
                        <a:ext cx="7462728" cy="50081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838200" y="1313765"/>
            <a:ext cx="3315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These color and font-weight properties are inheritable, thus potentially applicable to all child elements contained within the body.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83467" y="1546085"/>
            <a:ext cx="3048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30494" y="2147277"/>
            <a:ext cx="3315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However, because the &lt;div&gt; and &lt;p&gt; elements also have the same properties set, they </a:t>
            </a:r>
            <a:r>
              <a:rPr lang="en-US" sz="1200" i="1" dirty="0"/>
              <a:t>override</a:t>
            </a:r>
            <a:r>
              <a:rPr lang="en-US" sz="1200" dirty="0"/>
              <a:t> the value defined for the &lt;body&gt; element because their selectors (div and p) are </a:t>
            </a:r>
            <a:r>
              <a:rPr lang="en-US" sz="1200" dirty="0">
                <a:solidFill>
                  <a:schemeClr val="accent1"/>
                </a:solidFill>
              </a:rPr>
              <a:t>more specific</a:t>
            </a:r>
            <a:r>
              <a:rPr lang="en-US" sz="1200" dirty="0"/>
              <a:t>.</a:t>
            </a:r>
          </a:p>
        </p:txBody>
      </p:sp>
      <p:sp>
        <p:nvSpPr>
          <p:cNvPr id="13" name="Right Arrow 12"/>
          <p:cNvSpPr/>
          <p:nvPr/>
        </p:nvSpPr>
        <p:spPr>
          <a:xfrm rot="19679767">
            <a:off x="4224489" y="2231886"/>
            <a:ext cx="304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 rot="1752178">
            <a:off x="4225076" y="2807872"/>
            <a:ext cx="304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38200" y="3359386"/>
            <a:ext cx="327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Class selectors </a:t>
            </a:r>
            <a:r>
              <a:rPr lang="en-US" sz="1200" dirty="0"/>
              <a:t>are </a:t>
            </a:r>
            <a:r>
              <a:rPr lang="en-US" sz="1200" dirty="0">
                <a:solidFill>
                  <a:schemeClr val="accent1"/>
                </a:solidFill>
              </a:rPr>
              <a:t>more specific </a:t>
            </a:r>
            <a:r>
              <a:rPr lang="en-US" sz="1200" dirty="0"/>
              <a:t>than element selectors, and thus take precedence and override element selectors.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267200" y="3519225"/>
            <a:ext cx="304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30494" y="4572001"/>
            <a:ext cx="34367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Id selectors </a:t>
            </a:r>
            <a:r>
              <a:rPr lang="en-US" sz="1200" dirty="0"/>
              <a:t>are </a:t>
            </a:r>
            <a:r>
              <a:rPr lang="en-US" sz="1200" dirty="0">
                <a:solidFill>
                  <a:schemeClr val="accent1"/>
                </a:solidFill>
              </a:rPr>
              <a:t>more specific </a:t>
            </a:r>
            <a:r>
              <a:rPr lang="en-US" sz="1200" dirty="0"/>
              <a:t>than class selectors, and thus take precedence and override class selectors.</a:t>
            </a:r>
          </a:p>
        </p:txBody>
      </p:sp>
      <p:sp>
        <p:nvSpPr>
          <p:cNvPr id="18" name="Right Arrow 17"/>
          <p:cNvSpPr/>
          <p:nvPr/>
        </p:nvSpPr>
        <p:spPr>
          <a:xfrm rot="19679767">
            <a:off x="4284422" y="4198013"/>
            <a:ext cx="304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641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Specificity Algorithm</a:t>
            </a:r>
          </a:p>
        </p:txBody>
      </p:sp>
      <p:graphicFrame>
        <p:nvGraphicFramePr>
          <p:cNvPr id="655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727069"/>
              </p:ext>
            </p:extLst>
          </p:nvPr>
        </p:nvGraphicFramePr>
        <p:xfrm>
          <a:off x="5532302" y="151765"/>
          <a:ext cx="5821498" cy="6203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Visio" r:id="rId3" imgW="5687919" imgH="6061143" progId="Visio.Drawing.11">
                  <p:embed/>
                </p:oleObj>
              </mc:Choice>
              <mc:Fallback>
                <p:oleObj name="Visio" r:id="rId3" imgW="5687919" imgH="6061143" progId="Visio.Drawing.11">
                  <p:embed/>
                  <p:pic>
                    <p:nvPicPr>
                      <p:cNvPr id="655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302" y="151765"/>
                        <a:ext cx="5821498" cy="6203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45167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When inheritance and specificity cannot determine style precedence, the principle of  </a:t>
            </a:r>
            <a:r>
              <a:rPr lang="en-US" b="1" dirty="0">
                <a:solidFill>
                  <a:schemeClr val="accent1"/>
                </a:solidFill>
              </a:rPr>
              <a:t>location</a:t>
            </a:r>
            <a:r>
              <a:rPr lang="en-US" dirty="0"/>
              <a:t> will be used.</a:t>
            </a:r>
          </a:p>
          <a:p>
            <a:pPr algn="just"/>
            <a:r>
              <a:rPr lang="en-US" dirty="0"/>
              <a:t>The principle of location is that when rules have the same specificity, then the latest are given more weight.</a:t>
            </a:r>
          </a:p>
        </p:txBody>
      </p:sp>
    </p:spTree>
    <p:extLst>
      <p:ext uri="{BB962C8B-B14F-4D97-AF65-F5344CB8AC3E}">
        <p14:creationId xmlns:p14="http://schemas.microsoft.com/office/powerpoint/2010/main" val="18128572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</a:t>
            </a:r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3344382"/>
              </p:ext>
            </p:extLst>
          </p:nvPr>
        </p:nvGraphicFramePr>
        <p:xfrm>
          <a:off x="3886200" y="0"/>
          <a:ext cx="7467600" cy="6447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Visio" r:id="rId3" imgW="5698995" imgH="4787900" progId="Visio.Drawing.11">
                  <p:embed/>
                </p:oleObj>
              </mc:Choice>
              <mc:Fallback>
                <p:oleObj name="Visio" r:id="rId3" imgW="5698995" imgH="4787900" progId="Visio.Drawing.11">
                  <p:embed/>
                  <p:pic>
                    <p:nvPicPr>
                      <p:cNvPr id="665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0"/>
                        <a:ext cx="7467600" cy="6447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162800" y="5627285"/>
            <a:ext cx="42671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you guess what will be the color of </a:t>
            </a:r>
            <a:r>
              <a:rPr lang="en-US"/>
              <a:t>the </a:t>
            </a:r>
            <a:br>
              <a:rPr lang="en-US"/>
            </a:br>
            <a:r>
              <a:rPr lang="en-US"/>
              <a:t>sample </a:t>
            </a:r>
            <a:r>
              <a:rPr lang="en-US" dirty="0"/>
              <a:t>text ?</a:t>
            </a:r>
          </a:p>
          <a:p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 rot="13482828">
            <a:off x="6428169" y="5698778"/>
            <a:ext cx="304800" cy="2469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0528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one exception to the principle of location. </a:t>
            </a:r>
          </a:p>
          <a:p>
            <a:r>
              <a:rPr lang="en-US" dirty="0"/>
              <a:t>If a property is marked with </a:t>
            </a:r>
            <a:r>
              <a:rPr lang="en-US" dirty="0">
                <a:solidFill>
                  <a:schemeClr val="accent1"/>
                </a:solidFill>
              </a:rPr>
              <a:t>!important </a:t>
            </a:r>
            <a:r>
              <a:rPr lang="en-US" dirty="0"/>
              <a:t>in an author-created style rule, then it will override any other author-created style regardless of its location. </a:t>
            </a:r>
          </a:p>
          <a:p>
            <a:r>
              <a:rPr lang="en-US" dirty="0"/>
              <a:t>The only exception is a style marked with !important in an user style sheet; such a rule will override all others. </a:t>
            </a:r>
          </a:p>
        </p:txBody>
      </p:sp>
    </p:spTree>
    <p:extLst>
      <p:ext uri="{BB962C8B-B14F-4D97-AF65-F5344CB8AC3E}">
        <p14:creationId xmlns:p14="http://schemas.microsoft.com/office/powerpoint/2010/main" val="26268060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C640F1-8E22-4A47-BA23-21253AA89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363" y="309006"/>
            <a:ext cx="6548437" cy="327421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9D4D011-EA26-3F41-B93D-63422CD0516C}"/>
              </a:ext>
            </a:extLst>
          </p:cNvPr>
          <p:cNvSpPr txBox="1">
            <a:spLocks/>
          </p:cNvSpPr>
          <p:nvPr/>
        </p:nvSpPr>
        <p:spPr>
          <a:xfrm>
            <a:off x="3464656" y="3583225"/>
            <a:ext cx="4967844" cy="19526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C00000"/>
                </a:solidFill>
              </a:rPr>
              <a:t>Any Question?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04D0F-C849-BA45-AC7C-713B118D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9C409-AEBC-AC4B-B24C-458B6F1C7CF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4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2851</Words>
  <Application>Microsoft Office PowerPoint</Application>
  <PresentationFormat>Widescreen</PresentationFormat>
  <Paragraphs>464</Paragraphs>
  <Slides>46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Calibri Light</vt:lpstr>
      <vt:lpstr>Consolas</vt:lpstr>
      <vt:lpstr>Verdana</vt:lpstr>
      <vt:lpstr>Office Theme</vt:lpstr>
      <vt:lpstr>Visio</vt:lpstr>
      <vt:lpstr>Introduction to CSS</vt:lpstr>
      <vt:lpstr>Objectives</vt:lpstr>
      <vt:lpstr>What is CSS?</vt:lpstr>
      <vt:lpstr>Benefits of CSS</vt:lpstr>
      <vt:lpstr>CSS Syntax</vt:lpstr>
      <vt:lpstr>Values</vt:lpstr>
      <vt:lpstr>Units of Measurement</vt:lpstr>
      <vt:lpstr>Relative Units</vt:lpstr>
      <vt:lpstr>Color Values</vt:lpstr>
      <vt:lpstr>Color Values</vt:lpstr>
      <vt:lpstr>Comments in CSS</vt:lpstr>
      <vt:lpstr>Style Locations</vt:lpstr>
      <vt:lpstr>Inline Styles</vt:lpstr>
      <vt:lpstr>Embedded Style Sheet</vt:lpstr>
      <vt:lpstr>External Style Sheet</vt:lpstr>
      <vt:lpstr>CSS Selectors</vt:lpstr>
      <vt:lpstr>Selectors</vt:lpstr>
      <vt:lpstr>Selectors</vt:lpstr>
      <vt:lpstr>Properties</vt:lpstr>
      <vt:lpstr>Properties</vt:lpstr>
      <vt:lpstr>Element Selectors</vt:lpstr>
      <vt:lpstr>Grouped Selectors</vt:lpstr>
      <vt:lpstr>Id Selectors</vt:lpstr>
      <vt:lpstr>Class Selectors</vt:lpstr>
      <vt:lpstr>Id versus Class Selectors</vt:lpstr>
      <vt:lpstr>Attribute Selectors</vt:lpstr>
      <vt:lpstr>Attribute Selectors</vt:lpstr>
      <vt:lpstr>Pseudo Selectors</vt:lpstr>
      <vt:lpstr>Pseudo-element Selectors</vt:lpstr>
      <vt:lpstr>Pseudo-class Selectors</vt:lpstr>
      <vt:lpstr>Contextual Selectors</vt:lpstr>
      <vt:lpstr>Descendant Selector</vt:lpstr>
      <vt:lpstr>PowerPoint Presentation</vt:lpstr>
      <vt:lpstr>The Cascade:  how styles interact</vt:lpstr>
      <vt:lpstr>Why Conflict Happens</vt:lpstr>
      <vt:lpstr>Cascade Principles</vt:lpstr>
      <vt:lpstr>Inheritance</vt:lpstr>
      <vt:lpstr>Inheritance</vt:lpstr>
      <vt:lpstr>Properties</vt:lpstr>
      <vt:lpstr>Specificity</vt:lpstr>
      <vt:lpstr>Specificity</vt:lpstr>
      <vt:lpstr>Specificity Algorithm</vt:lpstr>
      <vt:lpstr>Location</vt:lpstr>
      <vt:lpstr>Location</vt:lpstr>
      <vt:lpstr>Location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Yasaman Amannejad</dc:creator>
  <cp:lastModifiedBy>Jim Davis</cp:lastModifiedBy>
  <cp:revision>79</cp:revision>
  <dcterms:created xsi:type="dcterms:W3CDTF">2018-06-11T03:49:54Z</dcterms:created>
  <dcterms:modified xsi:type="dcterms:W3CDTF">2026-01-26T18:20:52Z</dcterms:modified>
</cp:coreProperties>
</file>