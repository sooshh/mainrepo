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89" r:id="rId3"/>
    <p:sldId id="257" r:id="rId4"/>
    <p:sldId id="260" r:id="rId5"/>
    <p:sldId id="258" r:id="rId6"/>
    <p:sldId id="259" r:id="rId7"/>
    <p:sldId id="261" r:id="rId8"/>
    <p:sldId id="262" r:id="rId9"/>
    <p:sldId id="265" r:id="rId10"/>
    <p:sldId id="267" r:id="rId11"/>
    <p:sldId id="266" r:id="rId12"/>
    <p:sldId id="273" r:id="rId13"/>
    <p:sldId id="274" r:id="rId14"/>
    <p:sldId id="275" r:id="rId15"/>
    <p:sldId id="276" r:id="rId16"/>
    <p:sldId id="287" r:id="rId17"/>
    <p:sldId id="271" r:id="rId18"/>
    <p:sldId id="294" r:id="rId19"/>
    <p:sldId id="277" r:id="rId20"/>
    <p:sldId id="296" r:id="rId21"/>
    <p:sldId id="288" r:id="rId22"/>
    <p:sldId id="295" r:id="rId23"/>
    <p:sldId id="278" r:id="rId24"/>
    <p:sldId id="279" r:id="rId25"/>
    <p:sldId id="282" r:id="rId26"/>
    <p:sldId id="284" r:id="rId27"/>
    <p:sldId id="285" r:id="rId28"/>
    <p:sldId id="286" r:id="rId29"/>
    <p:sldId id="293" r:id="rId30"/>
    <p:sldId id="283" r:id="rId31"/>
    <p:sldId id="269" r:id="rId32"/>
    <p:sldId id="263" r:id="rId33"/>
    <p:sldId id="264" r:id="rId34"/>
    <p:sldId id="280" r:id="rId35"/>
    <p:sldId id="290" r:id="rId36"/>
    <p:sldId id="291" r:id="rId37"/>
    <p:sldId id="281" r:id="rId38"/>
    <p:sldId id="292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0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16" autoAdjust="0"/>
  </p:normalViewPr>
  <p:slideViewPr>
    <p:cSldViewPr snapToGrid="0">
      <p:cViewPr varScale="1">
        <p:scale>
          <a:sx n="106" d="100"/>
          <a:sy n="106" d="100"/>
        </p:scale>
        <p:origin x="10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6A93D-BF80-4C53-8395-73990440C0A8}" type="datetimeFigureOut">
              <a:rPr lang="en-US" smtClean="0"/>
              <a:t>20-Mar-23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3F4FA6-0A56-4436-BEBA-2AA52EA8D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8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&lt;meta charset="UTF-8"&gt;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&lt;meta http-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equiv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="X-UA-Compatible" content="IE=edge"&gt;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&lt;meta name="viewport" content="width=device-width, initial-scale=1.0"&gt;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&lt;link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="https://cdn.jsdelivr.net/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/bootstrap@5.3.0-alpha1/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/bootstrap.min.css"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="stylesheet"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integrity="sha384-GLhlTQ8iRABdZLl6O3oVMWSktQOp6b7In1Zl3/Jr59b6EGGoI1aFkw7cmDA6j6gD"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crossorigin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="anonymous"&gt;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&lt;title&gt;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BootStrap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Demos&lt;/title&gt;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&lt;h1&gt;Containers&lt;/h1&gt;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&lt;div class="container"&gt;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&lt;h2&gt;.container class&lt;/h2&gt;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&lt;p&gt;This part is inside a &lt;code&gt;.container&lt;/code&gt; class.&lt;/p&gt;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&lt;p&gt;The .container class provides a responsive fixed width container.&lt;/p&gt;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&lt;p&gt;Resize the browser window to see that the container width will change at different breakpoints.&lt;/p&gt;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&lt;/div&gt;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&lt;div class="container-fluid"&gt;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&lt;h2&gt;.container-fluid class&lt;/h2&gt;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&lt;p&gt;This part is inside a &lt;code&gt;.container-fluid&lt;/code&gt; class.&lt;/p&gt;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&lt;p&gt;The .container-fluid class provides a full width container, spanning the entire width of the viewport.&lt;/p&gt; 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&lt;/div&gt;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&lt;script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="https://cdn.jsdelivr.net/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/bootstrap@5.3.0-alpha1/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/bootstrap.bundle.min.js"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integrity="sha384-w76AqPfDkMBDXo30jS1Sgez6pr3x5MlQ1ZAGC+nuZB+EYdgRZgiwxhTBTkF7CXvN"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crossorigin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="anonymous"&gt;&lt;/script&gt;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F4FA6-0A56-4436-BEBA-2AA52EA8D5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76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F4FA6-0A56-4436-BEBA-2AA52EA8D50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95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1139E-8862-4496-856C-EF370BA94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F86566-969A-4D39-B7B1-F15CB783C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5C7A2-D933-4651-999C-80009ACA6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52E47-9EE5-49C8-A137-385A4E2BA84C}" type="datetimeFigureOut">
              <a:rPr lang="en-US" smtClean="0"/>
              <a:t>20-Mar-23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B0B7-A2E1-4D63-83EF-5AFCF01F2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2461E-7297-4F38-BFD6-589A84949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42D0-4A14-4499-98ED-3962648AD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79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F3689-EA05-46BB-94A4-98CFDAE15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BBC52-0C2F-4AFF-BBA2-C067FEB78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F0300-6775-4110-A0AE-49CA7E628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52E47-9EE5-49C8-A137-385A4E2BA84C}" type="datetimeFigureOut">
              <a:rPr lang="en-US" smtClean="0"/>
              <a:t>20-Mar-23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0802A-06DA-4BE9-8096-BEE8BEBDB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15EE6-D253-4360-B913-0010C93E0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42D0-4A14-4499-98ED-3962648AD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63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57143-77C0-4889-AAA6-6C88B84D7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5507C-6AD0-4B44-95B6-FFD1D725B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245E7-1953-478D-A216-B5E6C4CF9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52E47-9EE5-49C8-A137-385A4E2BA84C}" type="datetimeFigureOut">
              <a:rPr lang="en-US" smtClean="0"/>
              <a:t>20-Mar-23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CCA15-D83E-4EBB-AA1C-1C111EED3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85FC4-B1A2-4056-845D-E17BCDB00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42D0-4A14-4499-98ED-3962648AD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84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91ECB-8713-4C5C-AB46-8482CE1E0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6CAEA-FC92-4463-92D6-39327A5F9B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C8AC0E-FA09-4C1B-AFAF-1AE68CA5C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4CF979-82CF-4520-ABCD-324336C83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52E47-9EE5-49C8-A137-385A4E2BA84C}" type="datetimeFigureOut">
              <a:rPr lang="en-US" smtClean="0"/>
              <a:t>20-Mar-23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2F262-A86B-47EF-A067-D8E11E63D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28C9A-4CF6-4DEF-941B-0CCFCD6F8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42D0-4A14-4499-98ED-3962648AD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984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28AF5-545F-46A1-A263-7E8CF2C7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5D19D-7B9D-4319-8C82-854688B89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CA2FAB-E0A9-4665-9D21-C86CB13D9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CDBB62-682B-4537-B219-9C97EF13CA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EB3448-B63C-4159-BE7E-9DECF82F52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5B80AE-8CEB-43DB-9953-AE8056E3F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52E47-9EE5-49C8-A137-385A4E2BA84C}" type="datetimeFigureOut">
              <a:rPr lang="en-US" smtClean="0"/>
              <a:t>20-Mar-23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FF8575-29AD-4DE3-BB48-A5DA781D6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B0DD0E-7657-4A3B-868B-719A08953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42D0-4A14-4499-98ED-3962648AD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436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4B6D9-C641-4B6D-9702-742509BF3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46591B-BC5D-49FB-8C06-C4A2E7BB1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52E47-9EE5-49C8-A137-385A4E2BA84C}" type="datetimeFigureOut">
              <a:rPr lang="en-US" smtClean="0"/>
              <a:t>20-Mar-23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4EF146-EB50-4860-A41B-7BD7ED2C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3F2ABC-C270-48B7-BFFE-137795AC9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42D0-4A14-4499-98ED-3962648AD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77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C71276-BE07-4E64-815A-1EDAC8C03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52E47-9EE5-49C8-A137-385A4E2BA84C}" type="datetimeFigureOut">
              <a:rPr lang="en-US" smtClean="0"/>
              <a:t>20-Mar-23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37B922-410C-4A53-86F5-46F0E282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175BC-5A41-47FF-A72F-794B588C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42D0-4A14-4499-98ED-3962648AD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2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18F2A-B581-4447-B209-9D27FE66C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5FA1F-3A6D-49E8-88B0-2BA96B0CC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292370-2A24-456F-8B94-A2C9765F1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08818-659F-4A3B-9D20-FE50C7EB7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52E47-9EE5-49C8-A137-385A4E2BA84C}" type="datetimeFigureOut">
              <a:rPr lang="en-US" smtClean="0"/>
              <a:t>20-Mar-23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5F9C77-6630-4C43-84F2-0650AF242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141AF-0FB6-4A47-B79F-1CBE9F09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42D0-4A14-4499-98ED-3962648AD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44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7BF2B-4435-4D42-BC4A-88435AC3E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C6AAF8-D1A4-4B46-93EA-108FAFFF4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FAD3F-FA81-470B-9664-39C1D1303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EED9B-8F21-42AD-89CD-F5026D355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52E47-9EE5-49C8-A137-385A4E2BA84C}" type="datetimeFigureOut">
              <a:rPr lang="en-US" smtClean="0"/>
              <a:t>20-Mar-23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81C54-2798-4FD5-8876-AD582FDCC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641AC-DE62-4C30-8CCA-02329F982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42D0-4A14-4499-98ED-3962648AD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96DD4-01A2-49E9-88AA-2DDC4403B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ACE43-DE6B-4DB6-8B94-CDB85E8FA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57B96-3C56-4676-93B6-FEC9CAACB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52E47-9EE5-49C8-A137-385A4E2BA84C}" type="datetimeFigureOut">
              <a:rPr lang="en-US" smtClean="0"/>
              <a:t>20-Mar-23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CD0D4-27AC-4CAF-8878-F4B94AF78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41B1A-47A1-4B55-A02D-B2026BF55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42D0-4A14-4499-98ED-3962648AD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05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D7AA04-8EB6-49DB-952B-2B84A16B19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6B92D-0479-40BF-BE80-85A825F93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C8DE6-9407-4092-87CF-68729D8E5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52E47-9EE5-49C8-A137-385A4E2BA84C}" type="datetimeFigureOut">
              <a:rPr lang="en-US" smtClean="0"/>
              <a:t>20-Mar-23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234A1-D916-47ED-9B97-581944D20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AB029-1CB4-4A17-9BF9-8B5599292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C42D0-4A14-4499-98ED-3962648AD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1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A3C0BD-282E-48A1-AB91-38CBDEA03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B7844-D4AA-491C-9E50-1348902DC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92397-C6B7-4DA3-9E34-F571993B7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52E47-9EE5-49C8-A137-385A4E2BA84C}" type="datetimeFigureOut">
              <a:rPr lang="en-US" smtClean="0"/>
              <a:t>20-Mar-23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D8BB3-26C9-44F7-BA14-242B3A04CC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B2BA7-60F4-4AE9-8E31-8E1D7E7188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C42D0-4A14-4499-98ED-3962648AD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37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3.0/" TargetMode="External"/><Relationship Id="rId2" Type="http://schemas.openxmlformats.org/officeDocument/2006/relationships/hyperlink" Target="https://www.w3schools.com/about/about_copyright.asp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etbootstrap.com/docs/5.3/getting-started/download/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etbootstrap.com/" TargetMode="Externa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bootstrap5/tryit.asp?filename=trybs_txt_bgcolors&amp;stacked=h" TargetMode="External"/><Relationship Id="rId2" Type="http://schemas.openxmlformats.org/officeDocument/2006/relationships/hyperlink" Target="https://www.w3schools.com/bootstrap5/tryit.asp?filename=trybs_txt_colors&amp;stacked=h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hyperlink" Target="https://www.w3schools.com/bootstrap5/tryit.asp?filename=trybs_txt_bgcolors2&amp;stacked=h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etbootstrap.com/docs/5.3/customize/color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bootstrap5/tryit.asp?filename=trybs_grid_stacked_to_hor2&amp;stacked=h" TargetMode="External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bootstrap5/tryit.asp?filename=trybs_grid_large2&amp;stacked=h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bootstrap5/bootstrap_grid_examples.php" TargetMode="Externa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2A305-939D-4994-B712-1DA0ACB02C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Bootstrap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E1479-91DB-45F5-B347-A88D4D2648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Overview, tutorial and examples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4E1DE2-E5AC-490A-B344-841BE0979920}"/>
              </a:ext>
            </a:extLst>
          </p:cNvPr>
          <p:cNvSpPr txBox="1"/>
          <p:nvPr/>
        </p:nvSpPr>
        <p:spPr>
          <a:xfrm>
            <a:off x="523875" y="5486400"/>
            <a:ext cx="10839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Developed 2023 by PJ Perri - Mount Royal University</a:t>
            </a:r>
          </a:p>
          <a:p>
            <a:r>
              <a:rPr lang="en-CA" dirty="0"/>
              <a:t>Based on copyright materials from: W3Schools (</a:t>
            </a:r>
            <a:r>
              <a:rPr lang="en-CA" dirty="0">
                <a:hlinkClick r:id="rId2"/>
              </a:rPr>
              <a:t>Terms of service</a:t>
            </a:r>
            <a:r>
              <a:rPr lang="en-CA" dirty="0"/>
              <a:t>) and Bootstrap (</a:t>
            </a:r>
            <a:r>
              <a:rPr lang="en-CA" dirty="0">
                <a:hlinkClick r:id="rId3"/>
              </a:rPr>
              <a:t>CC by 3.0</a:t>
            </a:r>
            <a:r>
              <a:rPr lang="en-CA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08588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EE20C-457A-461C-929E-4A300E964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covered in this presentation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CE598-99AB-4181-BC74-7E7B87070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CA" dirty="0"/>
              <a:t>What is Bootstrap</a:t>
            </a:r>
          </a:p>
          <a:p>
            <a:r>
              <a:rPr lang="en-CA" dirty="0"/>
              <a:t>How to access it and set up your own Bootstrap web page</a:t>
            </a:r>
          </a:p>
          <a:p>
            <a:r>
              <a:rPr lang="en-CA" dirty="0"/>
              <a:t>Basic containers</a:t>
            </a:r>
            <a:endParaRPr lang="en-US" dirty="0"/>
          </a:p>
          <a:p>
            <a:r>
              <a:rPr lang="en-CA" dirty="0"/>
              <a:t>Responsive containers</a:t>
            </a:r>
          </a:p>
          <a:p>
            <a:r>
              <a:rPr lang="en-CA" dirty="0"/>
              <a:t>Bootstrap Grid</a:t>
            </a:r>
          </a:p>
          <a:p>
            <a:pPr lvl="1"/>
            <a:r>
              <a:rPr lang="en-CA" dirty="0"/>
              <a:t>rows, column, column-sizes</a:t>
            </a:r>
          </a:p>
          <a:p>
            <a:pPr lvl="1"/>
            <a:r>
              <a:rPr lang="en-CA" dirty="0"/>
              <a:t>Examples</a:t>
            </a:r>
          </a:p>
          <a:p>
            <a:pPr lvl="1"/>
            <a:endParaRPr lang="en-CA" dirty="0"/>
          </a:p>
          <a:p>
            <a:r>
              <a:rPr lang="en-CA" dirty="0"/>
              <a:t>Utility Classes. Predefined:</a:t>
            </a:r>
          </a:p>
          <a:p>
            <a:pPr lvl="1"/>
            <a:r>
              <a:rPr lang="en-CA" dirty="0"/>
              <a:t>Text and background colors</a:t>
            </a:r>
          </a:p>
          <a:p>
            <a:pPr lvl="1"/>
            <a:r>
              <a:rPr lang="en-CA" dirty="0"/>
              <a:t>Sizes</a:t>
            </a:r>
          </a:p>
          <a:p>
            <a:pPr lvl="1"/>
            <a:r>
              <a:rPr lang="en-CA" dirty="0"/>
              <a:t>Borders</a:t>
            </a:r>
          </a:p>
          <a:p>
            <a:pPr lvl="1"/>
            <a:r>
              <a:rPr lang="en-CA" dirty="0"/>
              <a:t>Spacing</a:t>
            </a:r>
          </a:p>
          <a:p>
            <a:pPr lvl="1"/>
            <a:r>
              <a:rPr lang="en-CA" dirty="0"/>
              <a:t>Typography</a:t>
            </a:r>
          </a:p>
          <a:p>
            <a:pPr lvl="2"/>
            <a:r>
              <a:rPr lang="en-CA" dirty="0"/>
              <a:t>Headings and Text</a:t>
            </a:r>
          </a:p>
          <a:p>
            <a:pPr lvl="2"/>
            <a:r>
              <a:rPr lang="en-CA" dirty="0"/>
              <a:t>Tables</a:t>
            </a:r>
          </a:p>
          <a:p>
            <a:pPr lvl="1"/>
            <a:r>
              <a:rPr lang="en-CA" dirty="0"/>
              <a:t>Other silly / useful ones</a:t>
            </a:r>
          </a:p>
        </p:txBody>
      </p:sp>
    </p:spTree>
    <p:extLst>
      <p:ext uri="{BB962C8B-B14F-4D97-AF65-F5344CB8AC3E}">
        <p14:creationId xmlns:p14="http://schemas.microsoft.com/office/powerpoint/2010/main" val="2934378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C7BAD-4EC6-4A01-BD73-A0DC01B3B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it?</a:t>
            </a:r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5A0D913-A52D-4AA2-B4B3-748C5557E1A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367F83-A4B4-490B-B7FD-71CB37355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“Powerful, extensible, and feature-packed frontend toolkit” (AKA </a:t>
            </a:r>
            <a:r>
              <a:rPr lang="en-CA" b="1" dirty="0"/>
              <a:t>framework</a:t>
            </a:r>
            <a:r>
              <a:rPr lang="en-CA" dirty="0"/>
              <a:t>) </a:t>
            </a:r>
            <a:r>
              <a:rPr lang="en-CA" b="1" dirty="0"/>
              <a:t>.</a:t>
            </a:r>
            <a:endParaRPr lang="en-CA" dirty="0"/>
          </a:p>
          <a:p>
            <a:endParaRPr lang="en-CA" dirty="0"/>
          </a:p>
          <a:p>
            <a:r>
              <a:rPr lang="en-CA" dirty="0"/>
              <a:t>Provides very well supported, customizable, prebuilt, responsive (mobile-first):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Grid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Components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CA" dirty="0"/>
              <a:t>Fonts, colors, tables, images, buttons, badges, spinners, cards, dropdowns, </a:t>
            </a:r>
            <a:r>
              <a:rPr lang="en-CA" dirty="0" err="1"/>
              <a:t>navs</a:t>
            </a:r>
            <a:r>
              <a:rPr lang="en-CA" dirty="0"/>
              <a:t>, tooltips,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Sass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JavaScript plugins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r>
              <a:rPr lang="en-CA" dirty="0"/>
              <a:t>Free, open-source, originally developed at Twitter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19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95AE72-BA7D-45AA-A068-B2B3F0C67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Other frontend web frameworks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71D00F-F592-4B58-A32C-646CB5834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Client-side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BAEFE-40A6-40F5-BBCF-F22F2E657F5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A" dirty="0"/>
              <a:t>Google Web Toolkit</a:t>
            </a:r>
          </a:p>
          <a:p>
            <a:r>
              <a:rPr lang="en-CA" dirty="0"/>
              <a:t>jQuery &amp; j </a:t>
            </a:r>
            <a:r>
              <a:rPr lang="en-CA" dirty="0" err="1"/>
              <a:t>QWidgets</a:t>
            </a:r>
            <a:endParaRPr lang="en-CA" dirty="0"/>
          </a:p>
          <a:p>
            <a:r>
              <a:rPr lang="en-CA" dirty="0"/>
              <a:t>W3.CSS</a:t>
            </a:r>
          </a:p>
          <a:p>
            <a:r>
              <a:rPr lang="en-CA" dirty="0"/>
              <a:t>WordPress</a:t>
            </a:r>
          </a:p>
          <a:p>
            <a:r>
              <a:rPr lang="en-CA" dirty="0"/>
              <a:t>Joomla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C4AF647-915A-441C-8D64-27F7122145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CA" dirty="0"/>
              <a:t>Server-side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AE8E0B2-E339-4D1F-B7BB-6DEE2F0BA8B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CA" dirty="0"/>
              <a:t>ASP.NET</a:t>
            </a:r>
          </a:p>
          <a:p>
            <a:r>
              <a:rPr lang="en-CA" dirty="0"/>
              <a:t>C++ </a:t>
            </a:r>
            <a:r>
              <a:rPr lang="en-CA" dirty="0" err="1"/>
              <a:t>Drogon</a:t>
            </a:r>
            <a:endParaRPr lang="en-CA" dirty="0"/>
          </a:p>
          <a:p>
            <a:r>
              <a:rPr lang="en-CA" dirty="0"/>
              <a:t>ColdFusion Markup Language</a:t>
            </a:r>
          </a:p>
          <a:p>
            <a:r>
              <a:rPr lang="en-CA" dirty="0"/>
              <a:t>Java Apache</a:t>
            </a:r>
          </a:p>
          <a:p>
            <a:r>
              <a:rPr lang="en-CA" dirty="0"/>
              <a:t>PHP</a:t>
            </a:r>
          </a:p>
          <a:p>
            <a:r>
              <a:rPr lang="en-CA" dirty="0"/>
              <a:t>Python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901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285F1F-992B-4474-BD5D-B7D86F7E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Bootstrap 5: the Latest Version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C0695-6D20-4398-B32F-017FE944CB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Supports/supported by the latest stable browsers and platforms</a:t>
            </a:r>
          </a:p>
          <a:p>
            <a:pPr lvl="1"/>
            <a:r>
              <a:rPr lang="en-CA" dirty="0"/>
              <a:t>Bootstrap 3 and 4 are still used and supported but new features will not be added </a:t>
            </a:r>
          </a:p>
          <a:p>
            <a:pPr lvl="2"/>
            <a:r>
              <a:rPr lang="en-CA" dirty="0"/>
              <a:t>Why? They’ve moved to JavaScript instead of jQuery library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5EA5EF8-5ED6-44D7-923B-550CA35DA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895725"/>
            <a:ext cx="10515600" cy="2281238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You will need to either download and host Bootstrap (all its CSS and JS files) yourself, </a:t>
            </a:r>
          </a:p>
          <a:p>
            <a:pPr lvl="1"/>
            <a:r>
              <a:rPr lang="en-US" dirty="0"/>
              <a:t>Currently </a:t>
            </a:r>
            <a:r>
              <a:rPr lang="en-US" b="1" dirty="0"/>
              <a:t>v5.3.0-alpha1</a:t>
            </a:r>
            <a:r>
              <a:rPr lang="en-US" dirty="0"/>
              <a:t> · </a:t>
            </a:r>
            <a:r>
              <a:rPr lang="en-US" u="sng" dirty="0">
                <a:hlinkClick r:id="rId2"/>
              </a:rPr>
              <a:t>Download</a:t>
            </a:r>
            <a:r>
              <a:rPr lang="en-US" dirty="0"/>
              <a:t> and place in your web site</a:t>
            </a:r>
            <a:endParaRPr lang="en-CA" dirty="0"/>
          </a:p>
          <a:p>
            <a:pPr marL="0" indent="0">
              <a:buNone/>
            </a:pPr>
            <a:r>
              <a:rPr lang="en-CA" dirty="0"/>
              <a:t>or </a:t>
            </a:r>
          </a:p>
          <a:p>
            <a:r>
              <a:rPr lang="en-CA" dirty="0"/>
              <a:t>Commonly, include it from </a:t>
            </a:r>
            <a:r>
              <a:rPr lang="en-CA" dirty="0">
                <a:solidFill>
                  <a:schemeClr val="accent2"/>
                </a:solidFill>
              </a:rPr>
              <a:t>a Content Delivery Network (CDN)</a:t>
            </a:r>
          </a:p>
          <a:p>
            <a:pPr lvl="1"/>
            <a:r>
              <a:rPr lang="en-CA" dirty="0"/>
              <a:t>A server to provide the Bootstrap CSS and JavaScript</a:t>
            </a:r>
          </a:p>
        </p:txBody>
      </p:sp>
    </p:spTree>
    <p:extLst>
      <p:ext uri="{BB962C8B-B14F-4D97-AF65-F5344CB8AC3E}">
        <p14:creationId xmlns:p14="http://schemas.microsoft.com/office/powerpoint/2010/main" val="3501557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C4489F-9DEF-4CE3-842D-7AF0389AE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2689625" cy="1465604"/>
          </a:xfrm>
        </p:spPr>
        <p:txBody>
          <a:bodyPr/>
          <a:lstStyle/>
          <a:p>
            <a:pPr algn="r"/>
            <a:r>
              <a:rPr lang="en-CA" dirty="0"/>
              <a:t>Including Bootstrap via CDN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C24119-1B95-40A6-9300-35E660F97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0617" y="457200"/>
            <a:ext cx="7381594" cy="572140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&lt;html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marL="11112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pPr marL="341313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&lt;meta charset="utf-8"&gt;</a:t>
            </a:r>
          </a:p>
          <a:p>
            <a:pPr marL="341313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&lt;meta name="viewport" content="width=device-width, initial-scale=1"&gt;</a:t>
            </a:r>
          </a:p>
          <a:p>
            <a:pPr marL="341313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&lt;title&gt;Bootstrap demo&lt;/title&gt;</a:t>
            </a:r>
          </a:p>
          <a:p>
            <a:pPr marL="341313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1313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&lt;link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="https://cdn.jsdelivr.net/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/bootstrap@5.3.0-alpha1/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/bootstrap.min.css"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="stylesheet" integrity="sha384-GLhlTQ8iRABdZLl6O3oVMWSktQOp6b7In1Zl3/Jr59b6EGGoI1aFkw7cmDA6j6gD"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crossorigin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="anonymous"&gt;</a:t>
            </a:r>
          </a:p>
          <a:p>
            <a:pPr marL="111125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</a:p>
          <a:p>
            <a:pPr marL="111125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</a:p>
          <a:p>
            <a:pPr marL="341313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&lt;h1&gt;Hello, world!&lt;/h1&gt;</a:t>
            </a:r>
          </a:p>
          <a:p>
            <a:pPr marL="341313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&lt;!– the rest of the html--&gt;</a:t>
            </a:r>
          </a:p>
          <a:p>
            <a:pPr marL="341313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1313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&lt;script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="https://cdn.jsdelivr.net/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/bootstrap@5.3.0-alpha1/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/bootstrap.bundle.min.js" integrity="sha384-w76AqPfDkMBDXo30jS1Sgez6pr3x5MlQ1ZAGC+nuZB+EYdgRZgiwxhTBTkF7CXvN"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crossorigin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="anonymous"&gt;&lt;/script&gt;</a:t>
            </a:r>
          </a:p>
          <a:p>
            <a:pPr marL="341313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1125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&lt;/body&gt;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AB8B19-9CED-41C9-AE4F-8BADA2696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2689624" cy="3811588"/>
          </a:xfrm>
        </p:spPr>
        <p:txBody>
          <a:bodyPr>
            <a:normAutofit lnSpcReduction="10000"/>
          </a:bodyPr>
          <a:lstStyle/>
          <a:p>
            <a:r>
              <a:rPr lang="en-CA" sz="1800" b="1" dirty="0"/>
              <a:t>Critical code in </a:t>
            </a:r>
            <a:r>
              <a:rPr lang="en-CA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&lt;head&gt;:</a:t>
            </a:r>
          </a:p>
          <a:p>
            <a:pPr marL="573088" lvl="1" indent="-342900">
              <a:buClr>
                <a:schemeClr val="accent6"/>
              </a:buClr>
              <a:buFont typeface="+mj-lt"/>
              <a:buAutoNum type="arabicPeriod"/>
            </a:pPr>
            <a:r>
              <a:rPr lang="en-CA" b="1" dirty="0">
                <a:solidFill>
                  <a:srgbClr val="FF0000"/>
                </a:solidFill>
                <a:sym typeface="Wingdings" panose="05000000000000000000" pitchFamily="2" charset="2"/>
              </a:rPr>
              <a:t>HTML5 </a:t>
            </a:r>
            <a:r>
              <a:rPr lang="en-CA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doctype</a:t>
            </a:r>
          </a:p>
          <a:p>
            <a:pPr marL="573088" lvl="1" indent="-342900">
              <a:buClr>
                <a:schemeClr val="accent6"/>
              </a:buClr>
              <a:buFont typeface="+mj-lt"/>
              <a:buAutoNum type="arabicPeriod"/>
            </a:pPr>
            <a:r>
              <a:rPr lang="en-CA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lang</a:t>
            </a:r>
            <a:endParaRPr lang="en-CA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marL="573088" lvl="1" indent="-342900">
              <a:buClr>
                <a:schemeClr val="accent6"/>
              </a:buClr>
              <a:buFont typeface="+mj-lt"/>
              <a:buAutoNum type="arabicPeriod"/>
            </a:pPr>
            <a:r>
              <a:rPr lang="en-CA" b="1" dirty="0">
                <a:solidFill>
                  <a:srgbClr val="FF0000"/>
                </a:solidFill>
                <a:sym typeface="Wingdings" panose="05000000000000000000" pitchFamily="2" charset="2"/>
              </a:rPr>
              <a:t>character set</a:t>
            </a:r>
          </a:p>
          <a:p>
            <a:pPr marL="573088" lvl="1" indent="-342900">
              <a:buClr>
                <a:schemeClr val="accent6"/>
              </a:buClr>
              <a:buFont typeface="+mj-lt"/>
              <a:buAutoNum type="arabicPeriod"/>
            </a:pPr>
            <a:r>
              <a:rPr lang="en-CA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meta</a:t>
            </a:r>
            <a:r>
              <a:rPr lang="en-CA" b="1" dirty="0">
                <a:solidFill>
                  <a:srgbClr val="FF0000"/>
                </a:solidFill>
                <a:sym typeface="Wingdings" panose="05000000000000000000" pitchFamily="2" charset="2"/>
              </a:rPr>
              <a:t> viewport</a:t>
            </a:r>
          </a:p>
          <a:p>
            <a:pPr marL="631825" lvl="2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CA" b="1" dirty="0">
                <a:sym typeface="Wingdings" panose="05000000000000000000" pitchFamily="2" charset="2"/>
              </a:rPr>
              <a:t>For proper rendering and touch zooming</a:t>
            </a:r>
          </a:p>
          <a:p>
            <a:pPr marL="573088" lvl="1" indent="-342900">
              <a:buClr>
                <a:schemeClr val="accent6"/>
              </a:buClr>
              <a:buFont typeface="+mj-lt"/>
              <a:buAutoNum type="arabicPeriod"/>
            </a:pPr>
            <a:r>
              <a:rPr lang="en-CA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&lt;link&gt; </a:t>
            </a:r>
            <a:r>
              <a:rPr lang="en-CA" b="1" dirty="0">
                <a:cs typeface="Courier New" panose="02070309020205020404" pitchFamily="49" charset="0"/>
                <a:sym typeface="Wingdings" panose="05000000000000000000" pitchFamily="2" charset="2"/>
              </a:rPr>
              <a:t>to Bootstrap’s “minified” CSS in the head</a:t>
            </a:r>
          </a:p>
          <a:p>
            <a:pPr marL="573088" lvl="1" indent="-342900">
              <a:buClr>
                <a:schemeClr val="accent6"/>
              </a:buClr>
              <a:buFont typeface="+mj-lt"/>
              <a:buAutoNum type="arabicPeriod"/>
            </a:pPr>
            <a:r>
              <a:rPr lang="en-CA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&lt;script&gt; </a:t>
            </a:r>
            <a:r>
              <a:rPr lang="en-CA" b="1" dirty="0">
                <a:cs typeface="Courier New" panose="02070309020205020404" pitchFamily="49" charset="0"/>
                <a:sym typeface="Wingdings" panose="05000000000000000000" pitchFamily="2" charset="2"/>
              </a:rPr>
              <a:t>to a JavaScript bundle just before 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&lt;/body&gt;</a:t>
            </a:r>
          </a:p>
          <a:p>
            <a:pPr marL="573088" lvl="1" indent="-342900">
              <a:buClr>
                <a:schemeClr val="accent6"/>
              </a:buClr>
              <a:buFont typeface="+mj-lt"/>
              <a:buAutoNum type="arabicPeriod"/>
            </a:pPr>
            <a:endParaRPr lang="en-CA" b="1" dirty="0"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>
              <a:buClr>
                <a:schemeClr val="accent6"/>
              </a:buClr>
            </a:pPr>
            <a:r>
              <a:rPr lang="en-CA" b="1" dirty="0">
                <a:cs typeface="Courier New" panose="02070309020205020404" pitchFamily="49" charset="0"/>
                <a:sym typeface="Wingdings" panose="05000000000000000000" pitchFamily="2" charset="2"/>
              </a:rPr>
              <a:t>For latest and complete links, see </a:t>
            </a:r>
            <a:br>
              <a:rPr lang="en-CA" b="1" dirty="0">
                <a:cs typeface="Courier New" panose="02070309020205020404" pitchFamily="49" charset="0"/>
                <a:sym typeface="Wingdings" panose="05000000000000000000" pitchFamily="2" charset="2"/>
              </a:rPr>
            </a:br>
            <a:r>
              <a:rPr lang="en-CA" b="1" dirty="0">
                <a:cs typeface="Courier New" panose="02070309020205020404" pitchFamily="49" charset="0"/>
                <a:sym typeface="Wingdings" panose="05000000000000000000" pitchFamily="2" charset="2"/>
                <a:hlinkClick r:id="rId2"/>
              </a:rPr>
              <a:t>https://getbootstrap.com/</a:t>
            </a:r>
            <a:r>
              <a:rPr lang="en-CA" b="1" dirty="0"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endParaRPr lang="en-US" b="1" dirty="0"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85B9C2-78C2-4210-91DC-E27157A3833B}"/>
              </a:ext>
            </a:extLst>
          </p:cNvPr>
          <p:cNvSpPr txBox="1"/>
          <p:nvPr/>
        </p:nvSpPr>
        <p:spPr>
          <a:xfrm>
            <a:off x="3718516" y="503128"/>
            <a:ext cx="50420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</a:t>
            </a:r>
          </a:p>
          <a:p>
            <a:pPr algn="r"/>
            <a:r>
              <a:rPr lang="en-CA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</a:t>
            </a:r>
          </a:p>
          <a:p>
            <a:pPr algn="r"/>
            <a:endParaRPr lang="en-CA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n-CA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</a:t>
            </a:r>
          </a:p>
          <a:p>
            <a:pPr algn="r"/>
            <a:r>
              <a:rPr lang="en-CA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</a:t>
            </a:r>
          </a:p>
          <a:p>
            <a:pPr algn="r"/>
            <a:endParaRPr lang="en-CA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endParaRPr lang="en-CA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endParaRPr lang="en-CA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n-CA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5.</a:t>
            </a:r>
          </a:p>
          <a:p>
            <a:pPr algn="r"/>
            <a:endParaRPr lang="en-CA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endParaRPr lang="en-CA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endParaRPr lang="en-CA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endParaRPr lang="en-CA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endParaRPr lang="en-CA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endParaRPr lang="en-CA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endParaRPr lang="en-CA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endParaRPr lang="en-CA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endParaRPr lang="en-CA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n-CA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CA" sz="1400" b="1" dirty="0">
                <a:solidFill>
                  <a:schemeClr val="accent6"/>
                </a:solidFill>
              </a:rPr>
              <a:t>.</a:t>
            </a:r>
            <a:endParaRPr lang="en-US" sz="14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25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6A1061-4D9C-4398-B936-CB65B8AB5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Basic Containers: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6B949-2392-4FE9-8CD4-01B811ABF5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.container</a:t>
            </a:r>
          </a:p>
          <a:p>
            <a:pPr lvl="1"/>
            <a:r>
              <a:rPr lang="en-CA" dirty="0">
                <a:cs typeface="Courier New" panose="02070309020205020404" pitchFamily="49" charset="0"/>
              </a:rPr>
              <a:t>Responsive fixed width</a:t>
            </a:r>
          </a:p>
          <a:p>
            <a:endParaRPr lang="en-CA" dirty="0"/>
          </a:p>
          <a:p>
            <a:endParaRPr lang="en-CA" dirty="0"/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.container-fluid</a:t>
            </a:r>
          </a:p>
          <a:p>
            <a:pPr lvl="1"/>
            <a:r>
              <a:rPr lang="en-CA" dirty="0">
                <a:cs typeface="Courier New" panose="02070309020205020404" pitchFamily="49" charset="0"/>
              </a:rPr>
              <a:t>Full viewport width spanning</a:t>
            </a:r>
          </a:p>
          <a:p>
            <a:pPr marL="0" indent="0">
              <a:buNone/>
            </a:pP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CA" b="1" dirty="0">
                <a:solidFill>
                  <a:schemeClr val="accent2"/>
                </a:solidFill>
                <a:cs typeface="Courier New" panose="02070309020205020404" pitchFamily="49" charset="0"/>
              </a:rPr>
              <a:t>! </a:t>
            </a:r>
            <a:r>
              <a:rPr lang="en-US" dirty="0">
                <a:cs typeface="Courier New" panose="02070309020205020404" pitchFamily="49" charset="0"/>
              </a:rPr>
              <a:t>Bootstrap globally sets:</a:t>
            </a:r>
          </a:p>
          <a:p>
            <a:pPr marL="457200" lvl="1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ox-sizing: border-box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E216F8-DBE0-42C7-AD34-E4D968B911F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72200" y="1825624"/>
            <a:ext cx="4846320" cy="20228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524B1B-C11D-46D9-AE59-194FC0E7643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72200" y="3816628"/>
            <a:ext cx="4851875" cy="203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263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B46F5-7372-4659-91AA-FE0E9E02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2B71D-CA4C-4AA8-A4C7-5E6B4AE14B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392802-D8CD-423E-9CEA-4B2B4091869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365125"/>
            <a:ext cx="9043219" cy="60199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4C19C0-2E8F-4110-B836-F13CDF9206A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3919" y="294005"/>
            <a:ext cx="1758237" cy="306324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52850D-238F-4DE6-A14B-A1B75DB0691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7841" y="294005"/>
            <a:ext cx="3494315" cy="502920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A43472-6590-4244-8EBD-8E8AE1D5F01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0465" y="294005"/>
            <a:ext cx="7031691" cy="457200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DB8A06-4F96-4010-BF7D-9B48BF99367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00" y="294005"/>
            <a:ext cx="11647356" cy="457200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0470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0A87B-C623-441B-AD67-AD2ECF08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Bootstrap’s Color 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6E608-C81A-469B-A836-26D335A177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CA" dirty="0"/>
              <a:t>Bootstrap has a bunch of pre-defined color classes that one can use to set text &amp; background colors</a:t>
            </a:r>
          </a:p>
          <a:p>
            <a:pPr lvl="1"/>
            <a:r>
              <a:rPr lang="en-CA" dirty="0"/>
              <a:t>Standardized names for </a:t>
            </a:r>
            <a:r>
              <a:rPr lang="en-CA" dirty="0">
                <a:hlinkClick r:id="rId2"/>
              </a:rPr>
              <a:t>text colors</a:t>
            </a:r>
            <a:endParaRPr lang="en-CA" dirty="0"/>
          </a:p>
          <a:p>
            <a:pPr marL="914400" lvl="2" indent="0">
              <a:lnSpc>
                <a:spcPct val="120000"/>
              </a:lnSpc>
              <a:buNone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.text-muted, .text-primary, .text-success, .text-info, .text-warning, .text-danger, .text-secondary, .text-white, .text-dark, .text-body </a:t>
            </a:r>
            <a:r>
              <a:rPr lang="en-US" sz="1700" dirty="0">
                <a:cs typeface="Courier New" panose="02070309020205020404" pitchFamily="49" charset="0"/>
              </a:rPr>
              <a:t>(default body color/often black) and 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.text-light</a:t>
            </a:r>
            <a:endParaRPr lang="en-CA" sz="1700" dirty="0"/>
          </a:p>
          <a:p>
            <a:pPr lvl="1"/>
            <a:r>
              <a:rPr lang="en-CA" dirty="0"/>
              <a:t>Standardized names for </a:t>
            </a:r>
            <a:r>
              <a:rPr lang="en-CA" dirty="0">
                <a:hlinkClick r:id="rId3"/>
              </a:rPr>
              <a:t>background colors</a:t>
            </a:r>
            <a:endParaRPr lang="en-CA" dirty="0"/>
          </a:p>
          <a:p>
            <a:pPr marL="914400" lvl="2" indent="0">
              <a:lnSpc>
                <a:spcPct val="120000"/>
              </a:lnSpc>
              <a:buNone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-primary, .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-success, .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-info, .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-warning, .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-danger, .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-secondary, .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-dark, &amp; .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-light </a:t>
            </a:r>
          </a:p>
          <a:p>
            <a:pPr lvl="2"/>
            <a:r>
              <a:rPr lang="en-CA" dirty="0">
                <a:cs typeface="Courier New" panose="02070309020205020404" pitchFamily="49" charset="0"/>
              </a:rPr>
              <a:t>Can also add additional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bg.gradient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>
                <a:cs typeface="Courier New" panose="02070309020205020404" pitchFamily="49" charset="0"/>
              </a:rPr>
              <a:t>class</a:t>
            </a:r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CA" dirty="0"/>
          </a:p>
          <a:p>
            <a:pPr marL="457200" lvl="1" indent="0">
              <a:buNone/>
            </a:pPr>
            <a:r>
              <a:rPr lang="en-CA" b="1" dirty="0"/>
              <a:t>Contrast issues solved with </a:t>
            </a:r>
            <a:r>
              <a:rPr lang="en-CA" b="1" dirty="0">
                <a:hlinkClick r:id="rId4"/>
              </a:rPr>
              <a:t>.text-</a:t>
            </a:r>
            <a:r>
              <a:rPr lang="en-CA" b="1" dirty="0" err="1">
                <a:hlinkClick r:id="rId4"/>
              </a:rPr>
              <a:t>bg</a:t>
            </a:r>
            <a:r>
              <a:rPr lang="en-CA" b="1" dirty="0">
                <a:hlinkClick r:id="rId4"/>
              </a:rPr>
              <a:t>-color classes</a:t>
            </a:r>
            <a:endParaRPr lang="en-CA" b="1" dirty="0"/>
          </a:p>
          <a:p>
            <a:pPr marL="914400" lvl="2" indent="0">
              <a:buNone/>
            </a:pPr>
            <a:r>
              <a:rPr lang="en-CA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text-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-primary, .text-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-success, .text-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-info, .text-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-warning, .text-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-danger, .text-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-secondary, .text-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-dark, &amp; .text-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-light</a:t>
            </a:r>
            <a:endParaRPr lang="en-CA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D83E5C6-5E14-4439-8FF5-B780FB4EEC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8319" y="1253331"/>
            <a:ext cx="2551835" cy="43513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24E6544-D53F-43ED-8E00-55CF78FCC2A8}"/>
              </a:ext>
            </a:extLst>
          </p:cNvPr>
          <p:cNvSpPr/>
          <p:nvPr/>
        </p:nvSpPr>
        <p:spPr>
          <a:xfrm>
            <a:off x="1128045" y="4875484"/>
            <a:ext cx="4891755" cy="125623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40FC93-239E-414A-A911-BB2B046F209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47902" y="1187865"/>
            <a:ext cx="2005897" cy="338413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3B18681-7495-45A6-BB66-E86443385B86}"/>
              </a:ext>
            </a:extLst>
          </p:cNvPr>
          <p:cNvSpPr txBox="1"/>
          <p:nvPr/>
        </p:nvSpPr>
        <p:spPr>
          <a:xfrm>
            <a:off x="9714120" y="4506152"/>
            <a:ext cx="1093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Gradients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151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BA19F-4BEF-47C0-8E2B-C17B917D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85293-AEE3-4B2C-93E2-E206E7C41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A02B36-C134-4C21-B16F-8BBCB901EA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3193493"/>
            <a:ext cx="10593224" cy="311840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0DD1D1-53BF-4F53-82A3-3E426A823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76" y="254164"/>
            <a:ext cx="10593224" cy="25276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63E545-B336-450A-9B6D-31A86F059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446" y="1632573"/>
            <a:ext cx="4839793" cy="3381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08EFE2-D128-46A5-A8AA-60863D43F57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82" y="5286674"/>
            <a:ext cx="10593224" cy="91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46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A63C-2523-40E5-A16E-FE743814D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Other Colors V5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E5FFB-A705-4E59-AC7F-2D7D9DC63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Dark and light modes can be applied to any element or the entire page:</a:t>
            </a:r>
            <a:endParaRPr lang="en-CA" dirty="0">
              <a:hlinkClick r:id="rId2"/>
            </a:endParaRPr>
          </a:p>
          <a:p>
            <a:pPr marL="230188" lvl="1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30188" lvl="1" indent="0"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&lt;html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data-bs-theme="dark"&gt;</a:t>
            </a:r>
          </a:p>
          <a:p>
            <a:pPr marL="230188" lvl="1" indent="0"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&lt;html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data-bs-theme="light"&gt;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Simple application: </a:t>
            </a:r>
          </a:p>
          <a:p>
            <a:pPr marL="457200" lvl="1" indent="0">
              <a:buNone/>
            </a:pPr>
            <a:r>
              <a:rPr lang="en-CA" dirty="0"/>
              <a:t>Create two versions of the pages and use link (consistently located on each page) to jump between the two.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3CCCA-7F02-4346-A950-9A86B720191C}"/>
              </a:ext>
            </a:extLst>
          </p:cNvPr>
          <p:cNvSpPr/>
          <p:nvPr/>
        </p:nvSpPr>
        <p:spPr>
          <a:xfrm>
            <a:off x="744686" y="6394939"/>
            <a:ext cx="390683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000" dirty="0">
                <a:hlinkClick r:id="rId2"/>
              </a:rPr>
              <a:t>https://getbootstrap.com/docs/5.3/customize/color/</a:t>
            </a:r>
            <a:r>
              <a:rPr lang="en-CA" sz="1000" dirty="0"/>
              <a:t>  	 </a:t>
            </a:r>
          </a:p>
        </p:txBody>
      </p:sp>
    </p:spTree>
    <p:extLst>
      <p:ext uri="{BB962C8B-B14F-4D97-AF65-F5344CB8AC3E}">
        <p14:creationId xmlns:p14="http://schemas.microsoft.com/office/powerpoint/2010/main" val="3731948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A88F8-D788-4AEF-AA4B-A23937DA7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There are other Bootstrap Utility 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C7AA0-988E-4338-860A-427B7D4D91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CA" dirty="0"/>
              <a:t>Some of these are responsive and depend on breakpoints.</a:t>
            </a:r>
          </a:p>
          <a:p>
            <a:r>
              <a:rPr lang="en-CA" dirty="0"/>
              <a:t>Borders</a:t>
            </a:r>
          </a:p>
          <a:p>
            <a:pPr lvl="1"/>
            <a:r>
              <a:rPr lang="en-CA" dirty="0"/>
              <a:t>Have or not have</a:t>
            </a:r>
          </a:p>
          <a:p>
            <a:pPr lvl="1"/>
            <a:r>
              <a:rPr lang="en-CA" dirty="0"/>
              <a:t>Position (top, bottom, left, right, top &amp; bottom, left &amp; right)</a:t>
            </a:r>
          </a:p>
          <a:p>
            <a:pPr lvl="1"/>
            <a:r>
              <a:rPr lang="en-CA" dirty="0"/>
              <a:t>Colors &amp; weights</a:t>
            </a:r>
          </a:p>
          <a:p>
            <a:pPr lvl="1"/>
            <a:r>
              <a:rPr lang="en-CA" dirty="0"/>
              <a:t>Rounding none, some or all corners </a:t>
            </a:r>
          </a:p>
          <a:p>
            <a:r>
              <a:rPr lang="en-CA" dirty="0"/>
              <a:t>Spacing</a:t>
            </a:r>
          </a:p>
          <a:p>
            <a:pPr lvl="1"/>
            <a:r>
              <a:rPr lang="en-CA" dirty="0"/>
              <a:t>Margins &amp; Padding</a:t>
            </a:r>
          </a:p>
          <a:p>
            <a:pPr lvl="2"/>
            <a:r>
              <a:rPr lang="en-CA" dirty="0"/>
              <a:t>Position &amp; sizes</a:t>
            </a:r>
          </a:p>
          <a:p>
            <a:r>
              <a:rPr lang="en-CA" dirty="0"/>
              <a:t>Display </a:t>
            </a:r>
          </a:p>
          <a:p>
            <a:pPr lvl="1"/>
            <a:r>
              <a:rPr lang="en-CA" dirty="0"/>
              <a:t>Inline, inline-block, block</a:t>
            </a:r>
          </a:p>
          <a:p>
            <a:pPr lvl="1"/>
            <a:r>
              <a:rPr lang="en-CA" dirty="0"/>
              <a:t>Grid </a:t>
            </a:r>
          </a:p>
          <a:p>
            <a:pPr lvl="1"/>
            <a:r>
              <a:rPr lang="en-CA" dirty="0"/>
              <a:t>Table, table-cell, table-row</a:t>
            </a:r>
          </a:p>
          <a:p>
            <a:pPr lvl="1"/>
            <a:r>
              <a:rPr lang="en-CA" dirty="0"/>
              <a:t>Flex, inline-flex</a:t>
            </a:r>
          </a:p>
          <a:p>
            <a:pPr lvl="1"/>
            <a:r>
              <a:rPr lang="en-CA" dirty="0"/>
              <a:t>Hiding with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93949B1-E82D-4C77-8E50-8649B2E4E27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31953396"/>
              </p:ext>
            </p:extLst>
          </p:nvPr>
        </p:nvGraphicFramePr>
        <p:xfrm>
          <a:off x="6172200" y="2522742"/>
          <a:ext cx="5181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1879136167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41536752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Settings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Sizes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6553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0.25rem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753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0.5rem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280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1rem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225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1.5rem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597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3rem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51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auto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Used with centering etc.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388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AEFB9A0-5B8D-4C34-A28C-D7B6D0D72F20}"/>
              </a:ext>
            </a:extLst>
          </p:cNvPr>
          <p:cNvSpPr txBox="1"/>
          <p:nvPr/>
        </p:nvSpPr>
        <p:spPr>
          <a:xfrm>
            <a:off x="6096000" y="5565955"/>
            <a:ext cx="48896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sz="4400" dirty="0">
                <a:solidFill>
                  <a:schemeClr val="accent2"/>
                </a:solidFill>
              </a:rPr>
              <a:t>But first….</a:t>
            </a:r>
            <a:endParaRPr lang="en-US" sz="4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127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930E6-B759-4C46-8425-76DD1F386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Bootstrap Responsive Breakpoints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398CA-1F8B-4E26-AAF9-75CBA583E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pPr marL="0" indent="0">
              <a:buNone/>
            </a:pPr>
            <a:r>
              <a:rPr lang="en-CA" dirty="0" err="1">
                <a:cs typeface="Courier New" panose="02070309020205020404" pitchFamily="49" charset="0"/>
              </a:rPr>
              <a:t>Any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.container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-fluid</a:t>
            </a:r>
            <a:r>
              <a:rPr lang="en-CA" dirty="0"/>
              <a:t> class element will resize itself and its contents (from edge to edge of screen)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A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.container</a:t>
            </a:r>
            <a:r>
              <a:rPr lang="en-CA" dirty="0"/>
              <a:t> class element will resize at Bootstrap set breakpoints</a:t>
            </a:r>
          </a:p>
          <a:p>
            <a:pPr lvl="1"/>
            <a:r>
              <a:rPr lang="en-CA" dirty="0"/>
              <a:t>Come in a set sizes: </a:t>
            </a:r>
            <a:r>
              <a:rPr lang="en-CA" dirty="0" err="1"/>
              <a:t>xs</a:t>
            </a:r>
            <a:r>
              <a:rPr lang="en-CA" dirty="0"/>
              <a:t>, </a:t>
            </a:r>
            <a:r>
              <a:rPr lang="en-CA" dirty="0" err="1"/>
              <a:t>sm</a:t>
            </a:r>
            <a:r>
              <a:rPr lang="en-CA" dirty="0"/>
              <a:t>, md, lg,  xl &amp; </a:t>
            </a:r>
            <a:r>
              <a:rPr lang="en-CA" dirty="0" err="1"/>
              <a:t>xxl</a:t>
            </a:r>
            <a:r>
              <a:rPr lang="en-CA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826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43F317-F181-46BA-B588-9C16473B5F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380849"/>
            <a:ext cx="6830378" cy="225487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5E0B23-6B45-43CA-AF70-22F2DFF5BE0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676" y="3467226"/>
            <a:ext cx="2867113" cy="2178554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E76694-42AC-41EE-AC06-56A9442C38F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9744" y="3453050"/>
            <a:ext cx="4454162" cy="219273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1A092E-5FCB-48C4-A5A2-C0C0D92E426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7198" y="3453050"/>
            <a:ext cx="3977512" cy="219273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731891-E62F-4F1D-91C7-D667F42068D1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9573" y="3448332"/>
            <a:ext cx="8184333" cy="2202165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823B859-36B8-483A-9249-7C738F43483E}"/>
              </a:ext>
            </a:extLst>
          </p:cNvPr>
          <p:cNvSpPr txBox="1"/>
          <p:nvPr/>
        </p:nvSpPr>
        <p:spPr>
          <a:xfrm>
            <a:off x="7923450" y="1323618"/>
            <a:ext cx="3386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xs</a:t>
            </a:r>
            <a:r>
              <a:rPr lang="en-CA" dirty="0"/>
              <a:t> container is always 100% wide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E480B0-1D58-44F3-8E71-6FBBB5873D24}"/>
              </a:ext>
            </a:extLst>
          </p:cNvPr>
          <p:cNvSpPr txBox="1"/>
          <p:nvPr/>
        </p:nvSpPr>
        <p:spPr>
          <a:xfrm>
            <a:off x="7923450" y="380849"/>
            <a:ext cx="3386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.container-</a:t>
            </a:r>
            <a:r>
              <a:rPr lang="en-CA" dirty="0" err="1"/>
              <a:t>flude</a:t>
            </a:r>
            <a:r>
              <a:rPr lang="en-CA" dirty="0"/>
              <a:t> is always 100% wide &amp; contents resizes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536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3FAD-B136-4684-B118-4600946A9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Responses at Breakpoints</a:t>
            </a:r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35EC15E-EC56-4D19-9120-9C8F73F579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6643" y="2199992"/>
            <a:ext cx="8609837" cy="3302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855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2EF1FE-484E-4E55-B72E-7A6F549AD51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4019" y="1125798"/>
            <a:ext cx="3820564" cy="438912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FF9D329-81BF-4026-A96E-4F4E63B61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6266067" cy="2852737"/>
          </a:xfrm>
        </p:spPr>
        <p:txBody>
          <a:bodyPr>
            <a:normAutofit fontScale="90000"/>
          </a:bodyPr>
          <a:lstStyle/>
          <a:p>
            <a:r>
              <a:rPr lang="en-CA" dirty="0"/>
              <a:t>But what if you don’t just want the layout to be a stack of block container elements?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EC4BA1-4CCC-4675-AA32-E4BE68602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66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3DF0C-AEC2-48C5-9E1F-33E257C42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Bootstrap Responsive Grid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347756-00E0-4385-8579-05EBDA1D8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dirty="0"/>
              <a:t>For more control than what was provided by individual  .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containe</a:t>
            </a:r>
            <a:r>
              <a:rPr lang="en-CA" sz="2000" dirty="0"/>
              <a:t>r or 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.container-fluid</a:t>
            </a:r>
            <a:r>
              <a:rPr lang="en-CA" sz="2000" dirty="0"/>
              <a:t> class elements, use Bootstrap’s grid.</a:t>
            </a:r>
          </a:p>
          <a:p>
            <a:pPr lvl="1"/>
            <a:r>
              <a:rPr lang="en-CA" sz="1600" dirty="0"/>
              <a:t>mobile-first, fluidly responsive grid system</a:t>
            </a:r>
          </a:p>
          <a:p>
            <a:pPr lvl="1"/>
            <a:r>
              <a:rPr lang="en-CA" sz="1600" dirty="0"/>
              <a:t>12-columns</a:t>
            </a:r>
          </a:p>
          <a:p>
            <a:pPr lvl="1"/>
            <a:r>
              <a:rPr lang="en-CA" sz="1600" dirty="0"/>
              <a:t>Applied to an element with either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.container</a:t>
            </a:r>
            <a:r>
              <a:rPr lang="en-US" sz="1600" dirty="0"/>
              <a:t> or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.container-fluid</a:t>
            </a:r>
            <a:r>
              <a:rPr lang="en-US" sz="1600" dirty="0"/>
              <a:t>, class</a:t>
            </a:r>
          </a:p>
          <a:p>
            <a:pPr lvl="1"/>
            <a:r>
              <a:rPr lang="en-US" sz="1600" dirty="0"/>
              <a:t>The grid is created of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en-US" sz="1600" dirty="0"/>
              <a:t> class elements nested within the container</a:t>
            </a:r>
          </a:p>
          <a:p>
            <a:pPr lvl="1"/>
            <a:r>
              <a:rPr lang="en-US" sz="1600" dirty="0"/>
              <a:t>Within each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en-US" sz="1600" dirty="0"/>
              <a:t> are elements that are placed in/spanning the 12-columns via the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col</a:t>
            </a:r>
            <a:r>
              <a:rPr lang="en-US" sz="1600" dirty="0"/>
              <a:t> class.</a:t>
            </a:r>
          </a:p>
          <a:p>
            <a:endParaRPr lang="en-CA" sz="2000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FA8CB542-D627-443A-8EB3-84BFBF0332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2" y="1825625"/>
            <a:ext cx="5181600" cy="347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193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0633E-FA2F-43D8-A424-3798C30C2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Container</a:t>
            </a:r>
            <a:r>
              <a:rPr lang="en-CA" dirty="0">
                <a:sym typeface="Wingdings" panose="05000000000000000000" pitchFamily="2" charset="2"/>
              </a:rPr>
              <a:t> Rows</a:t>
            </a:r>
            <a:br>
              <a:rPr lang="en-CA" dirty="0">
                <a:sym typeface="Wingdings" panose="05000000000000000000" pitchFamily="2" charset="2"/>
              </a:rPr>
            </a:br>
            <a:r>
              <a:rPr lang="en-CA" dirty="0">
                <a:sym typeface="Wingdings" panose="05000000000000000000" pitchFamily="2" charset="2"/>
              </a:rPr>
              <a:t>    Elements adding</a:t>
            </a:r>
            <a:r>
              <a:rPr lang="en-CA" dirty="0"/>
              <a:t> up to 12 columns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FAD1F6-9350-461F-99E2-B6300687803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7562" y="1825625"/>
            <a:ext cx="4782875" cy="4351338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980F891-64FE-4278-8A93-C7A2BDC73D8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562746"/>
            <a:ext cx="5181600" cy="287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979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614F3-7395-46BA-A5EB-1E5FF4F78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Column sizes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4EDAE-7C30-453F-8753-8AF7F90523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CA" dirty="0"/>
              <a:t>SEPARATE FROM CONTAINER SIZES</a:t>
            </a:r>
          </a:p>
          <a:p>
            <a:r>
              <a:rPr lang="en-CA" dirty="0"/>
              <a:t>There are 6 grid column classes</a:t>
            </a:r>
          </a:p>
          <a:p>
            <a:pPr lvl="1"/>
            <a:r>
              <a:rPr lang="en-CA" dirty="0"/>
              <a:t>They control the width of the element based on screen size</a:t>
            </a:r>
          </a:p>
          <a:p>
            <a:pPr lvl="1"/>
            <a:r>
              <a:rPr lang="en-CA" dirty="0"/>
              <a:t>Each class scales up, so if you want the same widths for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</a:t>
            </a:r>
            <a:r>
              <a:rPr lang="en-CA" dirty="0"/>
              <a:t> and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md</a:t>
            </a:r>
            <a:r>
              <a:rPr lang="en-CA" dirty="0"/>
              <a:t>, you only need to specify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sm</a:t>
            </a:r>
            <a:r>
              <a:rPr lang="en-CA" dirty="0"/>
              <a:t>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761517-0623-40AC-9F26-D590F13ECF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910281" y="4060624"/>
            <a:ext cx="8570425" cy="211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319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A1C5D52-94B8-4341-B4C3-80AFB837E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Column sizing example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0E53FF2-D1C3-4DE1-94D2-1FA737CE51D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4601217" cy="3924848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330AA02-810E-4D0A-8ED9-28FBF8DEC1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690688"/>
            <a:ext cx="5181600" cy="3941398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776D30-C963-4336-8C97-D5CB61C933B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41463" y="3016251"/>
            <a:ext cx="1674237" cy="301752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0408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79F68A-6639-4A94-8554-BF60B8903A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71701" y="436223"/>
            <a:ext cx="6581774" cy="597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51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DCB1A-7882-451E-ACE0-C3DA896DA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Grid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00115-9342-4D48-8B60-4D5DBC8717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Must be contained in a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.container</a:t>
            </a:r>
            <a:r>
              <a:rPr lang="en-CA" dirty="0"/>
              <a:t> or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.container-fluid</a:t>
            </a:r>
          </a:p>
          <a:p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dirty="0"/>
              <a:t>Uses a .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en-CA" dirty="0"/>
              <a:t> as a wrapper for each new row </a:t>
            </a:r>
          </a:p>
          <a:p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EA80AB-D478-4D0F-8CFE-D29F12E93B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A" dirty="0"/>
              <a:t>Columns are flexible but </a:t>
            </a:r>
            <a:br>
              <a:rPr lang="en-CA" dirty="0"/>
            </a:br>
            <a:r>
              <a:rPr lang="en-CA" b="1" dirty="0"/>
              <a:t>there will be 12</a:t>
            </a:r>
          </a:p>
          <a:p>
            <a:endParaRPr lang="en-CA" dirty="0"/>
          </a:p>
          <a:p>
            <a:r>
              <a:rPr lang="en-CA" dirty="0"/>
              <a:t>6 responsive breakpoints</a:t>
            </a:r>
          </a:p>
          <a:p>
            <a:pPr lvl="1"/>
            <a:r>
              <a:rPr lang="en-CA" dirty="0"/>
              <a:t>Based on screen width</a:t>
            </a:r>
            <a:endParaRPr lang="en-US" dirty="0"/>
          </a:p>
          <a:p>
            <a:pPr lvl="1"/>
            <a:r>
              <a:rPr lang="en-CA" dirty="0"/>
              <a:t>E</a:t>
            </a:r>
            <a:r>
              <a:rPr lang="en-US" dirty="0" err="1"/>
              <a:t>ffects</a:t>
            </a:r>
            <a:r>
              <a:rPr lang="en-US" dirty="0"/>
              <a:t> all sizes above</a:t>
            </a:r>
          </a:p>
          <a:p>
            <a:pPr lvl="2"/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col</a:t>
            </a:r>
            <a:r>
              <a:rPr lang="en-CA" dirty="0"/>
              <a:t> applies to all </a:t>
            </a:r>
          </a:p>
          <a:p>
            <a:pPr lvl="2"/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</a:t>
            </a:r>
            <a:r>
              <a:rPr lang="en-CA" dirty="0"/>
              <a:t>  to 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md</a:t>
            </a:r>
            <a:r>
              <a:rPr lang="en-CA" dirty="0"/>
              <a:t>,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lg</a:t>
            </a:r>
            <a:r>
              <a:rPr lang="en-CA" dirty="0"/>
              <a:t>,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xl</a:t>
            </a:r>
            <a:r>
              <a:rPr lang="en-CA" dirty="0"/>
              <a:t>, &amp;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xxl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CA" dirty="0"/>
              <a:t>Etc.</a:t>
            </a:r>
          </a:p>
          <a:p>
            <a:endParaRPr lang="en-CA" dirty="0"/>
          </a:p>
          <a:p>
            <a:endParaRPr lang="en-CA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770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34C6F9-F3EE-40D5-A2C7-21FC6FC91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361" y="469000"/>
            <a:ext cx="8173591" cy="169568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6A6596-2168-4BC4-BF2E-653A5888E2F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582" y="2290439"/>
            <a:ext cx="1225723" cy="2167261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7F8E6-F2A7-4A7D-9AAC-D4DA7F9AD39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8942" y="2290439"/>
            <a:ext cx="2651760" cy="3919293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CB8299-DF6E-41AE-8D04-DCEBFC127AF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4348" y="2290439"/>
            <a:ext cx="5422543" cy="3643636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A6297D-7509-4B39-8B7D-9BEF7871D0B3}"/>
              </a:ext>
            </a:extLst>
          </p:cNvPr>
          <p:cNvSpPr txBox="1"/>
          <p:nvPr/>
        </p:nvSpPr>
        <p:spPr>
          <a:xfrm>
            <a:off x="1228434" y="4583452"/>
            <a:ext cx="9449543" cy="187743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274320" tIns="182880" rIns="274320" bIns="182880" rtlCol="0">
            <a:spAutoFit/>
          </a:bodyPr>
          <a:lstStyle/>
          <a:p>
            <a:r>
              <a:rPr lang="en-CA" sz="1400" dirty="0"/>
              <a:t>All contained in a 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container-fluid </a:t>
            </a:r>
            <a:r>
              <a:rPr lang="en-CA" sz="1400" dirty="0"/>
              <a:t>class 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/>
              <a:t> – thus its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H1</a:t>
            </a:r>
            <a:r>
              <a:rPr lang="en-US" sz="1400" dirty="0"/>
              <a:t> and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/>
              <a:t> are full width and will both resize contents.</a:t>
            </a:r>
          </a:p>
          <a:p>
            <a:r>
              <a:rPr lang="en-CA" sz="1400" dirty="0"/>
              <a:t>W</a:t>
            </a:r>
            <a:r>
              <a:rPr lang="en-US" sz="1400" dirty="0" err="1"/>
              <a:t>ithin</a:t>
            </a:r>
            <a:r>
              <a:rPr lang="en-US" sz="1400" dirty="0"/>
              <a:t>, 1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en-US" sz="1400" dirty="0"/>
              <a:t> class containing 2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col</a:t>
            </a:r>
            <a:r>
              <a:rPr lang="en-US" sz="1400" dirty="0"/>
              <a:t> classes, both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</a:t>
            </a:r>
            <a:r>
              <a:rPr lang="en-US" sz="1400" dirty="0"/>
              <a:t> &amp; both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-3</a:t>
            </a:r>
            <a:r>
              <a:rPr lang="en-US" sz="1400" dirty="0"/>
              <a:t> sized(1rem)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/>
              <a:t>adding</a:t>
            </a:r>
          </a:p>
          <a:p>
            <a:pPr lvl="1"/>
            <a:r>
              <a:rPr lang="en-US" sz="1400" dirty="0"/>
              <a:t>one spanning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-4</a:t>
            </a:r>
            <a:r>
              <a:rPr lang="en-US" sz="1400" dirty="0"/>
              <a:t> (of 12) and the other spanning the remaining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-8</a:t>
            </a:r>
            <a:r>
              <a:rPr lang="en-US" sz="1400" dirty="0"/>
              <a:t>.</a:t>
            </a:r>
          </a:p>
          <a:p>
            <a:pPr lvl="1"/>
            <a:r>
              <a:rPr lang="en-CA" sz="1400" dirty="0"/>
              <a:t>E</a:t>
            </a:r>
            <a:r>
              <a:rPr lang="en-US" sz="1400" dirty="0"/>
              <a:t>ach with different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400" dirty="0"/>
              <a:t> and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text-</a:t>
            </a:r>
            <a:r>
              <a:rPr lang="en-US" sz="1400" dirty="0"/>
              <a:t> colors. </a:t>
            </a:r>
          </a:p>
          <a:p>
            <a:pPr lvl="1"/>
            <a:r>
              <a:rPr lang="en-CA" sz="1400" dirty="0"/>
              <a:t>Notice:</a:t>
            </a:r>
          </a:p>
          <a:p>
            <a:pPr lvl="2"/>
            <a:r>
              <a:rPr lang="en-CA" sz="1400" dirty="0"/>
              <a:t>When screen is very small</a:t>
            </a:r>
            <a:r>
              <a:rPr lang="en-CA" sz="1400" dirty="0">
                <a:sym typeface="Wingdings" panose="05000000000000000000" pitchFamily="2" charset="2"/>
              </a:rPr>
              <a:t> stacked</a:t>
            </a:r>
          </a:p>
          <a:p>
            <a:pPr lvl="2"/>
            <a:r>
              <a:rPr lang="en-CA" sz="1400" dirty="0">
                <a:sym typeface="Wingdings" panose="05000000000000000000" pitchFamily="2" charset="2"/>
              </a:rPr>
              <a:t>When screen is bigger c</a:t>
            </a:r>
            <a:r>
              <a:rPr lang="en-CA" sz="1400" dirty="0"/>
              <a:t>olumn items resize based on the size of the screen.</a:t>
            </a:r>
          </a:p>
        </p:txBody>
      </p:sp>
    </p:spTree>
    <p:extLst>
      <p:ext uri="{BB962C8B-B14F-4D97-AF65-F5344CB8AC3E}">
        <p14:creationId xmlns:p14="http://schemas.microsoft.com/office/powerpoint/2010/main" val="96268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34C6F9-F3EE-40D5-A2C7-21FC6FC91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409542"/>
            <a:ext cx="8430622" cy="165738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6A6596-2168-4BC4-BF2E-653A5888E2F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273746"/>
            <a:ext cx="1225723" cy="2147167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7F8E6-F2A7-4A7D-9AAC-D4DA7F9AD39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3923" y="2273746"/>
            <a:ext cx="1828800" cy="2739038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CB8299-DF6E-41AE-8D04-DCEBFC127AF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8539" y="2273746"/>
            <a:ext cx="5422543" cy="3624111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A438458-BC27-4AC1-9073-6156BD1F4D1C}"/>
              </a:ext>
            </a:extLst>
          </p:cNvPr>
          <p:cNvSpPr/>
          <p:nvPr/>
        </p:nvSpPr>
        <p:spPr>
          <a:xfrm>
            <a:off x="2428875" y="1457325"/>
            <a:ext cx="314325" cy="333375"/>
          </a:xfrm>
          <a:prstGeom prst="rect">
            <a:avLst/>
          </a:prstGeom>
          <a:solidFill>
            <a:srgbClr val="FFD009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FFA31E-6BE0-4DF4-9950-1628F3F4521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92723" y="2273746"/>
            <a:ext cx="2635816" cy="3861591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7F486F-C760-4807-9D7B-175415A390FC}"/>
              </a:ext>
            </a:extLst>
          </p:cNvPr>
          <p:cNvSpPr txBox="1"/>
          <p:nvPr/>
        </p:nvSpPr>
        <p:spPr>
          <a:xfrm>
            <a:off x="1371228" y="4418803"/>
            <a:ext cx="9449543" cy="166199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274320" tIns="182880" rIns="274320" bIns="182880" rtlCol="0">
            <a:spAutoFit/>
          </a:bodyPr>
          <a:lstStyle/>
          <a:p>
            <a:r>
              <a:rPr lang="en-CA" sz="1400" dirty="0"/>
              <a:t>Again contained in a 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container-fluid</a:t>
            </a:r>
            <a:r>
              <a:rPr lang="en-CA" sz="1400" dirty="0"/>
              <a:t> class 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1400" dirty="0"/>
              <a:t>, but t</a:t>
            </a:r>
            <a:r>
              <a:rPr lang="en-CA" sz="1400" dirty="0"/>
              <a:t>his time:</a:t>
            </a:r>
            <a:endParaRPr lang="en-US" sz="1400" dirty="0"/>
          </a:p>
          <a:p>
            <a:pPr lvl="1"/>
            <a:r>
              <a:rPr lang="en-US" sz="1400" dirty="0"/>
              <a:t>one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</a:t>
            </a:r>
            <a:r>
              <a:rPr lang="en-US" sz="1400" dirty="0"/>
              <a:t> column spans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-4</a:t>
            </a:r>
            <a:r>
              <a:rPr lang="en-US" sz="1400" dirty="0"/>
              <a:t> and second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md-8, </a:t>
            </a:r>
            <a:r>
              <a:rPr lang="en-US" sz="1400" dirty="0"/>
              <a:t>a larger-size column spanning remaining columns</a:t>
            </a:r>
          </a:p>
          <a:p>
            <a:pPr lvl="1"/>
            <a:r>
              <a:rPr lang="en-CA" sz="1400" dirty="0"/>
              <a:t>Notice:</a:t>
            </a:r>
          </a:p>
          <a:p>
            <a:pPr lvl="2"/>
            <a:r>
              <a:rPr lang="en-CA" sz="1400" dirty="0"/>
              <a:t>When screen is very small</a:t>
            </a:r>
            <a:r>
              <a:rPr lang="en-CA" sz="1400" dirty="0">
                <a:sym typeface="Wingdings" panose="05000000000000000000" pitchFamily="2" charset="2"/>
              </a:rPr>
              <a:t> still stacked</a:t>
            </a:r>
          </a:p>
          <a:p>
            <a:pPr lvl="2"/>
            <a:r>
              <a:rPr lang="en-CA" sz="1400" dirty="0">
                <a:sym typeface="Wingdings" panose="05000000000000000000" pitchFamily="2" charset="2"/>
              </a:rPr>
              <a:t>Odd in-between size  stacked but “md” displays to its size</a:t>
            </a:r>
          </a:p>
          <a:p>
            <a:pPr lvl="2"/>
            <a:r>
              <a:rPr lang="en-CA" sz="1400" dirty="0">
                <a:sym typeface="Wingdings" panose="05000000000000000000" pitchFamily="2" charset="2"/>
              </a:rPr>
              <a:t>When screen is big enough (breakpoint), c</a:t>
            </a:r>
            <a:r>
              <a:rPr lang="en-CA" sz="1400" dirty="0"/>
              <a:t>olumns resize based on the size of the screen regardless of 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col</a:t>
            </a:r>
            <a:r>
              <a:rPr lang="en-CA" sz="1400" dirty="0"/>
              <a:t> size.</a:t>
            </a:r>
          </a:p>
        </p:txBody>
      </p:sp>
    </p:spTree>
    <p:extLst>
      <p:ext uri="{BB962C8B-B14F-4D97-AF65-F5344CB8AC3E}">
        <p14:creationId xmlns:p14="http://schemas.microsoft.com/office/powerpoint/2010/main" val="406395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805C3-33CB-48F7-82BC-0C549E7E9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Two-Column Layout – “Stacked-to-horizontal”</a:t>
            </a:r>
            <a:endParaRPr lang="en-US" dirty="0"/>
          </a:p>
        </p:txBody>
      </p:sp>
      <p:pic>
        <p:nvPicPr>
          <p:cNvPr id="5" name="Content Placeholder 4">
            <a:hlinkClick r:id="rId3"/>
            <a:extLst>
              <a:ext uri="{FF2B5EF4-FFF2-40B4-BE49-F238E27FC236}">
                <a16:creationId xmlns:a16="http://schemas.microsoft.com/office/drawing/2014/main" id="{D242D32E-3A25-4A85-A08A-91EBDCC77F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258691"/>
            <a:ext cx="6477904" cy="23406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7951241-BA9B-4FCA-BC1C-F882E0111F61}"/>
              </a:ext>
            </a:extLst>
          </p:cNvPr>
          <p:cNvSpPr/>
          <p:nvPr/>
        </p:nvSpPr>
        <p:spPr>
          <a:xfrm>
            <a:off x="424440" y="6466549"/>
            <a:ext cx="1262498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https://www.w3schools.com/bootstrap/bootstrap_grid_stacked_to_horizontal.asp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AB669E-D7CE-45FE-A4CB-3C05AEC9B3E4}"/>
              </a:ext>
            </a:extLst>
          </p:cNvPr>
          <p:cNvSpPr txBox="1"/>
          <p:nvPr/>
        </p:nvSpPr>
        <p:spPr>
          <a:xfrm>
            <a:off x="7853585" y="1589518"/>
            <a:ext cx="323031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Two 50% by 50% columns</a:t>
            </a:r>
          </a:p>
          <a:p>
            <a:r>
              <a:rPr lang="en-CA" dirty="0"/>
              <a:t>EXCEPT on small screens (&lt;576px so phones portrait or landscape) when they will stack.</a:t>
            </a:r>
          </a:p>
          <a:p>
            <a:endParaRPr lang="en-CA" dirty="0"/>
          </a:p>
          <a:p>
            <a:r>
              <a:rPr lang="en-CA" dirty="0"/>
              <a:t>If you wanted them to stack at other breakpoints, use different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col-size:</a:t>
            </a:r>
          </a:p>
          <a:p>
            <a:pPr lvl="1"/>
            <a:r>
              <a:rPr lang="en-CA" sz="1600" dirty="0">
                <a:cs typeface="Courier New" panose="02070309020205020404" pitchFamily="49" charset="0"/>
              </a:rPr>
              <a:t>Use: 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col-md </a:t>
            </a:r>
          </a:p>
          <a:p>
            <a:pPr lvl="1"/>
            <a:r>
              <a:rPr lang="en-CA" sz="1600" dirty="0">
                <a:cs typeface="Courier New" panose="02070309020205020404" pitchFamily="49" charset="0"/>
              </a:rPr>
              <a:t>and elements be two columns on tablets and bigger, but stack on smaller screens.</a:t>
            </a:r>
          </a:p>
          <a:p>
            <a:pPr lvl="1"/>
            <a:endParaRPr lang="en-CA" sz="1600" dirty="0">
              <a:cs typeface="Courier New" panose="02070309020205020404" pitchFamily="49" charset="0"/>
            </a:endParaRPr>
          </a:p>
          <a:p>
            <a:pPr lvl="1"/>
            <a:r>
              <a:rPr lang="en-CA" sz="1600" dirty="0">
                <a:cs typeface="Courier New" panose="02070309020205020404" pitchFamily="49" charset="0"/>
              </a:rPr>
              <a:t>Note: If you use just 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col</a:t>
            </a:r>
            <a:r>
              <a:rPr lang="en-CA" sz="1600" dirty="0">
                <a:cs typeface="Courier New" panose="02070309020205020404" pitchFamily="49" charset="0"/>
              </a:rPr>
              <a:t>, they columns always stack.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215D7F-EF17-4761-9B80-76ED13D56E2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508" y="1652621"/>
            <a:ext cx="1751594" cy="301752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832EBF-EA20-4F3E-997B-5D017DA4FA0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2409" y="1690688"/>
            <a:ext cx="4483695" cy="301752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EB3C00-ACEE-4276-8E86-5C7755DBD6C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508" y="1589518"/>
            <a:ext cx="6477904" cy="4384944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36697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7970F-8A49-48AD-A2F9-1E0C66932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Auto Columns for all devices:</a:t>
            </a:r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0A739D9-07D0-450D-BA19-E4D01C6B9D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581496"/>
            <a:ext cx="5181600" cy="2839596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4BFF635-F026-469D-AE2F-46D86C6B54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An easy way to create equal width columns for all devices:</a:t>
            </a:r>
          </a:p>
          <a:p>
            <a:pPr lvl="1"/>
            <a:r>
              <a:rPr lang="en-US" b="1" dirty="0"/>
              <a:t>Just use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.col </a:t>
            </a:r>
            <a:r>
              <a:rPr lang="en-US" b="1" dirty="0"/>
              <a:t>class </a:t>
            </a:r>
            <a:r>
              <a:rPr lang="en-US" dirty="0"/>
              <a:t>with a number of col elements.</a:t>
            </a:r>
          </a:p>
          <a:p>
            <a:pPr lvl="2"/>
            <a:r>
              <a:rPr lang="en-US" dirty="0"/>
              <a:t>1x12, 2x6, 3x4 </a:t>
            </a:r>
          </a:p>
          <a:p>
            <a:pPr marL="687388" lvl="1" indent="0">
              <a:buNone/>
            </a:pPr>
            <a:r>
              <a:rPr lang="en-US" dirty="0"/>
              <a:t>Bootstrap will recognize how many columns there are, and </a:t>
            </a:r>
            <a:br>
              <a:rPr lang="en-US" dirty="0"/>
            </a:br>
            <a:r>
              <a:rPr lang="en-US" b="1" dirty="0"/>
              <a:t>each column will have equal width.</a:t>
            </a:r>
          </a:p>
          <a:p>
            <a:pPr marL="457200" lvl="1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Example:</a:t>
            </a:r>
          </a:p>
          <a:p>
            <a:pPr lvl="1"/>
            <a:r>
              <a:rPr lang="en-US" dirty="0"/>
              <a:t>Two rows</a:t>
            </a:r>
          </a:p>
          <a:p>
            <a:pPr lvl="2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has two col</a:t>
            </a:r>
          </a:p>
          <a:p>
            <a:pPr lvl="2"/>
            <a:r>
              <a:rPr lang="en-CA" dirty="0"/>
              <a:t>2</a:t>
            </a:r>
            <a:r>
              <a:rPr lang="en-CA" baseline="30000" dirty="0"/>
              <a:t>nd</a:t>
            </a:r>
            <a:r>
              <a:rPr lang="en-CA" dirty="0"/>
              <a:t> has 4 col</a:t>
            </a:r>
          </a:p>
          <a:p>
            <a:pPr lvl="1"/>
            <a:r>
              <a:rPr lang="en-CA" dirty="0"/>
              <a:t>No col- sizes so Bootstrap assumes 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B039EC-913D-48FF-BEAD-229A008AF87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1679"/>
          <a:stretch/>
        </p:blipFill>
        <p:spPr>
          <a:xfrm>
            <a:off x="6059585" y="2135046"/>
            <a:ext cx="5254430" cy="3151109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56CB87-E3A9-4458-81B5-477258FF663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72700" y="3142978"/>
            <a:ext cx="2141315" cy="2724564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09152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0AD2F-0EC4-4AA0-ACFE-CF37224AC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Stack for all but Large Screens </a:t>
            </a:r>
            <a:br>
              <a:rPr lang="en-CA" dirty="0"/>
            </a:br>
            <a:r>
              <a:rPr lang="en-CA" dirty="0"/>
              <a:t>(aka portable = always stacked)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15115-D4D4-4A2D-AD33-06043053B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769887"/>
            <a:ext cx="5181600" cy="24070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dirty="0"/>
              <a:t>Using only 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col-lg </a:t>
            </a:r>
            <a:r>
              <a:rPr lang="en-CA" sz="2000" dirty="0"/>
              <a:t>(in this case 2 equal columns of 6) means:</a:t>
            </a:r>
          </a:p>
          <a:p>
            <a:pPr marL="0" indent="0">
              <a:buNone/>
            </a:pPr>
            <a:r>
              <a:rPr lang="en-CA" sz="2000" dirty="0"/>
              <a:t>On large, x-large, &amp; xx-large devices, </a:t>
            </a:r>
            <a:br>
              <a:rPr lang="en-CA" sz="2000" dirty="0"/>
            </a:br>
            <a:r>
              <a:rPr lang="en-CA" sz="2000" dirty="0"/>
              <a:t>columns split 50%/50%, </a:t>
            </a:r>
          </a:p>
          <a:p>
            <a:pPr marL="0" indent="0">
              <a:buNone/>
            </a:pPr>
            <a:br>
              <a:rPr lang="en-CA" sz="2000" dirty="0"/>
            </a:br>
            <a:r>
              <a:rPr lang="en-CA" sz="2000" dirty="0"/>
              <a:t>but most small (portable) devices will stack).</a:t>
            </a:r>
            <a:endParaRPr lang="en-US"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B46A71-F780-4D4D-9C3D-2FCEB8D639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1845079"/>
            <a:ext cx="5181600" cy="3167841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hlinkClick r:id="rId3"/>
            <a:extLst>
              <a:ext uri="{FF2B5EF4-FFF2-40B4-BE49-F238E27FC236}">
                <a16:creationId xmlns:a16="http://schemas.microsoft.com/office/drawing/2014/main" id="{112098EA-293D-474A-8A17-6ED57BD30C3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1825625"/>
            <a:ext cx="5181600" cy="1809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7E444D-E056-4393-80A9-1D69457687D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86699" y="3095625"/>
            <a:ext cx="2137023" cy="3187479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0379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4DEC4-4A45-4B38-8428-0F4B9DFB2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Note: </a:t>
            </a:r>
            <a:r>
              <a:rPr lang="en-CA" sz="3600" dirty="0"/>
              <a:t>choosing a class </a:t>
            </a:r>
            <a:r>
              <a:rPr lang="en-CA" sz="3600" b="1" dirty="0"/>
              <a:t>size</a:t>
            </a:r>
            <a:r>
              <a:rPr lang="en-CA" sz="3600" dirty="0"/>
              <a:t> means it will </a:t>
            </a:r>
            <a:r>
              <a:rPr lang="en-CA" sz="3600" b="1" dirty="0"/>
              <a:t>resize</a:t>
            </a:r>
            <a:r>
              <a:rPr lang="en-CA" sz="3600" dirty="0"/>
              <a:t> and </a:t>
            </a:r>
            <a:r>
              <a:rPr lang="en-CA" sz="3600" b="1" dirty="0"/>
              <a:t>stack</a:t>
            </a:r>
            <a:r>
              <a:rPr lang="en-CA" sz="3600" dirty="0"/>
              <a:t> according to its </a:t>
            </a:r>
            <a:r>
              <a:rPr lang="en-CA" sz="3600" b="1" dirty="0"/>
              <a:t>breakpoints.</a:t>
            </a:r>
            <a:r>
              <a:rPr lang="en-CA" sz="3600" dirty="0"/>
              <a:t>   </a:t>
            </a:r>
            <a:r>
              <a:rPr lang="en-CA" sz="3600" b="1" dirty="0"/>
              <a:t>≠</a:t>
            </a:r>
            <a:r>
              <a:rPr lang="en-CA" sz="3600" dirty="0"/>
              <a:t>  how many columns it spans.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CD0956-A26C-48F3-8B08-8C4B769377F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525" y="1690688"/>
            <a:ext cx="5181600" cy="31265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36B970-1B0D-4F68-823F-C979BC6DB02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3486" y="1690688"/>
            <a:ext cx="2069103" cy="274320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9AB16C7-7F21-4F2F-8846-BEF110E8EC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9845" y="1690688"/>
            <a:ext cx="2963955" cy="4351338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3E8F56-30C8-4420-BFDE-F636F86488E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3125" y="1690688"/>
            <a:ext cx="5968367" cy="3929062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9424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29E71-7D67-4C6D-860F-6BC88DB0A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Nested Rows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D2E297-39C7-4B4B-B478-F485D526475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1690688"/>
            <a:ext cx="6500186" cy="3212252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615C04C-F328-4B72-A37B-E233236445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4106"/>
          <a:stretch/>
        </p:blipFill>
        <p:spPr>
          <a:xfrm>
            <a:off x="4392143" y="4438026"/>
            <a:ext cx="6961657" cy="1735126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F16076-7B1D-43FF-8D7C-ACBEC5081EA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9562" y="1672217"/>
            <a:ext cx="2593061" cy="201168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77054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457FE-643F-4EDE-84C1-2654CCE1D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Tips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D3F15-C23E-47A8-B30F-B0E8648730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CA" b="1" dirty="0"/>
              <a:t>Elements must be within a container </a:t>
            </a:r>
            <a:r>
              <a:rPr lang="en-CA" dirty="0"/>
              <a:t>to be able to have a grid</a:t>
            </a:r>
          </a:p>
          <a:p>
            <a:r>
              <a:rPr lang="en-CA" dirty="0"/>
              <a:t>Set </a:t>
            </a:r>
            <a:r>
              <a:rPr lang="en-CA" b="1" dirty="0"/>
              <a:t>each</a:t>
            </a:r>
            <a:r>
              <a:rPr lang="en-CA" dirty="0"/>
              <a:t>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en-CA" dirty="0"/>
              <a:t> class, </a:t>
            </a:r>
            <a:br>
              <a:rPr lang="en-CA" dirty="0"/>
            </a:br>
            <a:r>
              <a:rPr lang="en-CA" dirty="0"/>
              <a:t>then, place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col</a:t>
            </a:r>
            <a:r>
              <a:rPr lang="en-CA" dirty="0"/>
              <a:t> elements within that row (as children of the row)</a:t>
            </a:r>
          </a:p>
          <a:p>
            <a:r>
              <a:rPr lang="en-CA" dirty="0"/>
              <a:t>The </a:t>
            </a:r>
            <a:r>
              <a:rPr lang="en-CA" b="1" dirty="0"/>
              <a:t>spans </a:t>
            </a:r>
            <a:r>
              <a:rPr lang="en-CA" dirty="0"/>
              <a:t>must</a:t>
            </a:r>
            <a:r>
              <a:rPr lang="en-CA" b="1" dirty="0"/>
              <a:t> add up to 12</a:t>
            </a:r>
            <a:br>
              <a:rPr lang="en-CA" dirty="0"/>
            </a:br>
            <a:r>
              <a:rPr lang="en-CA" dirty="0"/>
              <a:t>OR</a:t>
            </a:r>
            <a:br>
              <a:rPr lang="en-CA" dirty="0"/>
            </a:br>
            <a:r>
              <a:rPr lang="en-CA" dirty="0"/>
              <a:t>the </a:t>
            </a:r>
            <a:r>
              <a:rPr lang="en-CA" b="1" dirty="0"/>
              <a:t>number of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col</a:t>
            </a:r>
            <a:r>
              <a:rPr lang="en-CA" b="1" dirty="0"/>
              <a:t> class elements in the row is divisible by 12</a:t>
            </a:r>
          </a:p>
          <a:p>
            <a:pPr lvl="1"/>
            <a:r>
              <a:rPr lang="en-CA" dirty="0"/>
              <a:t>1x12, 2x6, 3x4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DAC63-573B-4264-A5C1-BD389096FE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CA" dirty="0"/>
              <a:t>Recall,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col-</a:t>
            </a:r>
            <a:r>
              <a:rPr lang="en-CA" dirty="0"/>
              <a:t>sizes describe how the element reacts to screen sizes…</a:t>
            </a:r>
            <a:br>
              <a:rPr lang="en-CA" dirty="0"/>
            </a:br>
            <a:r>
              <a:rPr lang="en-CA" dirty="0"/>
              <a:t>NOT how big they are.</a:t>
            </a:r>
          </a:p>
          <a:p>
            <a:pPr lvl="1"/>
            <a:r>
              <a:rPr lang="en-CA" dirty="0"/>
              <a:t>Get too small, they stack</a:t>
            </a:r>
          </a:p>
          <a:p>
            <a:pPr lvl="1"/>
            <a:endParaRPr lang="en-CA" dirty="0"/>
          </a:p>
          <a:p>
            <a:pPr marL="0" indent="0">
              <a:buNone/>
            </a:pPr>
            <a:r>
              <a:rPr lang="en-CA" dirty="0"/>
              <a:t>Looking for more Bootstrap column examples?</a:t>
            </a:r>
          </a:p>
          <a:p>
            <a:pPr marL="457200" lvl="1" indent="0">
              <a:buNone/>
            </a:pPr>
            <a:r>
              <a:rPr lang="en-CA" dirty="0">
                <a:hlinkClick r:id="rId2"/>
              </a:rPr>
              <a:t>https://www.w3schools.com/bootstrap5/bootstrap_grid_examples.php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13287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B808-0DBC-47A4-A41A-59AB73E24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Border Utility Classes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EBB1E91-94B1-42B0-88C4-9935D558F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1946275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To have a Bootstrap border on an element, set the element to have the Bootstrap</a:t>
            </a:r>
            <a:br>
              <a:rPr lang="en-CA" dirty="0"/>
            </a:br>
            <a:r>
              <a:rPr lang="en-CA" dirty="0"/>
              <a:t> border class, weight (1-5), predefined color, and/or radius</a:t>
            </a:r>
          </a:p>
          <a:p>
            <a:pPr marL="457200" lvl="1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class="border"</a:t>
            </a:r>
          </a:p>
          <a:p>
            <a:pPr marL="457200" lvl="1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class="border border-4"</a:t>
            </a:r>
          </a:p>
          <a:p>
            <a:pPr marL="457200" lvl="1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class="border border-4 border-danger rounded-5"</a:t>
            </a:r>
          </a:p>
          <a:p>
            <a:pPr marL="457200" lvl="1" indent="0">
              <a:buNone/>
            </a:pP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67E364A6-F796-41E5-BDB9-4D248AE098C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6376" y="3886682"/>
            <a:ext cx="7985948" cy="260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1047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65074-3793-4968-99E8-6D68EE03C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Container Spacing Utility 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36239-956B-4463-BD25-A62780AA4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81034"/>
            <a:ext cx="5181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CA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{property}{sides}{size} </a:t>
            </a:r>
            <a:r>
              <a:rPr lang="en-CA" sz="2600" dirty="0">
                <a:cs typeface="Courier New" panose="02070309020205020404" pitchFamily="49" charset="0"/>
              </a:rPr>
              <a:t>for</a:t>
            </a:r>
            <a:r>
              <a:rPr lang="en-CA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</a:t>
            </a:r>
            <a:endParaRPr lang="en-CA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CA" dirty="0">
                <a:cs typeface="Courier New" panose="02070309020205020404" pitchFamily="49" charset="0"/>
              </a:rPr>
              <a:t>And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CA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{property}{sides}-{breakpoint}-{size} </a:t>
            </a:r>
            <a:br>
              <a:rPr lang="en-CA" sz="2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2600" dirty="0">
                <a:cs typeface="Courier New" panose="02070309020205020404" pitchFamily="49" charset="0"/>
              </a:rPr>
              <a:t>for</a:t>
            </a:r>
            <a:r>
              <a:rPr lang="en-CA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</a:t>
            </a:r>
            <a:r>
              <a:rPr lang="en-CA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, md, lg, xl, </a:t>
            </a:r>
            <a:r>
              <a:rPr lang="en-CA" sz="2600" dirty="0">
                <a:cs typeface="Courier New" panose="02070309020205020404" pitchFamily="49" charset="0"/>
              </a:rPr>
              <a:t>and</a:t>
            </a:r>
            <a:r>
              <a:rPr lang="en-CA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xxl</a:t>
            </a:r>
            <a:r>
              <a:rPr lang="en-CA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457200" lvl="1" indent="0">
              <a:buNone/>
            </a:pP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CA" dirty="0">
                <a:cs typeface="Courier New" panose="02070309020205020404" pitchFamily="49" charset="0"/>
              </a:rPr>
              <a:t>Properties</a:t>
            </a:r>
          </a:p>
          <a:p>
            <a:pPr marL="457200" lvl="1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m </a:t>
            </a:r>
            <a:r>
              <a:rPr lang="en-CA" dirty="0">
                <a:cs typeface="Courier New" panose="02070309020205020404" pitchFamily="49" charset="0"/>
              </a:rPr>
              <a:t>for margins</a:t>
            </a:r>
          </a:p>
          <a:p>
            <a:pPr marL="457200" lvl="1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p </a:t>
            </a:r>
            <a:r>
              <a:rPr lang="en-CA" dirty="0">
                <a:cs typeface="Courier New" panose="02070309020205020404" pitchFamily="49" charset="0"/>
              </a:rPr>
              <a:t>for padding</a:t>
            </a:r>
          </a:p>
          <a:p>
            <a:pPr marL="457200" lvl="1" indent="0">
              <a:buNone/>
            </a:pPr>
            <a:endParaRPr lang="en-CA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CA" dirty="0">
                <a:cs typeface="Courier New" panose="02070309020205020404" pitchFamily="49" charset="0"/>
              </a:rPr>
              <a:t>Sides</a:t>
            </a:r>
          </a:p>
          <a:p>
            <a:pPr marL="457200" lvl="1" indent="0">
              <a:buNone/>
            </a:pP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t </a:t>
            </a:r>
            <a:r>
              <a:rPr lang="en-CA" sz="2200" dirty="0">
                <a:cs typeface="Courier New" panose="02070309020205020404" pitchFamily="49" charset="0"/>
              </a:rPr>
              <a:t>or</a:t>
            </a: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r>
              <a:rPr lang="en-CA" sz="2200" dirty="0">
                <a:cs typeface="Courier New" panose="02070309020205020404" pitchFamily="49" charset="0"/>
              </a:rPr>
              <a:t>for top or bottom</a:t>
            </a:r>
          </a:p>
          <a:p>
            <a:pPr marL="457200" lvl="1" indent="0">
              <a:buNone/>
            </a:pP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y </a:t>
            </a:r>
            <a:r>
              <a:rPr lang="en-CA" sz="2200" dirty="0">
                <a:cs typeface="Courier New" panose="02070309020205020404" pitchFamily="49" charset="0"/>
              </a:rPr>
              <a:t>for both top &amp; bottom</a:t>
            </a:r>
          </a:p>
          <a:p>
            <a:pPr marL="457200" lvl="1" indent="0">
              <a:buNone/>
            </a:pPr>
            <a:endParaRPr lang="en-CA" sz="2200" dirty="0"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l </a:t>
            </a:r>
            <a:r>
              <a:rPr lang="en-CA" sz="2200" dirty="0">
                <a:cs typeface="Courier New" panose="02070309020205020404" pitchFamily="49" charset="0"/>
              </a:rPr>
              <a:t>or</a:t>
            </a: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r </a:t>
            </a:r>
            <a:r>
              <a:rPr lang="en-CA" sz="2200" dirty="0">
                <a:cs typeface="Courier New" panose="02070309020205020404" pitchFamily="49" charset="0"/>
              </a:rPr>
              <a:t>for left or right</a:t>
            </a:r>
          </a:p>
          <a:p>
            <a:pPr marL="457200" lvl="1" indent="0">
              <a:buNone/>
            </a:pP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CA" sz="2200" dirty="0">
                <a:cs typeface="Courier New" panose="02070309020205020404" pitchFamily="49" charset="0"/>
              </a:rPr>
              <a:t>for both left &amp; right</a:t>
            </a:r>
          </a:p>
          <a:p>
            <a:pPr marL="457200" lvl="1" indent="0">
              <a:buNone/>
            </a:pPr>
            <a:endParaRPr lang="en-CA" sz="2200" dirty="0"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dirty="0"/>
              <a:t>Default, containers have left and right padding, with </a:t>
            </a:r>
            <a:r>
              <a:rPr lang="en-US" b="1" dirty="0"/>
              <a:t>no top or bottom padding.</a:t>
            </a:r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B04C3-EFC4-4FC4-8C73-78D5D55640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CA" dirty="0">
                <a:cs typeface="Courier New" panose="02070309020205020404" pitchFamily="49" charset="0"/>
              </a:rPr>
              <a:t>Sizes</a:t>
            </a:r>
            <a:endParaRPr lang="en-CA" sz="3300" dirty="0"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CA" dirty="0">
                <a:cs typeface="Courier New" panose="02070309020205020404" pitchFamily="49" charset="0"/>
              </a:rPr>
              <a:t>Bootstrap set ‘responsive’ scale:</a:t>
            </a:r>
            <a:endParaRPr lang="en-US" dirty="0">
              <a:cs typeface="Courier New" panose="02070309020205020404" pitchFamily="49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9836F7-3F25-4C9E-9DA1-D01BCA74AF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098476"/>
              </p:ext>
            </p:extLst>
          </p:nvPr>
        </p:nvGraphicFramePr>
        <p:xfrm>
          <a:off x="6473232" y="2661719"/>
          <a:ext cx="4880568" cy="7686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697224">
                  <a:extLst>
                    <a:ext uri="{9D8B030D-6E8A-4147-A177-3AD203B41FA5}">
                      <a16:colId xmlns:a16="http://schemas.microsoft.com/office/drawing/2014/main" val="4002198941"/>
                    </a:ext>
                  </a:extLst>
                </a:gridCol>
                <a:gridCol w="697224">
                  <a:extLst>
                    <a:ext uri="{9D8B030D-6E8A-4147-A177-3AD203B41FA5}">
                      <a16:colId xmlns:a16="http://schemas.microsoft.com/office/drawing/2014/main" val="653482403"/>
                    </a:ext>
                  </a:extLst>
                </a:gridCol>
                <a:gridCol w="697224">
                  <a:extLst>
                    <a:ext uri="{9D8B030D-6E8A-4147-A177-3AD203B41FA5}">
                      <a16:colId xmlns:a16="http://schemas.microsoft.com/office/drawing/2014/main" val="4191381760"/>
                    </a:ext>
                  </a:extLst>
                </a:gridCol>
                <a:gridCol w="697224">
                  <a:extLst>
                    <a:ext uri="{9D8B030D-6E8A-4147-A177-3AD203B41FA5}">
                      <a16:colId xmlns:a16="http://schemas.microsoft.com/office/drawing/2014/main" val="1241247361"/>
                    </a:ext>
                  </a:extLst>
                </a:gridCol>
                <a:gridCol w="697224">
                  <a:extLst>
                    <a:ext uri="{9D8B030D-6E8A-4147-A177-3AD203B41FA5}">
                      <a16:colId xmlns:a16="http://schemas.microsoft.com/office/drawing/2014/main" val="3690033946"/>
                    </a:ext>
                  </a:extLst>
                </a:gridCol>
                <a:gridCol w="697224">
                  <a:extLst>
                    <a:ext uri="{9D8B030D-6E8A-4147-A177-3AD203B41FA5}">
                      <a16:colId xmlns:a16="http://schemas.microsoft.com/office/drawing/2014/main" val="3701979339"/>
                    </a:ext>
                  </a:extLst>
                </a:gridCol>
                <a:gridCol w="697224">
                  <a:extLst>
                    <a:ext uri="{9D8B030D-6E8A-4147-A177-3AD203B41FA5}">
                      <a16:colId xmlns:a16="http://schemas.microsoft.com/office/drawing/2014/main" val="1335342347"/>
                    </a:ext>
                  </a:extLst>
                </a:gridCol>
              </a:tblGrid>
              <a:tr h="380245">
                <a:tc>
                  <a:txBody>
                    <a:bodyPr/>
                    <a:lstStyle/>
                    <a:p>
                      <a:pPr algn="ctr"/>
                      <a:r>
                        <a:rPr lang="en-CA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auto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2985660"/>
                  </a:ext>
                </a:extLst>
              </a:tr>
              <a:tr h="388415">
                <a:tc>
                  <a:txBody>
                    <a:bodyPr/>
                    <a:lstStyle/>
                    <a:p>
                      <a:pPr algn="ctr"/>
                      <a:r>
                        <a:rPr lang="en-CA" sz="105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050" dirty="0">
                          <a:solidFill>
                            <a:schemeClr val="tx1"/>
                          </a:solidFill>
                        </a:rPr>
                        <a:t>0.25rem</a:t>
                      </a:r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050" dirty="0">
                          <a:solidFill>
                            <a:schemeClr val="tx1"/>
                          </a:solidFill>
                        </a:rPr>
                        <a:t>0.5rem</a:t>
                      </a:r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050" dirty="0">
                          <a:solidFill>
                            <a:schemeClr val="tx1"/>
                          </a:solidFill>
                        </a:rPr>
                        <a:t>1rem</a:t>
                      </a:r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050" dirty="0">
                          <a:solidFill>
                            <a:schemeClr val="tx1"/>
                          </a:solidFill>
                        </a:rPr>
                        <a:t>1.5rem</a:t>
                      </a:r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050" dirty="0">
                          <a:solidFill>
                            <a:schemeClr val="tx1"/>
                          </a:solidFill>
                        </a:rPr>
                        <a:t>3rem</a:t>
                      </a:r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050" dirty="0">
                          <a:solidFill>
                            <a:schemeClr val="tx1"/>
                          </a:solidFill>
                        </a:rPr>
                        <a:t>centered</a:t>
                      </a:r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000108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08B9D11-BE51-457B-9C90-6784E0717F22}"/>
              </a:ext>
            </a:extLst>
          </p:cNvPr>
          <p:cNvSpPr txBox="1"/>
          <p:nvPr/>
        </p:nvSpPr>
        <p:spPr>
          <a:xfrm>
            <a:off x="6473232" y="3581032"/>
            <a:ext cx="48805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Additionally,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.mx-auto </a:t>
            </a:r>
            <a:r>
              <a:rPr lang="en-US" dirty="0"/>
              <a:t>class will horizontally centering fixed-width block level content—i.e. content that has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display: block </a:t>
            </a:r>
            <a:r>
              <a:rPr lang="en-US" dirty="0"/>
              <a:t>and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en-US" dirty="0"/>
              <a:t> set—by setting the horizontal margins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CAD9BB-0644-40F5-B682-C775BF1E97A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1382" y="4812281"/>
            <a:ext cx="3444268" cy="137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6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6E96-CD42-48D8-BF32-8A82F8472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Spacing Containers 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510560B-AE8B-4029-8675-884A2162B2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444089" cy="4351338"/>
          </a:xfrm>
        </p:spPr>
        <p:txBody>
          <a:bodyPr/>
          <a:lstStyle/>
          <a:p>
            <a:pPr marL="0" indent="0">
              <a:buNone/>
            </a:pPr>
            <a:r>
              <a:rPr lang="en-CA" sz="2000" dirty="0"/>
              <a:t>Note: We’ll return to Bootstrap grids (gaps) later</a:t>
            </a:r>
          </a:p>
          <a:p>
            <a:endParaRPr lang="en-CA" dirty="0"/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B228CCB-97FC-4D8E-842C-ADE1B0586A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2508712"/>
            <a:ext cx="3296417" cy="348643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ECA778A-0966-428B-9A86-880BC766D7B9}"/>
              </a:ext>
            </a:extLst>
          </p:cNvPr>
          <p:cNvSpPr/>
          <p:nvPr/>
        </p:nvSpPr>
        <p:spPr>
          <a:xfrm>
            <a:off x="6357098" y="6176963"/>
            <a:ext cx="568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https://mdbootstrap.com/docs/standard/utilities/spacing/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769A73B-C1EF-45AA-970C-FF74C9AD0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274" y="2631067"/>
            <a:ext cx="6660333" cy="2447982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04776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0679-9446-42FE-979F-69D4B5331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Fonts: Headings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EB952-709D-493C-BAE0-28619CD5B1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3703" y="1825625"/>
            <a:ext cx="5181600" cy="4351338"/>
          </a:xfrm>
        </p:spPr>
        <p:txBody>
          <a:bodyPr/>
          <a:lstStyle/>
          <a:p>
            <a:r>
              <a:rPr lang="en-CA" dirty="0"/>
              <a:t>Similar to the six heading levels you are used to, but..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Larger &amp; lighter font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C9B577-8DE3-490A-853B-6D3BA3C4870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711" y="3433763"/>
            <a:ext cx="1795225" cy="2743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8C172D3-D18A-447A-A77A-A91A50E9E6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A" dirty="0"/>
              <a:t>And… will resize as much as they can: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7E2B99-A1F3-4D58-970E-A7ACB3910F3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38827" y="2947988"/>
            <a:ext cx="4151870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A215CC-6DA5-4E5F-BD1F-9EC39815FFD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8944" y="2947988"/>
            <a:ext cx="1374512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0514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EAF570-1DC9-4AEB-8CFC-17F522639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More Typography Classes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A61D5DB-CE44-47EB-8066-D03B4C818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269951"/>
            <a:ext cx="4305300" cy="6248665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F84C18-D541-4CD2-9967-0EE86EAD3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84760"/>
            <a:ext cx="3932237" cy="2184228"/>
          </a:xfrm>
        </p:spPr>
        <p:txBody>
          <a:bodyPr/>
          <a:lstStyle/>
          <a:p>
            <a:pPr algn="ctr"/>
            <a:r>
              <a:rPr lang="en-CA" dirty="0"/>
              <a:t>JBYCDMYS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1731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3BC423-1ED5-4DF0-B135-75502EB5E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Bootstrap Table Classes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9C6DE8-C89E-4088-986F-4700EC1D5E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Basic styling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&lt;table class="table"&gt;</a:t>
            </a:r>
          </a:p>
          <a:p>
            <a:pPr marL="0" indent="0">
              <a:buNone/>
            </a:pPr>
            <a:r>
              <a:rPr lang="en-CA" dirty="0"/>
              <a:t>S</a:t>
            </a:r>
            <a:r>
              <a:rPr lang="en-US" dirty="0" err="1"/>
              <a:t>triped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&lt;table class="table table-striped"&gt;</a:t>
            </a:r>
          </a:p>
          <a:p>
            <a:pPr marL="0" indent="0">
              <a:buNone/>
            </a:pPr>
            <a:r>
              <a:rPr lang="en-CA" dirty="0"/>
              <a:t>B</a:t>
            </a:r>
            <a:r>
              <a:rPr lang="en-US" dirty="0"/>
              <a:t>ordered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&lt;table class="table table-bordered"&gt;</a:t>
            </a:r>
          </a:p>
          <a:p>
            <a:pPr marL="0" indent="0">
              <a:buNone/>
            </a:pPr>
            <a:r>
              <a:rPr lang="en-CA" dirty="0"/>
              <a:t>H</a:t>
            </a:r>
            <a:r>
              <a:rPr lang="en-US" dirty="0"/>
              <a:t>over effect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&lt;table class="table table-hover"&gt;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5CEEE90-9D0F-493C-B281-F127D4967E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U</a:t>
            </a:r>
            <a:r>
              <a:rPr lang="en-US" dirty="0"/>
              <a:t>sing pre-defined colors on rows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&lt;tr class="table-success"&gt;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&lt;tr class="table-danger"&gt;</a:t>
            </a:r>
          </a:p>
          <a:p>
            <a:pPr marL="0" indent="0">
              <a:buNone/>
            </a:pPr>
            <a:r>
              <a:rPr lang="en-CA" dirty="0"/>
              <a:t>T</a:t>
            </a:r>
            <a:r>
              <a:rPr lang="en-US" dirty="0"/>
              <a:t>able Head color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thead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class="table-dark"&gt;</a:t>
            </a:r>
          </a:p>
          <a:p>
            <a:pPr marL="0" indent="0">
              <a:buNone/>
            </a:pPr>
            <a:r>
              <a:rPr lang="en-CA" dirty="0"/>
              <a:t>S</a:t>
            </a:r>
            <a:r>
              <a:rPr lang="en-US" dirty="0" err="1"/>
              <a:t>crollable</a:t>
            </a:r>
            <a:r>
              <a:rPr lang="en-US" dirty="0"/>
              <a:t> table </a:t>
            </a:r>
            <a:r>
              <a:rPr lang="en-US" sz="1800" dirty="0"/>
              <a:t>(when placed within a container, that holds a div, that holds the table)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class="container mt-3"&gt;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&lt;div class="table-responsive"&gt;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&lt;table class="table"&gt;</a:t>
            </a:r>
          </a:p>
        </p:txBody>
      </p:sp>
    </p:spTree>
    <p:extLst>
      <p:ext uri="{BB962C8B-B14F-4D97-AF65-F5344CB8AC3E}">
        <p14:creationId xmlns:p14="http://schemas.microsoft.com/office/powerpoint/2010/main" val="14305311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5FB0E-F91D-43F1-8945-5366D532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 Other Silly and Useful Utility 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D8B1-BA8A-4C9D-BEF2-7669500ACC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class = "shadow"</a:t>
            </a:r>
          </a:p>
          <a:p>
            <a:pPr marL="0" indent="0">
              <a:buNone/>
            </a:pPr>
            <a:r>
              <a:rPr lang="en-CA" sz="2400" dirty="0">
                <a:cs typeface="Courier New" panose="02070309020205020404" pitchFamily="49" charset="0"/>
              </a:rPr>
              <a:t>Also 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shadow–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</a:t>
            </a:r>
            <a:r>
              <a:rPr lang="en-CA" sz="2400" dirty="0">
                <a:cs typeface="Courier New" panose="02070309020205020404" pitchFamily="49" charset="0"/>
              </a:rPr>
              <a:t> &amp; 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shadow-lg</a:t>
            </a:r>
          </a:p>
          <a:p>
            <a:pPr marL="0" indent="0">
              <a:buNone/>
            </a:pPr>
            <a:endParaRPr lang="en-CA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class = "small"</a:t>
            </a:r>
          </a:p>
          <a:p>
            <a:pPr marL="0" indent="0">
              <a:buNone/>
            </a:pPr>
            <a:endParaRPr lang="en-CA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class = "mark"</a:t>
            </a:r>
          </a:p>
          <a:p>
            <a:pPr marL="0" indent="0">
              <a:buNone/>
            </a:pPr>
            <a:r>
              <a:rPr lang="en-CA" sz="2400" dirty="0">
                <a:highlight>
                  <a:srgbClr val="FFFF00"/>
                </a:highlight>
                <a:cs typeface="Courier New" panose="02070309020205020404" pitchFamily="49" charset="0"/>
              </a:rPr>
              <a:t>Highlights</a:t>
            </a:r>
            <a:r>
              <a:rPr lang="en-CA" sz="2400" dirty="0">
                <a:cs typeface="Courier New" panose="02070309020205020404" pitchFamily="49" charset="0"/>
              </a:rPr>
              <a:t> text</a:t>
            </a:r>
          </a:p>
          <a:p>
            <a:pPr marL="0" indent="0">
              <a:buNone/>
            </a:pPr>
            <a:endParaRPr lang="en-US" sz="24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69990-1805-4D3B-92DC-357DF4D3BF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class = "invisible"</a:t>
            </a:r>
          </a:p>
          <a:p>
            <a:pPr marL="0" indent="0">
              <a:buNone/>
            </a:pPr>
            <a:r>
              <a:rPr lang="en-CA" sz="2400" dirty="0">
                <a:cs typeface="Courier New" panose="02070309020205020404" pitchFamily="49" charset="0"/>
              </a:rPr>
              <a:t>Changes the CSS visibility property</a:t>
            </a:r>
          </a:p>
          <a:p>
            <a:pPr marL="0" indent="0">
              <a:buNone/>
            </a:pPr>
            <a:endParaRPr lang="en-CA" sz="24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class = "visually-hidden"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CA" dirty="0">
                <a:cs typeface="Courier New" panose="02070309020205020404" pitchFamily="49" charset="0"/>
              </a:rPr>
              <a:t>Makes the element hidden on all screens EXCEPT for screen readers.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380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17CE6-0F88-4740-80DF-F0B888462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Still to come (some or all of):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E3448-E0C8-49FA-B276-E87DCD4061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Image classes</a:t>
            </a:r>
          </a:p>
          <a:p>
            <a:r>
              <a:rPr lang="en-CA" dirty="0"/>
              <a:t>“Jumbotron”</a:t>
            </a:r>
          </a:p>
          <a:p>
            <a:r>
              <a:rPr lang="en-CA" dirty="0"/>
              <a:t>Buttons &amp; Button Groups</a:t>
            </a:r>
          </a:p>
          <a:p>
            <a:r>
              <a:rPr lang="en-CA" dirty="0"/>
              <a:t>Pagination</a:t>
            </a:r>
          </a:p>
          <a:p>
            <a:r>
              <a:rPr lang="en-CA" dirty="0"/>
              <a:t>Lists</a:t>
            </a:r>
          </a:p>
          <a:p>
            <a:r>
              <a:rPr lang="en-CA" dirty="0"/>
              <a:t>Forms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0B448-2F27-495E-8C97-DD83494D05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A" dirty="0"/>
              <a:t>Cards</a:t>
            </a:r>
          </a:p>
          <a:p>
            <a:r>
              <a:rPr lang="en-CA" dirty="0"/>
              <a:t>Dropdowns</a:t>
            </a:r>
          </a:p>
          <a:p>
            <a:r>
              <a:rPr lang="en-CA" dirty="0" err="1"/>
              <a:t>Navs</a:t>
            </a:r>
            <a:r>
              <a:rPr lang="en-US" dirty="0"/>
              <a:t> &amp; Navbars</a:t>
            </a:r>
          </a:p>
          <a:p>
            <a:r>
              <a:rPr lang="en-CA" dirty="0"/>
              <a:t>T</a:t>
            </a:r>
            <a:r>
              <a:rPr lang="en-US" dirty="0" err="1"/>
              <a:t>ooltip</a:t>
            </a:r>
            <a:endParaRPr lang="en-US" dirty="0"/>
          </a:p>
          <a:p>
            <a:r>
              <a:rPr lang="en-CA" dirty="0"/>
              <a:t>C</a:t>
            </a:r>
            <a:r>
              <a:rPr lang="en-US" dirty="0" err="1"/>
              <a:t>arousel</a:t>
            </a:r>
            <a:endParaRPr lang="en-US" dirty="0"/>
          </a:p>
          <a:p>
            <a:endParaRPr lang="en-CA" dirty="0"/>
          </a:p>
          <a:p>
            <a:r>
              <a:rPr lang="en-CA" dirty="0"/>
              <a:t>F</a:t>
            </a:r>
            <a:r>
              <a:rPr lang="en-US" dirty="0" err="1"/>
              <a:t>lexboxes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02951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1641</TotalTime>
  <Words>1821</Words>
  <Application>Microsoft Office PowerPoint</Application>
  <PresentationFormat>Widescreen</PresentationFormat>
  <Paragraphs>374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Courier New</vt:lpstr>
      <vt:lpstr>Wingdings</vt:lpstr>
      <vt:lpstr>Office Theme</vt:lpstr>
      <vt:lpstr>Bootstrap</vt:lpstr>
      <vt:lpstr>What is covered in this presentation</vt:lpstr>
      <vt:lpstr>What is it?</vt:lpstr>
      <vt:lpstr>Other frontend web frameworks</vt:lpstr>
      <vt:lpstr>Bootstrap 5: the Latest Version</vt:lpstr>
      <vt:lpstr>Including Bootstrap via CDN</vt:lpstr>
      <vt:lpstr>Basic Containers:</vt:lpstr>
      <vt:lpstr>PowerPoint Presentation</vt:lpstr>
      <vt:lpstr>Bootstrap’s Color Classes</vt:lpstr>
      <vt:lpstr>PowerPoint Presentation</vt:lpstr>
      <vt:lpstr>Other Colors V5</vt:lpstr>
      <vt:lpstr>There are other Bootstrap Utility Classes</vt:lpstr>
      <vt:lpstr>Bootstrap Responsive Breakpoints</vt:lpstr>
      <vt:lpstr>PowerPoint Presentation</vt:lpstr>
      <vt:lpstr>Responses at Breakpoints</vt:lpstr>
      <vt:lpstr>But what if you don’t just want the layout to be a stack of block container elements?</vt:lpstr>
      <vt:lpstr>Bootstrap Responsive Grid</vt:lpstr>
      <vt:lpstr>Container Rows     Elements adding up to 12 columns</vt:lpstr>
      <vt:lpstr>Column sizes</vt:lpstr>
      <vt:lpstr>Column sizing example</vt:lpstr>
      <vt:lpstr>PowerPoint Presentation</vt:lpstr>
      <vt:lpstr>Grid System</vt:lpstr>
      <vt:lpstr>PowerPoint Presentation</vt:lpstr>
      <vt:lpstr>PowerPoint Presentation</vt:lpstr>
      <vt:lpstr>Two-Column Layout – “Stacked-to-horizontal”</vt:lpstr>
      <vt:lpstr>Auto Columns for all devices:</vt:lpstr>
      <vt:lpstr>Stack for all but Large Screens  (aka portable = always stacked)</vt:lpstr>
      <vt:lpstr>Note: choosing a class size means it will resize and stack according to its breakpoints.   ≠  how many columns it spans.</vt:lpstr>
      <vt:lpstr>Nested Rows</vt:lpstr>
      <vt:lpstr>Tips</vt:lpstr>
      <vt:lpstr>Border Utility Classes</vt:lpstr>
      <vt:lpstr>Container Spacing Utility Classes</vt:lpstr>
      <vt:lpstr>Spacing Containers </vt:lpstr>
      <vt:lpstr>Fonts: Headings</vt:lpstr>
      <vt:lpstr>More Typography Classes</vt:lpstr>
      <vt:lpstr>Bootstrap Table Classes</vt:lpstr>
      <vt:lpstr> Other Silly and Useful Utility Classes</vt:lpstr>
      <vt:lpstr>Still to come (some or all of):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Bootstrap</dc:title>
  <dc:creator>Patrick Perri</dc:creator>
  <cp:lastModifiedBy>Patrick Perri</cp:lastModifiedBy>
  <cp:revision>70</cp:revision>
  <dcterms:created xsi:type="dcterms:W3CDTF">2023-03-18T01:28:13Z</dcterms:created>
  <dcterms:modified xsi:type="dcterms:W3CDTF">2023-03-20T20:48:14Z</dcterms:modified>
</cp:coreProperties>
</file>