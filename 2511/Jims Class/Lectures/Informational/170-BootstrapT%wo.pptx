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1" r:id="rId4"/>
    <p:sldId id="262" r:id="rId5"/>
    <p:sldId id="259" r:id="rId6"/>
    <p:sldId id="258" r:id="rId7"/>
    <p:sldId id="267" r:id="rId8"/>
    <p:sldId id="269" r:id="rId9"/>
    <p:sldId id="264" r:id="rId10"/>
    <p:sldId id="260" r:id="rId11"/>
    <p:sldId id="268" r:id="rId12"/>
    <p:sldId id="270" r:id="rId13"/>
    <p:sldId id="272" r:id="rId14"/>
    <p:sldId id="271" r:id="rId15"/>
    <p:sldId id="273" r:id="rId16"/>
    <p:sldId id="276" r:id="rId17"/>
    <p:sldId id="274" r:id="rId18"/>
    <p:sldId id="275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CE09-861B-4C2B-87C3-61DD2F8C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AEB7DC-6C4F-4CFD-BFBF-B6AADF1E5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D3D03-530E-4F9E-8E44-AFF63E56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DFE5-9AFD-49FD-9884-A4037E9D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4E9F4-684B-49B0-B00B-2FD9127E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98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7F00-A36C-4C2C-9193-9A735EBF0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3A615-E303-4FBA-908D-DAFF67FF1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49DD5-712E-4B8B-9A5F-B7EC78823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E5962-5E78-4F16-AA6F-22DA8D72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35453-D489-44CB-82C2-C552D38C1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5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C06D-B0E5-4203-A79B-A7F610836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44DD6-5324-4519-BFD8-824258615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C1B22-C571-4CDE-B12E-BB80CB74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B465-8A99-4CCF-8AB9-92F7679C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67B3-949D-4CAF-97C2-37BB0721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0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DDBF-C054-41B6-98C6-170CCC5D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F672-5354-4885-8CE3-318033AD0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897AD-7D94-4F63-84C8-9865F2CA9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9ACC6-42F9-4B13-ADE4-FF3FAA30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BDBB8-CC01-4122-AA80-55E58A5EE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06EB2-820C-452B-82ED-46AA1E6E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9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4F42-5AA4-467E-96FC-0DAC8A65D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B4909-0ADB-445D-A7E3-DA28B97CD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7B960-D581-46C7-BD48-2B631529E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9875F-F027-490D-8B07-40B1EE6E9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BB13E4-7150-46D8-96BC-32AC7ABA8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1C240D-1F2E-42C1-B6EA-22702561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8C27D6-5584-4326-8C1D-04141A21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5287D1-5B8B-4873-A71B-37B10829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0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0D3A-5CA9-4C42-9471-1197C5D1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6CC395-CD2A-4439-98F4-9B3046A4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29CBD-DFE8-4512-A745-536F714F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AAF8E-61F0-46E0-A427-767EB304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3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3E344-3E3C-41C4-BBA0-1D9BA684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A0FCA-8E0F-4D2A-96F8-79784D3A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C0814-CD80-4117-A03D-ECBE96ECD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6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4E3B-A961-4098-8DFD-2792A75A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F8878-60EC-463C-A6B5-AD48E94F8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F1C23-757F-499F-BCC8-F12789FBD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A6046-DD6F-46C0-9366-CFCDC811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3E044-F5B5-494D-8D1A-EC29741D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A22A4-17F8-4AE3-A659-50C725FD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0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AF45-5285-45EF-90DF-348C950D1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F2DC23-DFBB-47CA-A0FC-BC01FE3E9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7981D-0F00-4499-BBD3-966F6A2EB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789C2-CC4E-44BD-9C83-A9EB9079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9AA28-4583-4C77-9C6A-6E328817B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19FA3-F3A1-4791-B02C-DAEC78BE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0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6F7E-C2F4-4EDB-9555-ADD01133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C948D-C482-46AC-B4F9-4CC7519C5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B2EE1-3DFA-41F4-89C6-C29784B1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7CE2F-ABD1-4541-9CD9-0C840801E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D6FB6-5458-4D5D-B9D5-2E2A974A0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1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A0EFD-948B-48B4-8939-AF504C125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862EC-7C49-44A5-A0D4-D1D4D728E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95C18-C388-4ACD-9D6E-28039F59C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B669F-B223-47CB-A5BE-FE8B64B7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3799B-C990-4C18-9736-4AD39869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30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85DCA8-FB5B-4CD2-ACF3-EC6E9E1F1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E30A5-2635-4E20-A48A-5DBB0EDAD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CFDF5-EAB9-4D29-B356-D1D675965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2E941-2D3A-4AE4-A993-7FD7D5F3A4F1}" type="datetimeFigureOut">
              <a:rPr lang="en-US" smtClean="0"/>
              <a:t>22-Mar-23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CF5C9-9FDE-44D7-A83B-BA2304C6A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6327D-BB74-41A3-A82B-AE22D6424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2AF5E-B6C6-4980-817F-14A647027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7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components/accordion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etbootstrap.com/docs/5.3/components/breadcrumb/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etbootstrap.com/docs/5.3/components/card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etbootstrap.com/docs/5.3/components/carousel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etbootstrap.com/docs/5.3/components/navbar/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3/examples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77E0-A750-4CCD-9C93-2CE5E73B3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Bootstrap 2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760C1-130C-4FBA-9BEA-A6EFE9222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9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24D1-6082-427E-A0AF-9965081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Some Further classes &amp; </a:t>
            </a:r>
            <a:br>
              <a:rPr lang="en-CA" dirty="0"/>
            </a:br>
            <a:r>
              <a:rPr lang="en-CA" dirty="0"/>
              <a:t>Some Very Cool …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CC44C-8127-47E6-B4F3-B248D06C0B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Text</a:t>
            </a:r>
          </a:p>
          <a:p>
            <a:pPr lvl="1"/>
            <a:r>
              <a:rPr lang="en-CA" dirty="0"/>
              <a:t>Aligning text within a container</a:t>
            </a:r>
          </a:p>
          <a:p>
            <a:pPr lvl="1"/>
            <a:r>
              <a:rPr lang="en-CA" dirty="0"/>
              <a:t>Bold, italics &amp; wrapping within a container</a:t>
            </a:r>
          </a:p>
          <a:p>
            <a:r>
              <a:rPr lang="en-CA" dirty="0"/>
              <a:t>Rounding and placing a shadow on a container</a:t>
            </a:r>
          </a:p>
          <a:p>
            <a:r>
              <a:rPr lang="en-CA" dirty="0"/>
              <a:t>Images</a:t>
            </a:r>
          </a:p>
          <a:p>
            <a:pPr lvl="1"/>
            <a:r>
              <a:rPr lang="en-CA" dirty="0"/>
              <a:t>Fluid sizing and thumbnail</a:t>
            </a:r>
          </a:p>
          <a:p>
            <a:pPr lvl="1"/>
            <a:r>
              <a:rPr lang="en-CA" dirty="0"/>
              <a:t>Figure element classes</a:t>
            </a:r>
          </a:p>
          <a:p>
            <a:r>
              <a:rPr lang="en-CA" dirty="0"/>
              <a:t>Automatic grids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EDAE96-8BF5-4245-AD78-1AB848C7FC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/>
              <a:t>Pre-Made Components</a:t>
            </a:r>
          </a:p>
          <a:p>
            <a:r>
              <a:rPr lang="en-CA" dirty="0"/>
              <a:t>Accordion</a:t>
            </a:r>
          </a:p>
          <a:p>
            <a:r>
              <a:rPr lang="en-CA" dirty="0" err="1"/>
              <a:t>Breadcrump</a:t>
            </a:r>
            <a:endParaRPr lang="en-CA" dirty="0"/>
          </a:p>
          <a:p>
            <a:r>
              <a:rPr lang="en-CA" dirty="0"/>
              <a:t>Buttons, button groups &amp; dropdown buttons</a:t>
            </a:r>
          </a:p>
          <a:p>
            <a:r>
              <a:rPr lang="en-CA" dirty="0"/>
              <a:t>Card</a:t>
            </a:r>
          </a:p>
          <a:p>
            <a:r>
              <a:rPr lang="en-CA" dirty="0"/>
              <a:t>Carousel</a:t>
            </a:r>
          </a:p>
          <a:p>
            <a:r>
              <a:rPr lang="en-CA" dirty="0"/>
              <a:t>Navbar</a:t>
            </a:r>
          </a:p>
        </p:txBody>
      </p:sp>
    </p:spTree>
    <p:extLst>
      <p:ext uri="{BB962C8B-B14F-4D97-AF65-F5344CB8AC3E}">
        <p14:creationId xmlns:p14="http://schemas.microsoft.com/office/powerpoint/2010/main" val="339303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31E5-1869-4048-B4C5-B25BE3880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Text Alignment Classes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53BB5-8B1C-4A37-95C8-F4E687DD8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263355" cy="4351338"/>
          </a:xfrm>
        </p:spPr>
        <p:txBody>
          <a:bodyPr/>
          <a:lstStyle/>
          <a:p>
            <a:pPr marL="0" indent="0">
              <a:buNone/>
            </a:pP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text-left, text-center, text-right, text-justify</a:t>
            </a:r>
          </a:p>
          <a:p>
            <a:pPr marL="457200" lvl="1" indent="0">
              <a:buNone/>
            </a:pPr>
            <a:br>
              <a:rPr lang="en-CA" dirty="0"/>
            </a:br>
            <a:r>
              <a:rPr lang="en-CA" dirty="0"/>
              <a:t>Can also be connected to breakpoint widths such that the alignments happened with </a:t>
            </a:r>
            <a:r>
              <a:rPr lang="en-CA" dirty="0" err="1"/>
              <a:t>sm</a:t>
            </a:r>
            <a:r>
              <a:rPr lang="en-CA" dirty="0"/>
              <a:t>, md, lg, xl (or wider)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EF7E2B-A475-4229-9605-D2B42DF195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7878" y="756855"/>
            <a:ext cx="3775922" cy="554829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790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F1BE-4B81-4F51-AE9C-EBA4CFA3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text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4B84B-59F9-4AFF-822E-9FBF933976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64281"/>
            <a:ext cx="5181600" cy="347402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B874A8-1D31-4F63-B207-53FE18EF5C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69712" y="531258"/>
            <a:ext cx="5184648" cy="579548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821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F089-3EBD-4127-A21A-08E01A0A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Other interesting classes that could be used with images (or other things)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1E65D-A974-49C3-B5A3-891415DD0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3200400" cy="109728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rounded</a:t>
            </a:r>
          </a:p>
          <a:p>
            <a:pPr marL="457200" lvl="1" indent="0">
              <a:buNone/>
            </a:pPr>
            <a:r>
              <a:rPr lang="en-CA" sz="2000" dirty="0">
                <a:cs typeface="Courier New" panose="02070309020205020404" pitchFamily="49" charset="0"/>
              </a:rPr>
              <a:t>Position, style, &amp; size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70900A-E145-4A93-A5D9-6B6D3E1BFF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4856" y="2787058"/>
            <a:ext cx="3200400" cy="326305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537887C3-23FC-49B0-8A19-FAA28ADB70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42651" y="1825624"/>
            <a:ext cx="3140915" cy="3472769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2" name="Content Placeholder 7">
            <a:extLst>
              <a:ext uri="{FF2B5EF4-FFF2-40B4-BE49-F238E27FC236}">
                <a16:creationId xmlns:a16="http://schemas.microsoft.com/office/drawing/2014/main" id="{CB524CD6-6C00-4CE3-A3C5-BB11B66FA8F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"/>
          <a:stretch/>
        </p:blipFill>
        <p:spPr>
          <a:xfrm>
            <a:off x="851349" y="3057840"/>
            <a:ext cx="3200400" cy="224055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34A1F6-230C-47D7-BCC5-C13DA50121C5}"/>
              </a:ext>
            </a:extLst>
          </p:cNvPr>
          <p:cNvSpPr/>
          <p:nvPr/>
        </p:nvSpPr>
        <p:spPr>
          <a:xfrm>
            <a:off x="7824856" y="1828248"/>
            <a:ext cx="3200399" cy="8212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571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Shadow</a:t>
            </a:r>
          </a:p>
          <a:p>
            <a:pPr lvl="1">
              <a:lnSpc>
                <a:spcPct val="90000"/>
              </a:lnSpc>
              <a:spcBef>
                <a:spcPts val="500"/>
              </a:spcBef>
            </a:pPr>
            <a:r>
              <a:rPr lang="en-CA" sz="2000" dirty="0">
                <a:cs typeface="Courier New" panose="02070309020205020404" pitchFamily="49" charset="0"/>
              </a:rPr>
              <a:t>Size</a:t>
            </a:r>
          </a:p>
        </p:txBody>
      </p:sp>
    </p:spTree>
    <p:extLst>
      <p:ext uri="{BB962C8B-B14F-4D97-AF65-F5344CB8AC3E}">
        <p14:creationId xmlns:p14="http://schemas.microsoft.com/office/powerpoint/2010/main" val="297375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20A8-AE6A-4AB3-8C0F-9A8A4198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Images: Fluid &amp; Thumbnails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B3168-D8D1-4382-842C-60F7B8BE2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="..."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class="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-fluid"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alt="..."&gt;</a:t>
            </a:r>
          </a:p>
          <a:p>
            <a:pPr marL="457200" lvl="1" indent="0">
              <a:buNone/>
            </a:pPr>
            <a:endParaRPr lang="en-CA" dirty="0">
              <a:cs typeface="Courier New" panose="02070309020205020404" pitchFamily="49" charset="0"/>
            </a:endParaRPr>
          </a:p>
          <a:p>
            <a:pPr lvl="1"/>
            <a:r>
              <a:rPr lang="en-CA" dirty="0">
                <a:cs typeface="Courier New" panose="02070309020205020404" pitchFamily="49" charset="0"/>
              </a:rPr>
              <a:t>Responsive, automatically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max-width:100%</a:t>
            </a:r>
            <a:r>
              <a:rPr lang="en-CA" dirty="0">
                <a:cs typeface="Courier New" panose="02070309020205020404" pitchFamily="49" charset="0"/>
              </a:rPr>
              <a:t> and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height:auto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>
                <a:cs typeface="Courier New" panose="02070309020205020404" pitchFamily="49" charset="0"/>
              </a:rPr>
              <a:t>so that image scales with parent.</a:t>
            </a:r>
          </a:p>
          <a:p>
            <a:pPr lvl="1"/>
            <a:endParaRPr lang="en-CA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="..."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class="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-thumbnail"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alt="..."&gt;</a:t>
            </a:r>
          </a:p>
          <a:p>
            <a:pPr lvl="1"/>
            <a:r>
              <a:rPr lang="en-CA" dirty="0">
                <a:cs typeface="Courier New" panose="02070309020205020404" pitchFamily="49" charset="0"/>
              </a:rPr>
              <a:t>Image presented with rounded 1px border when its sources is pre-existing cropped version of the image.</a:t>
            </a:r>
          </a:p>
          <a:p>
            <a:pPr lvl="1"/>
            <a:endParaRPr lang="en-CA" dirty="0">
              <a:cs typeface="Courier New" panose="02070309020205020404" pitchFamily="49" charset="0"/>
            </a:endParaRPr>
          </a:p>
          <a:p>
            <a:pPr lvl="1"/>
            <a:endParaRPr lang="en-CA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212529"/>
                </a:solidFill>
                <a:latin typeface="-apple-system"/>
              </a:rPr>
              <a:t>If you are using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&lt;picture&gt;</a:t>
            </a:r>
            <a:r>
              <a:rPr lang="en-US" altLang="en-US" dirty="0">
                <a:solidFill>
                  <a:srgbClr val="212529"/>
                </a:solidFill>
                <a:latin typeface="-apple-system"/>
              </a:rPr>
              <a:t> element to specify multiple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&lt;source&gt;</a:t>
            </a:r>
            <a:r>
              <a:rPr lang="en-US" altLang="en-US" dirty="0">
                <a:solidFill>
                  <a:srgbClr val="212529"/>
                </a:solidFill>
                <a:latin typeface="-apple-system"/>
              </a:rPr>
              <a:t> elements for a specific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img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&gt;</a:t>
            </a:r>
            <a:r>
              <a:rPr lang="en-US" altLang="en-US" dirty="0">
                <a:solidFill>
                  <a:srgbClr val="212529"/>
                </a:solidFill>
                <a:latin typeface="-apple-system"/>
              </a:rPr>
              <a:t>, make sure to add 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img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-*</a:t>
            </a:r>
            <a:r>
              <a:rPr lang="en-US" altLang="en-US" dirty="0">
                <a:solidFill>
                  <a:srgbClr val="212529"/>
                </a:solidFill>
                <a:latin typeface="-apple-system"/>
              </a:rPr>
              <a:t> classes to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&lt;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img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&gt;</a:t>
            </a:r>
            <a:r>
              <a:rPr lang="en-US" altLang="en-US" dirty="0">
                <a:solidFill>
                  <a:srgbClr val="212529"/>
                </a:solidFill>
                <a:latin typeface="-apple-system"/>
              </a:rPr>
              <a:t> and not to the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83E8C"/>
                </a:solidFill>
                <a:effectLst/>
                <a:latin typeface="SFMono-Regular"/>
              </a:rPr>
              <a:t>&lt;picture&gt;</a:t>
            </a:r>
            <a:r>
              <a:rPr lang="en-US" altLang="en-US" dirty="0">
                <a:solidFill>
                  <a:srgbClr val="212529"/>
                </a:solidFill>
                <a:latin typeface="-apple-system"/>
              </a:rPr>
              <a:t> tag.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CA" b="1" i="1" dirty="0"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8F5721-C919-4234-ACE3-2AAB1B5E6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062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C261B-8A94-49DF-BABB-E732EAC9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 Fitting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64E6D-1716-44A8-A440-57A27F245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Elements </a:t>
            </a:r>
            <a:r>
              <a:rPr lang="en-CA" dirty="0">
                <a:cs typeface="Courier New" panose="02070309020205020404" pitchFamily="49" charset="0"/>
              </a:rPr>
              <a:t>like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&lt;picture&gt; &lt;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 &lt;video&gt;</a:t>
            </a:r>
            <a:r>
              <a:rPr lang="en-CA" dirty="0"/>
              <a:t> should be resized to fit its container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b="1" dirty="0"/>
              <a:t>Default fit-fill</a:t>
            </a:r>
            <a:r>
              <a:rPr lang="en-CA" dirty="0"/>
              <a:t>: provided dimensions used so can be stretched or squished.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C0D0D2-2497-46B4-88F3-94B2C3AE9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2" y="2838450"/>
            <a:ext cx="5120640" cy="33385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Better:</a:t>
            </a:r>
          </a:p>
          <a:p>
            <a:pPr marL="457200" lvl="1" indent="0">
              <a:buNone/>
            </a:pPr>
            <a:r>
              <a:rPr lang="en-CA" b="1" dirty="0"/>
              <a:t>Cover</a:t>
            </a:r>
            <a:r>
              <a:rPr lang="en-CA" dirty="0"/>
              <a:t>: aspect ratio kept </a:t>
            </a:r>
            <a:br>
              <a:rPr lang="en-CA" dirty="0"/>
            </a:br>
            <a:r>
              <a:rPr lang="en-CA" dirty="0"/>
              <a:t>BUT</a:t>
            </a:r>
            <a:r>
              <a:rPr lang="en-CA" b="1" dirty="0"/>
              <a:t> </a:t>
            </a:r>
            <a:r>
              <a:rPr lang="en-CA" dirty="0"/>
              <a:t>image clipped to fit its container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="..." 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class="object-fit-cover 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border rounded" alt="..."&gt;</a:t>
            </a:r>
          </a:p>
          <a:p>
            <a:pPr marL="0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b="1" dirty="0"/>
              <a:t>Contain</a:t>
            </a:r>
            <a:r>
              <a:rPr lang="en-CA" dirty="0"/>
              <a:t>: aspect ratio kept </a:t>
            </a:r>
            <a:br>
              <a:rPr lang="en-CA" dirty="0"/>
            </a:br>
            <a:r>
              <a:rPr lang="en-CA" dirty="0"/>
              <a:t>BUT image resized to fit its container</a:t>
            </a:r>
          </a:p>
          <a:p>
            <a:pPr marL="457200" lvl="1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&lt;video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="..." 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class="object-fit-contain 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border rounded" alt="..."&gt;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4746C34-74A0-45F9-A2D7-9697658C4A8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2425" y="1407964"/>
            <a:ext cx="231005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25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0546-B667-4AFA-BCB5-ED7644F1F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(and their captions)</a:t>
            </a:r>
            <a:br>
              <a:rPr lang="en-CA" dirty="0"/>
            </a:br>
            <a:r>
              <a:rPr lang="en-CA" dirty="0"/>
              <a:t>with the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figure</a:t>
            </a:r>
            <a:r>
              <a:rPr lang="en-CA" dirty="0"/>
              <a:t>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88A19-2E25-4160-9FA8-D187794CF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419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/>
              <a:t>When using these semantic elements, use the Bootstrap classes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.figure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.figure-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.figure-caption</a:t>
            </a:r>
          </a:p>
          <a:p>
            <a:pPr lvl="1"/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cs typeface="Courier New" panose="02070309020205020404" pitchFamily="49" charset="0"/>
              </a:rPr>
              <a:t>Notes:</a:t>
            </a:r>
          </a:p>
          <a:p>
            <a:pPr lvl="1"/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&lt;figure&gt; </a:t>
            </a:r>
            <a:r>
              <a:rPr lang="en-CA" sz="2200" dirty="0"/>
              <a:t>are semantic and have not implicit size </a:t>
            </a:r>
            <a:r>
              <a:rPr lang="en-CA" sz="2200" dirty="0">
                <a:sym typeface="Wingdings" panose="05000000000000000000" pitchFamily="2" charset="2"/>
              </a:rPr>
              <a:t> use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</a:t>
            </a:r>
            <a:r>
              <a:rPr lang="en-CA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img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class='</a:t>
            </a:r>
            <a:r>
              <a:rPr lang="en-CA" sz="2200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img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-fluid'…&gt;</a:t>
            </a:r>
            <a:r>
              <a:rPr lang="en-CA" sz="2200" dirty="0">
                <a:sym typeface="Wingdings" panose="05000000000000000000" pitchFamily="2" charset="2"/>
              </a:rPr>
              <a:t> to make the images responsive.</a:t>
            </a:r>
            <a:endParaRPr lang="en-US" sz="2200" dirty="0"/>
          </a:p>
          <a:p>
            <a:pPr lvl="1"/>
            <a:r>
              <a:rPr lang="en-CA" sz="2200" dirty="0">
                <a:cs typeface="Courier New" panose="02070309020205020404" pitchFamily="49" charset="0"/>
              </a:rPr>
              <a:t>Combine figure-caption with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text-left, text-center</a:t>
            </a:r>
            <a:r>
              <a:rPr lang="en-CA" sz="2200" dirty="0">
                <a:cs typeface="Courier New" panose="02070309020205020404" pitchFamily="49" charset="0"/>
              </a:rPr>
              <a:t>,  or </a:t>
            </a:r>
            <a:r>
              <a:rPr lang="en-CA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text-right</a:t>
            </a:r>
            <a:r>
              <a:rPr lang="en-CA" sz="2200" dirty="0">
                <a:cs typeface="Courier New" panose="02070309020205020404" pitchFamily="49" charset="0"/>
              </a:rPr>
              <a:t> to place the caption where you want. </a:t>
            </a:r>
            <a:endParaRPr lang="en-CA" sz="2200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3CBFF-007E-44A7-83BB-4625FEFE9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00700" y="1825625"/>
            <a:ext cx="57531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&lt;figure class="figure"&gt;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="..." 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class="figure-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-fluid rounded" 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alt="Image, rounded corners in figure."&gt;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figcaption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class="figure-caption text-right"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The caption for the above image.</a:t>
            </a:r>
            <a:b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figcaption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&lt;/figure&gt;</a:t>
            </a: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132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4B3C-0767-4E6D-A93A-8FB7D6035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3725"/>
          </a:xfrm>
        </p:spPr>
        <p:txBody>
          <a:bodyPr>
            <a:normAutofit fontScale="90000"/>
          </a:bodyPr>
          <a:lstStyle/>
          <a:p>
            <a:r>
              <a:rPr lang="en-CA" dirty="0"/>
              <a:t>Setting Grids, A shortcut:  </a:t>
            </a: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b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row-cols-*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8AC81-6D66-412D-8912-3A42CC865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76499"/>
            <a:ext cx="5181600" cy="3700463"/>
          </a:xfrm>
        </p:spPr>
        <p:txBody>
          <a:bodyPr/>
          <a:lstStyle/>
          <a:p>
            <a:r>
              <a:rPr lang="en-CA" dirty="0"/>
              <a:t>Class that quickly sets the number of columns that best renders the content and layout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CE10A-F86F-4FE5-9344-B7AD28221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023" y="733293"/>
            <a:ext cx="3379150" cy="299111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AA3E76-568E-4403-B0B7-C453EFCB9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016" y="3911240"/>
            <a:ext cx="4763165" cy="2581635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327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BB9F-42ED-4806-BCE8-51A4EDCA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82800"/>
          </a:xfrm>
        </p:spPr>
        <p:txBody>
          <a:bodyPr>
            <a:normAutofit/>
          </a:bodyPr>
          <a:lstStyle/>
          <a:p>
            <a:r>
              <a:rPr lang="en-CA" dirty="0"/>
              <a:t>Grid Gutters:  </a:t>
            </a:r>
            <a:br>
              <a:rPr lang="en-CA" dirty="0"/>
            </a:br>
            <a:br>
              <a:rPr lang="en-CA" dirty="0"/>
            </a:br>
            <a:r>
              <a:rPr lang="en-CA" b="1" dirty="0">
                <a:latin typeface="Courier New" panose="02070309020205020404" pitchFamily="49" charset="0"/>
                <a:cs typeface="Courier New" panose="02070309020205020404" pitchFamily="49" charset="0"/>
              </a:rPr>
              <a:t>g-*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0973F8A-5624-4D4E-9C6F-12DB94606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81299"/>
            <a:ext cx="5181600" cy="3395663"/>
          </a:xfrm>
        </p:spPr>
        <p:txBody>
          <a:bodyPr>
            <a:normAutofit lnSpcReduction="10000"/>
          </a:bodyPr>
          <a:lstStyle/>
          <a:p>
            <a:r>
              <a:rPr lang="en-CA" dirty="0"/>
              <a:t>Controls horizontal gutter widths </a:t>
            </a:r>
          </a:p>
          <a:p>
            <a:r>
              <a:rPr lang="en-CA" dirty="0"/>
              <a:t>In the example, because all columns are within 1 row, the gutter is applies throughout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Alternately:</a:t>
            </a:r>
          </a:p>
          <a:p>
            <a:pPr lvl="1"/>
            <a:r>
              <a:rPr lang="en-CA" dirty="0"/>
              <a:t>Apply use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m-*</a:t>
            </a:r>
            <a:r>
              <a:rPr lang="en-CA" dirty="0"/>
              <a:t> (margin) on contents of columns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04E10F9-9C2F-4281-858D-02E49C4373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A96227-F104-47A9-8E6B-49C701721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726" y="499116"/>
            <a:ext cx="3484548" cy="3064616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AE7900-9909-4B47-8139-753D08C17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44" y="3759386"/>
            <a:ext cx="4744112" cy="2429214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937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DCE420-FD95-4170-9866-0C48F936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Fancy Pre-made Components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AEB2D5-BA8A-4A4D-8F14-9065D5316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DE2BA5-4612-4D51-95D8-8F5712AE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Accordion: Content is displayed or hidden (collapsed) by user actions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31D98C-C56F-41D3-A809-6D0FD55F7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15100" y="1825625"/>
            <a:ext cx="5181600" cy="417512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class="accordion" id="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accordionExample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class="accordion-item"&gt;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&lt;h2 class="accordion-header" id="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headingOne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&lt;button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class="accordion-button"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type="button"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data-bs-toggle="collapse"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data-bs-target="#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collapseOne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aria-expanded="true"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aria-controls="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collapseOne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Accordion Item #1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&lt;/button&gt;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&lt;/h2&gt;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&lt;div id="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collapseOne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class="accordion-collapse collapse show"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aria-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labelledby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headingOne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b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data-bs-parent="#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accordionExample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&lt;div class="accordion-body"&gt;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&lt;strong&gt;This is the first item's accordion body.&lt;/strong&gt; It is shown by default, until the collapse plugin adds the appropriate classes that we use to style each element.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&lt;/div&gt;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&lt;/div&gt;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&lt;div class="accordion-item"&gt;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&lt;h2 class="accordion-header" id="</a:t>
            </a:r>
            <a:r>
              <a:rPr lang="en-US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headingTwo</a:t>
            </a:r>
            <a:r>
              <a:rPr lang="en-US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CA" sz="3600" b="1" dirty="0">
                <a:cs typeface="Courier New" panose="02070309020205020404" pitchFamily="49" charset="0"/>
              </a:rPr>
              <a:t>ETC.</a:t>
            </a:r>
            <a:endParaRPr lang="en-US" sz="3600" b="1" dirty="0">
              <a:cs typeface="Courier New" panose="02070309020205020404" pitchFamily="49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78B5D4A-B5E4-4697-8D80-EA4AF9D264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199" y="1825625"/>
            <a:ext cx="5181600" cy="21439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D0A2E4-A538-42C2-AC5D-DE7C0B9A5571}"/>
              </a:ext>
            </a:extLst>
          </p:cNvPr>
          <p:cNvSpPr/>
          <p:nvPr/>
        </p:nvSpPr>
        <p:spPr>
          <a:xfrm>
            <a:off x="838200" y="4104481"/>
            <a:ext cx="5181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https://getbootstrap.com/docs/5.3/components/accordion/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621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A268-EC31-44A5-94C6-6FE1E7B5F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Breadcrumb: 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1A5FD-CB4D-4116-87D5-A1DCA9D6B4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Useful navigation to show user where they are and where they’ve been. 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37C2EA-5CD2-4BE6-83C6-B63ECFA2DE40}"/>
              </a:ext>
            </a:extLst>
          </p:cNvPr>
          <p:cNvSpPr/>
          <p:nvPr/>
        </p:nvSpPr>
        <p:spPr>
          <a:xfrm>
            <a:off x="838200" y="5074726"/>
            <a:ext cx="51816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2"/>
              </a:rPr>
              <a:t>https://getbootstrap.com/docs/5.3/components/breadcrumb/</a:t>
            </a:r>
            <a:r>
              <a:rPr lang="en-US" sz="1400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EDFB40-1F5D-4A43-8B42-E6C406A33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1022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&lt;nav aria-label="breadcrumb"&gt;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class="breadcrumb"&gt;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 class="breadcrumb-item active" aria-current="page"&gt;Home&lt;/li&gt;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&lt;/nav&gt;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&lt;nav aria-label="breadcrumb"&gt;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class="breadcrumb"&gt;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 class="breadcrumb-item"&gt;&lt;a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="#"&gt;Home&lt;/a&gt;&lt;/li&gt;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 class="breadcrumb-item active" aria-current="page"&gt;Library&lt;/li&gt;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&lt;/nav&gt;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&lt;nav aria-label="breadcrumb"&gt;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class="breadcrumb"&gt;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 class="breadcrumb-item"&gt;&lt;a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="#"&gt;Home&lt;/a&gt;&lt;/li&gt;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 class="breadcrumb-item"&gt;&lt;a 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="#"&gt;Library&lt;/a&gt;&lt;/li&gt;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 class="breadcrumb-item active" aria-current="page"&gt;Data&lt;/li&gt;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&lt;/</a:t>
            </a:r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&lt;/nav&gt;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B3F22286-95FA-4310-AB1B-B64C89A683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3115187"/>
            <a:ext cx="5181600" cy="177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5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CC8B3-5AB8-41A3-A8B2-08636E4C1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Buttons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9D4BB-53A8-498B-AA22-44E8A67EB2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1" y="1914380"/>
            <a:ext cx="5120640" cy="40682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B3AD0-FBEA-4330-A853-E8B7FC692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3159" y="1768475"/>
            <a:ext cx="5120640" cy="4351338"/>
          </a:xfrm>
        </p:spPr>
        <p:txBody>
          <a:bodyPr>
            <a:normAutofit lnSpcReduction="10000"/>
          </a:bodyPr>
          <a:lstStyle/>
          <a:p>
            <a:r>
              <a:rPr lang="en-CA" sz="2400" dirty="0"/>
              <a:t>T</a:t>
            </a:r>
            <a:r>
              <a:rPr lang="en-US" sz="2400" dirty="0"/>
              <a:t>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/>
              <a:t>classes can be used with &lt;a&gt; or &lt;input&gt; elements too</a:t>
            </a:r>
          </a:p>
          <a:p>
            <a:pPr marL="457200" lvl="1" indent="0">
              <a:buNone/>
            </a:pP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&lt;button class="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-primary" type="submit"&gt;Button&lt;/button&gt;</a:t>
            </a:r>
          </a:p>
          <a:p>
            <a:pPr marL="457200" lvl="1" indent="0">
              <a:buNone/>
            </a:pP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&lt;a class="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-primary" </a:t>
            </a:r>
            <a:b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="#" role="button"&gt;Link&lt;/a&gt;</a:t>
            </a:r>
          </a:p>
          <a:p>
            <a:pPr marL="457200" lvl="1" indent="0">
              <a:buNone/>
            </a:pP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class="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-primary" type="submit" value="Submit"&gt;</a:t>
            </a:r>
          </a:p>
          <a:p>
            <a:pPr marL="457200" lvl="1" indent="0">
              <a:buNone/>
            </a:pPr>
            <a:endParaRPr lang="en-CA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sz="2000" dirty="0">
                <a:cs typeface="Courier New" panose="02070309020205020404" pitchFamily="49" charset="0"/>
              </a:rPr>
              <a:t>Other button classes:</a:t>
            </a:r>
          </a:p>
          <a:p>
            <a:pPr marL="457200" lvl="1" indent="0">
              <a:buNone/>
            </a:pP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-outline-*</a:t>
            </a:r>
          </a:p>
          <a:p>
            <a:pPr marL="457200" lvl="1" indent="0">
              <a:buNone/>
            </a:pP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btn-sm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>
                <a:cs typeface="Courier New" panose="02070309020205020404" pitchFamily="49" charset="0"/>
              </a:rPr>
              <a:t>&amp;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-lg</a:t>
            </a:r>
          </a:p>
          <a:p>
            <a:pPr marL="457200" lvl="1" indent="0" algn="r">
              <a:buNone/>
            </a:pPr>
            <a:r>
              <a:rPr lang="en-CA" sz="1600" dirty="0">
                <a:cs typeface="Courier New" panose="02070309020205020404" pitchFamily="49" charset="0"/>
              </a:rPr>
              <a:t>…and more…</a:t>
            </a:r>
          </a:p>
        </p:txBody>
      </p:sp>
    </p:spTree>
    <p:extLst>
      <p:ext uri="{BB962C8B-B14F-4D97-AF65-F5344CB8AC3E}">
        <p14:creationId xmlns:p14="http://schemas.microsoft.com/office/powerpoint/2010/main" val="566862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2F81C-61AC-412C-9A7E-A889DDCD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Button Group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77CE8-7520-48AF-9A76-7519030A3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-group" role="group" aria-label="Basic outlined example"&gt;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&lt;button type="button" class="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-outline-primary"&gt;Left&lt;/button&gt;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&lt;button type="button" class="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-outline-primary"&gt;Middle&lt;/button&gt;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&lt;button type="button" class="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btn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-outline-primary"&gt;Right&lt;/button&gt;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A6EDFC-3340-4270-8539-D7C11D75F2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54612" y="3964365"/>
            <a:ext cx="4013038" cy="146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43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B3B0-93A0-40DE-A146-FF7F5205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Dropdowns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504C1-0FC6-4F13-A0CB-21B3B79BE9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Toggleable, contextual overlays that display lists (of links)</a:t>
            </a:r>
          </a:p>
          <a:p>
            <a:r>
              <a:rPr lang="en-CA" dirty="0"/>
              <a:t>Requires the ‘Popper’ library and JavaScript CDN or downloaded resources:</a:t>
            </a:r>
          </a:p>
          <a:p>
            <a:pPr marL="457200" lvl="1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bootstrap.bundle.min.js / bootstrap.bundle.js 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1C1B86-EA26-4D96-BCA4-A56B1F7879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19224"/>
            <a:ext cx="5181600" cy="376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03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4176-8727-4684-BEAF-0A641DC88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7E525-0CAA-4C6D-AD61-1CFD83E533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A flexible and extensible content container</a:t>
            </a:r>
          </a:p>
          <a:p>
            <a:pPr lvl="1"/>
            <a:r>
              <a:rPr lang="en-CA" dirty="0"/>
              <a:t>Includes headers, footers, background colors and used with a variety of content types.</a:t>
            </a:r>
          </a:p>
          <a:p>
            <a:r>
              <a:rPr lang="en-CA" dirty="0"/>
              <a:t>Useful when combined with grid markups to give ‘previews’ to site contents.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sz="1600" dirty="0">
                <a:hlinkClick r:id="rId2"/>
              </a:rPr>
              <a:t>https://getbootstrap.com/docs/5.3/components/card/</a:t>
            </a:r>
            <a:r>
              <a:rPr lang="en-CA" sz="1600" dirty="0"/>
              <a:t> </a:t>
            </a:r>
          </a:p>
          <a:p>
            <a:pPr lvl="1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182D1D-947D-4E87-B49D-B59E77B57A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6395" y="568766"/>
            <a:ext cx="3827405" cy="572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419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DB579-7472-45F1-ACE7-F67BF77C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Carousel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2D438-9D05-422C-B1E2-243E26D11F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Slideshow that cycles through content</a:t>
            </a:r>
          </a:p>
          <a:p>
            <a:pPr lvl="1"/>
            <a:r>
              <a:rPr lang="en-CA" dirty="0"/>
              <a:t>Requires the JavaScript CDN or download.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dirty="0"/>
              <a:t>JBYCDMYS: these are non-trivial to implement.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https://getbootstrap.com/docs/5.3/components/carousel/</a:t>
            </a:r>
            <a:r>
              <a:rPr lang="en-US" sz="160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287A56-624A-460A-901E-7829579A8D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00965" y="316706"/>
            <a:ext cx="4090885" cy="586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53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D3BA-1D83-4854-A946-27267230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Nav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71275-140C-478B-8483-185BD53F83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Build with a flexbox</a:t>
            </a:r>
          </a:p>
          <a:p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.active</a:t>
            </a:r>
            <a:r>
              <a:rPr lang="en-CA" dirty="0"/>
              <a:t> state does not work but can be conveyed with:</a:t>
            </a:r>
          </a:p>
          <a:p>
            <a:pPr marL="457200" lvl="1" indent="0"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aria-current</a:t>
            </a:r>
            <a:r>
              <a:rPr lang="en-US" altLang="en-US" dirty="0">
                <a:solidFill>
                  <a:srgbClr val="087990"/>
                </a:solidFill>
                <a:latin typeface="system-ui"/>
              </a:rPr>
              <a:t> attribute — using the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page</a:t>
            </a:r>
            <a:r>
              <a:rPr lang="en-US" altLang="en-US" dirty="0">
                <a:solidFill>
                  <a:srgbClr val="087990"/>
                </a:solidFill>
                <a:latin typeface="system-ui"/>
              </a:rPr>
              <a:t> value for current page, or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>
                <a:solidFill>
                  <a:srgbClr val="087990"/>
                </a:solidFill>
                <a:latin typeface="system-ui"/>
              </a:rPr>
              <a:t> for the current item in a set.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399830-B3D7-4062-9A51-0C9B7A8185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52243"/>
            <a:ext cx="5181600" cy="4298101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1CE12DA-44BB-448C-A202-CF59A2E9C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CFF4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356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5B88-E3C3-4CBB-A563-A9BC88A80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Navbar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809D9-FDD9-41ED-B84D-542762E04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468596" cy="4351338"/>
          </a:xfrm>
        </p:spPr>
        <p:txBody>
          <a:bodyPr/>
          <a:lstStyle/>
          <a:p>
            <a:r>
              <a:rPr lang="en-CA" dirty="0"/>
              <a:t>More complicated:</a:t>
            </a:r>
          </a:p>
          <a:p>
            <a:pPr lvl="1"/>
            <a:r>
              <a:rPr lang="en-CA" dirty="0"/>
              <a:t>Require .navbar with .navbar-expand-{size}</a:t>
            </a:r>
          </a:p>
          <a:p>
            <a:r>
              <a:rPr lang="en-CA" dirty="0"/>
              <a:t>Results in a fluid, responsive navigation</a:t>
            </a:r>
          </a:p>
          <a:p>
            <a:endParaRPr lang="en-CA" sz="1800" dirty="0"/>
          </a:p>
          <a:p>
            <a:pPr marL="0" indent="0">
              <a:buNone/>
            </a:pPr>
            <a:r>
              <a:rPr lang="en-CA" sz="1600" dirty="0">
                <a:hlinkClick r:id="rId2"/>
              </a:rPr>
              <a:t>https://getbootstrap.com/docs/5.3/components/navbar/</a:t>
            </a:r>
            <a:r>
              <a:rPr lang="en-CA" sz="1600" dirty="0"/>
              <a:t>  </a:t>
            </a:r>
            <a:endParaRPr lang="en-US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B85151-A176-40EC-8732-B429659949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570"/>
          <a:stretch/>
        </p:blipFill>
        <p:spPr>
          <a:xfrm>
            <a:off x="6793907" y="690083"/>
            <a:ext cx="4559893" cy="5837357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07B9AD9-BC02-42C8-B767-E527A020E5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9832"/>
          <a:stretch/>
        </p:blipFill>
        <p:spPr>
          <a:xfrm>
            <a:off x="838200" y="5133296"/>
            <a:ext cx="5283744" cy="81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14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59FD-8124-4AD4-B463-3CE32E55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Plus much more…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D86-EE7A-4345-A8F0-938DFF3542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Alerts</a:t>
            </a:r>
          </a:p>
          <a:p>
            <a:r>
              <a:rPr lang="en-CA" dirty="0"/>
              <a:t>Badges</a:t>
            </a:r>
          </a:p>
          <a:p>
            <a:r>
              <a:rPr lang="en-CA" dirty="0"/>
              <a:t>Close button</a:t>
            </a:r>
          </a:p>
          <a:p>
            <a:r>
              <a:rPr lang="en-CA" dirty="0"/>
              <a:t>Collapse</a:t>
            </a:r>
          </a:p>
          <a:p>
            <a:r>
              <a:rPr lang="en-CA" dirty="0"/>
              <a:t>List group</a:t>
            </a:r>
          </a:p>
          <a:p>
            <a:r>
              <a:rPr lang="en-CA" dirty="0"/>
              <a:t>Modal</a:t>
            </a:r>
          </a:p>
          <a:p>
            <a:r>
              <a:rPr lang="en-CA" dirty="0" err="1"/>
              <a:t>Offcanvas</a:t>
            </a:r>
            <a:endParaRPr lang="en-CA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9DC25-66C6-492C-B9A7-5531861414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A" dirty="0" err="1"/>
              <a:t>Pagnination</a:t>
            </a:r>
            <a:endParaRPr lang="en-CA" dirty="0"/>
          </a:p>
          <a:p>
            <a:r>
              <a:rPr lang="en-CA" dirty="0"/>
              <a:t>Popovers</a:t>
            </a:r>
          </a:p>
          <a:p>
            <a:r>
              <a:rPr lang="en-CA" dirty="0"/>
              <a:t>Progress</a:t>
            </a:r>
          </a:p>
          <a:p>
            <a:r>
              <a:rPr lang="en-CA" dirty="0" err="1"/>
              <a:t>Scrolspy</a:t>
            </a:r>
            <a:endParaRPr lang="en-CA" dirty="0"/>
          </a:p>
          <a:p>
            <a:r>
              <a:rPr lang="en-CA" dirty="0"/>
              <a:t>Spinners</a:t>
            </a:r>
          </a:p>
          <a:p>
            <a:r>
              <a:rPr lang="en-CA" dirty="0"/>
              <a:t>Toasts</a:t>
            </a:r>
          </a:p>
          <a:p>
            <a:r>
              <a:rPr lang="en-CA" dirty="0"/>
              <a:t>Tooltips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63A418-4B24-403E-B000-240236B06925}"/>
              </a:ext>
            </a:extLst>
          </p:cNvPr>
          <p:cNvSpPr/>
          <p:nvPr/>
        </p:nvSpPr>
        <p:spPr>
          <a:xfrm>
            <a:off x="1976224" y="2967335"/>
            <a:ext cx="823956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Just because you can,</a:t>
            </a:r>
            <a:b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</a:br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does NOT mean you should.</a:t>
            </a:r>
          </a:p>
        </p:txBody>
      </p:sp>
    </p:spTree>
    <p:extLst>
      <p:ext uri="{BB962C8B-B14F-4D97-AF65-F5344CB8AC3E}">
        <p14:creationId xmlns:p14="http://schemas.microsoft.com/office/powerpoint/2010/main" val="404208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69235-E306-452E-9ADC-C15A0777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Last thoughts…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981CF-F710-4115-A5FA-B6F61E9E0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886200" cy="4351338"/>
          </a:xfrm>
        </p:spPr>
        <p:txBody>
          <a:bodyPr>
            <a:normAutofit fontScale="92500"/>
          </a:bodyPr>
          <a:lstStyle/>
          <a:p>
            <a:r>
              <a:rPr lang="en-CA" dirty="0"/>
              <a:t>Bootstrap is not the only, nor the most common, front-end web frameworks that use JavaScript.</a:t>
            </a:r>
          </a:p>
          <a:p>
            <a:endParaRPr lang="en-CA" dirty="0"/>
          </a:p>
          <a:p>
            <a:r>
              <a:rPr lang="en-CA" dirty="0"/>
              <a:t>But getting a sense of Bootstrap will help you with other products AND your ability to work with JavaScript in Web 2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C75C676-2700-4D41-8C86-57DA0E1EDE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91233" y="1825625"/>
            <a:ext cx="6362567" cy="3416312"/>
          </a:xfrm>
        </p:spPr>
      </p:pic>
    </p:spTree>
    <p:extLst>
      <p:ext uri="{BB962C8B-B14F-4D97-AF65-F5344CB8AC3E}">
        <p14:creationId xmlns:p14="http://schemas.microsoft.com/office/powerpoint/2010/main" val="3609482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DEFB-BF2F-47FB-99E1-2B612EC3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Academic Integrity means…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D3FE-AAE6-444C-BC66-449230CA49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2200" b="1" dirty="0"/>
              <a:t>Recall,</a:t>
            </a:r>
            <a:r>
              <a:rPr lang="en-CA" sz="2200" dirty="0"/>
              <a:t> </a:t>
            </a:r>
            <a:r>
              <a:rPr lang="en-CA" sz="2200" i="1" dirty="0"/>
              <a:t>all content on all web sites is copyright</a:t>
            </a:r>
          </a:p>
          <a:p>
            <a:pPr marL="457200" lvl="1" indent="0">
              <a:buNone/>
            </a:pPr>
            <a:r>
              <a:rPr lang="en-CA" sz="1800" dirty="0"/>
              <a:t>text, images, music, audio, video &amp;c.</a:t>
            </a:r>
          </a:p>
          <a:p>
            <a:r>
              <a:rPr lang="en-CA" sz="2200" dirty="0"/>
              <a:t>Whether or not a layout can be copyrighted is being debated:</a:t>
            </a:r>
          </a:p>
          <a:p>
            <a:pPr lvl="1"/>
            <a:r>
              <a:rPr lang="en-CA" sz="1900" dirty="0"/>
              <a:t>Clearly ‘padding’ can’t be copyright, however</a:t>
            </a:r>
          </a:p>
          <a:p>
            <a:pPr marL="0" indent="0">
              <a:buNone/>
            </a:pPr>
            <a:r>
              <a:rPr lang="en-CA" sz="2300" dirty="0"/>
              <a:t>However  the concept of ‘compilation’, where </a:t>
            </a:r>
            <a:r>
              <a:rPr lang="en-CA" sz="2300" i="1" dirty="0"/>
              <a:t>one demonstrates intellectual effort to combine design options in a particular way</a:t>
            </a:r>
            <a:r>
              <a:rPr lang="en-CA" sz="2300" dirty="0"/>
              <a:t>, </a:t>
            </a:r>
            <a:br>
              <a:rPr lang="en-CA" sz="2300" dirty="0"/>
            </a:br>
            <a:r>
              <a:rPr lang="en-CA" sz="2300" dirty="0"/>
              <a:t>is considered an ‘original work’ </a:t>
            </a:r>
            <a:br>
              <a:rPr lang="en-CA" sz="2300" dirty="0"/>
            </a:br>
            <a:r>
              <a:rPr lang="en-CA" sz="2300" b="1" dirty="0"/>
              <a:t>– thus is copyright.</a:t>
            </a:r>
          </a:p>
          <a:p>
            <a:pPr marL="0" indent="0">
              <a:buNone/>
            </a:pPr>
            <a:endParaRPr lang="en-CA" sz="2200" dirty="0"/>
          </a:p>
          <a:p>
            <a:pPr marL="0" indent="0">
              <a:buNone/>
            </a:pPr>
            <a:r>
              <a:rPr lang="en-CA" sz="2200" dirty="0"/>
              <a:t>MOST IMPORTANTLY FOR YOU….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15442A-91E9-494A-B2AC-A8FEA4B8E2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CA" dirty="0"/>
              <a:t>You’ve already agreed </a:t>
            </a:r>
            <a:br>
              <a:rPr lang="en-CA" dirty="0"/>
            </a:br>
            <a:r>
              <a:rPr lang="en-CA" dirty="0"/>
              <a:t>you will NOT </a:t>
            </a:r>
            <a:r>
              <a:rPr lang="en-CA" b="1" dirty="0"/>
              <a:t>plagiarise:</a:t>
            </a:r>
          </a:p>
          <a:p>
            <a:pPr lvl="1"/>
            <a:r>
              <a:rPr lang="en-CA" dirty="0"/>
              <a:t>Never submit or use ideas, words, images, code, performance or work of others with out citation.</a:t>
            </a:r>
          </a:p>
          <a:p>
            <a:pPr lvl="2"/>
            <a:r>
              <a:rPr lang="en-CA" dirty="0"/>
              <a:t>In full or in part.</a:t>
            </a:r>
          </a:p>
          <a:p>
            <a:pPr lvl="2"/>
            <a:r>
              <a:rPr lang="en-CA" dirty="0"/>
              <a:t>Includes resubmitting, without permission, your own work.</a:t>
            </a:r>
          </a:p>
          <a:p>
            <a:r>
              <a:rPr lang="en-CA" dirty="0"/>
              <a:t>And, you are formally encouraged (along with the general public) in MRU policy to report all instances.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E759A8-66C6-4A32-B10F-2D1C04B74B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99" y="1825625"/>
            <a:ext cx="5109673" cy="448782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152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F1C8-AE87-4047-8AB7-C0D4CC179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So…Bootstrap examples?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BB76A-ED55-48F6-AAA0-4C5A89CA8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70099" y="1772598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Cite:</a:t>
            </a:r>
          </a:p>
          <a:p>
            <a:pPr marL="457200" lvl="1" indent="0">
              <a:buNone/>
            </a:pPr>
            <a:r>
              <a:rPr lang="en-CA" dirty="0" err="1"/>
              <a:t>BootStrap</a:t>
            </a:r>
            <a:r>
              <a:rPr lang="en-CA" dirty="0"/>
              <a:t> uses Creative Commons Attribution 3.0 license</a:t>
            </a:r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pPr marL="457200" lvl="1" indent="0">
              <a:buNone/>
            </a:pPr>
            <a:r>
              <a:rPr lang="en-CA" dirty="0" err="1"/>
              <a:t>ChatGPT</a:t>
            </a:r>
            <a:r>
              <a:rPr lang="en-CA" dirty="0"/>
              <a:t> or other AI:</a:t>
            </a:r>
          </a:p>
          <a:p>
            <a:pPr marL="914400" lvl="2" indent="0">
              <a:buNone/>
            </a:pPr>
            <a:r>
              <a:rPr lang="en-CA" dirty="0"/>
              <a:t>Reference list: </a:t>
            </a:r>
            <a:br>
              <a:rPr lang="en-CA" dirty="0"/>
            </a:br>
            <a:r>
              <a:rPr lang="en-CA" i="1" dirty="0" err="1"/>
              <a:t>OpenAI</a:t>
            </a:r>
            <a:r>
              <a:rPr lang="en-CA" i="1" dirty="0"/>
              <a:t>. </a:t>
            </a:r>
            <a:r>
              <a:rPr lang="en-CA" i="1" dirty="0" err="1"/>
              <a:t>ChatGPT</a:t>
            </a:r>
            <a:r>
              <a:rPr lang="en-CA" i="1" dirty="0"/>
              <a:t>. Chat.openai.com/. Accessed Feb 16, 2023.</a:t>
            </a:r>
          </a:p>
          <a:p>
            <a:pPr marL="914400" lvl="2" indent="0">
              <a:buNone/>
            </a:pPr>
            <a:r>
              <a:rPr lang="en-CA" dirty="0"/>
              <a:t>In-text: </a:t>
            </a:r>
            <a:r>
              <a:rPr lang="en-CA" i="1" dirty="0"/>
              <a:t>(</a:t>
            </a:r>
            <a:r>
              <a:rPr lang="en-CA" i="1" dirty="0" err="1"/>
              <a:t>OpenAI</a:t>
            </a:r>
            <a:r>
              <a:rPr lang="en-CA" i="1" dirty="0"/>
              <a:t>)</a:t>
            </a:r>
            <a:endParaRPr lang="en-C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DF5E87-01E4-44F0-897C-F61179B4BB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817" y="1910071"/>
            <a:ext cx="4616957" cy="4076392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957F89-8C09-43AE-9186-C959EFC4E1FA}"/>
              </a:ext>
            </a:extLst>
          </p:cNvPr>
          <p:cNvSpPr/>
          <p:nvPr/>
        </p:nvSpPr>
        <p:spPr>
          <a:xfrm>
            <a:off x="6666553" y="843240"/>
            <a:ext cx="4588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https://getbootstrap.com/docs/5.3/examples/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C8797-B0FE-475B-A4AA-5E6C0AAC8D8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37914" y="2692252"/>
            <a:ext cx="2487869" cy="16676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61AD2F-4879-44F1-8D9D-06C23522B3F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3387" y="2659813"/>
            <a:ext cx="2482396" cy="162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2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1034</Words>
  <Application>Microsoft Office PowerPoint</Application>
  <PresentationFormat>Widescreen</PresentationFormat>
  <Paragraphs>202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-apple-system</vt:lpstr>
      <vt:lpstr>Arial</vt:lpstr>
      <vt:lpstr>Calibri</vt:lpstr>
      <vt:lpstr>Calibri Light</vt:lpstr>
      <vt:lpstr>Courier New</vt:lpstr>
      <vt:lpstr>SFMono-Regular</vt:lpstr>
      <vt:lpstr>system-ui</vt:lpstr>
      <vt:lpstr>Wingdings</vt:lpstr>
      <vt:lpstr>Office Theme</vt:lpstr>
      <vt:lpstr>Bootstrap 2</vt:lpstr>
      <vt:lpstr>Some Further classes &amp;  Some Very Cool …</vt:lpstr>
      <vt:lpstr>Text Alignment Classes</vt:lpstr>
      <vt:lpstr>More text</vt:lpstr>
      <vt:lpstr>Other interesting classes that could be used with images (or other things)</vt:lpstr>
      <vt:lpstr>Images: Fluid &amp; Thumbnails</vt:lpstr>
      <vt:lpstr>Object Fitting</vt:lpstr>
      <vt:lpstr>Figures (and their captions) with the figure classes</vt:lpstr>
      <vt:lpstr>Setting Grids, A shortcut:  .  row-cols-*</vt:lpstr>
      <vt:lpstr>Grid Gutters:    g-*</vt:lpstr>
      <vt:lpstr>Fancy Pre-made Components</vt:lpstr>
      <vt:lpstr>Accordion: Content is displayed or hidden (collapsed) by user actions</vt:lpstr>
      <vt:lpstr>Breadcrumb:  </vt:lpstr>
      <vt:lpstr>Buttons</vt:lpstr>
      <vt:lpstr>Button Group</vt:lpstr>
      <vt:lpstr>Dropdowns</vt:lpstr>
      <vt:lpstr>Cards</vt:lpstr>
      <vt:lpstr>Carousel</vt:lpstr>
      <vt:lpstr>Basic Nav</vt:lpstr>
      <vt:lpstr>Navbar</vt:lpstr>
      <vt:lpstr>Plus much more…</vt:lpstr>
      <vt:lpstr>Last thoughts…</vt:lpstr>
      <vt:lpstr>Academic Integrity means… </vt:lpstr>
      <vt:lpstr>So…Bootstrap examples?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 2</dc:title>
  <dc:creator>Patrick Perri</dc:creator>
  <cp:lastModifiedBy>Patrick Perri</cp:lastModifiedBy>
  <cp:revision>29</cp:revision>
  <dcterms:created xsi:type="dcterms:W3CDTF">2023-03-22T16:17:10Z</dcterms:created>
  <dcterms:modified xsi:type="dcterms:W3CDTF">2023-03-22T21:48:55Z</dcterms:modified>
</cp:coreProperties>
</file>